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3"/>
    <p:sldId id="779" r:id="rId4"/>
    <p:sldId id="742" r:id="rId5"/>
    <p:sldId id="780" r:id="rId6"/>
    <p:sldId id="781" r:id="rId7"/>
    <p:sldId id="782" r:id="rId8"/>
    <p:sldId id="744" r:id="rId9"/>
    <p:sldId id="746" r:id="rId10"/>
    <p:sldId id="747" r:id="rId11"/>
    <p:sldId id="748" r:id="rId12"/>
    <p:sldId id="749" r:id="rId13"/>
    <p:sldId id="751" r:id="rId14"/>
    <p:sldId id="752" r:id="rId15"/>
    <p:sldId id="755" r:id="rId16"/>
    <p:sldId id="756" r:id="rId17"/>
    <p:sldId id="757" r:id="rId18"/>
    <p:sldId id="760" r:id="rId19"/>
    <p:sldId id="761" r:id="rId20"/>
    <p:sldId id="762" r:id="rId21"/>
    <p:sldId id="773" r:id="rId22"/>
    <p:sldId id="774" r:id="rId23"/>
    <p:sldId id="775" r:id="rId24"/>
    <p:sldId id="785" r:id="rId25"/>
    <p:sldId id="783" r:id="rId26"/>
    <p:sldId id="786" r:id="rId27"/>
    <p:sldId id="787" r:id="rId28"/>
    <p:sldId id="788" r:id="rId29"/>
    <p:sldId id="778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7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5F812191-D2D6-5E4C-BFAC-5CA147E93987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  <a:endParaRPr lang="x-none" noProof="0" smtClean="0"/>
          </a:p>
          <a:p>
            <a:pPr lvl="1"/>
            <a:r>
              <a:rPr lang="x-none" noProof="0" smtClean="0"/>
              <a:t>Second level</a:t>
            </a:r>
            <a:endParaRPr lang="x-none" noProof="0" smtClean="0"/>
          </a:p>
          <a:p>
            <a:pPr lvl="2"/>
            <a:r>
              <a:rPr lang="x-none" noProof="0" smtClean="0"/>
              <a:t>Third level</a:t>
            </a:r>
            <a:endParaRPr lang="x-none" noProof="0" smtClean="0"/>
          </a:p>
          <a:p>
            <a:pPr lvl="3"/>
            <a:r>
              <a:rPr lang="x-none" noProof="0" smtClean="0"/>
              <a:t>Fourth level</a:t>
            </a:r>
            <a:endParaRPr lang="x-none" noProof="0" smtClean="0"/>
          </a:p>
          <a:p>
            <a:pPr lvl="4"/>
            <a:r>
              <a:rPr lang="x-none" noProof="0" smtClean="0"/>
              <a:t>Fifth level</a:t>
            </a:r>
            <a:endParaRPr lang="en-US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AA4B525C-3B95-7E4F-82DD-CA7653D3C49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428760"/>
            <a:ext cx="4750606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clear"/>
        </p:spPr>
      </p:pic>
      <p:sp>
        <p:nvSpPr>
          <p:cNvPr id="5" name="Retângulo 7"/>
          <p:cNvSpPr/>
          <p:nvPr userDrawn="1"/>
        </p:nvSpPr>
        <p:spPr>
          <a:xfrm>
            <a:off x="142875" y="142875"/>
            <a:ext cx="8858250" cy="6572250"/>
          </a:xfrm>
          <a:prstGeom prst="rect">
            <a:avLst/>
          </a:prstGeom>
          <a:noFill/>
          <a:ln w="635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Conector reto 8"/>
          <p:cNvCxnSpPr/>
          <p:nvPr userDrawn="1"/>
        </p:nvCxnSpPr>
        <p:spPr>
          <a:xfrm>
            <a:off x="500063" y="857250"/>
            <a:ext cx="5857875" cy="1588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488950"/>
            <a:ext cx="2400300" cy="725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Conector reto 10"/>
          <p:cNvCxnSpPr/>
          <p:nvPr userDrawn="1"/>
        </p:nvCxnSpPr>
        <p:spPr>
          <a:xfrm>
            <a:off x="500063" y="5999163"/>
            <a:ext cx="8143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11"/>
          <p:cNvSpPr txBox="1">
            <a:spLocks noChangeArrowheads="1"/>
          </p:cNvSpPr>
          <p:nvPr userDrawn="1"/>
        </p:nvSpPr>
        <p:spPr bwMode="auto">
          <a:xfrm>
            <a:off x="6643688" y="6215063"/>
            <a:ext cx="208756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pt-BR" sz="1400" smtClean="0">
                <a:solidFill>
                  <a:srgbClr val="385D8A"/>
                </a:solidFill>
                <a:latin typeface="Arial Black" panose="020B0A04020102020204" charset="0"/>
              </a:rPr>
              <a:t>www.ufpa.br/spider</a:t>
            </a:r>
            <a:endParaRPr lang="en-US" sz="14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6034088"/>
            <a:ext cx="5953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ixaDeTexto 13"/>
          <p:cNvSpPr txBox="1"/>
          <p:nvPr userDrawn="1"/>
        </p:nvSpPr>
        <p:spPr>
          <a:xfrm>
            <a:off x="1019175" y="6143625"/>
            <a:ext cx="1827213" cy="4302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UNIVERSIDADE FEDERAL</a:t>
            </a:r>
            <a:endParaRPr lang="pt-BR" sz="1100" smtClean="0">
              <a:solidFill>
                <a:srgbClr val="385D8A"/>
              </a:solidFill>
              <a:latin typeface="Arial Black" panose="020B0A04020102020204" charset="0"/>
            </a:endParaRPr>
          </a:p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DO PARÁ</a:t>
            </a:r>
            <a:endParaRPr lang="en-US" sz="11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sp>
        <p:nvSpPr>
          <p:cNvPr id="17" name="Título 1"/>
          <p:cNvSpPr>
            <a:spLocks noGrp="1"/>
          </p:cNvSpPr>
          <p:nvPr>
            <p:ph type="ctrTitle" hasCustomPrompt="1"/>
          </p:nvPr>
        </p:nvSpPr>
        <p:spPr>
          <a:xfrm>
            <a:off x="685800" y="1601785"/>
            <a:ext cx="7772400" cy="1470025"/>
          </a:xfrm>
        </p:spPr>
        <p:txBody>
          <a:bodyPr>
            <a:normAutofit/>
          </a:bodyPr>
          <a:lstStyle>
            <a:lvl1pPr>
              <a:defRPr sz="3200">
                <a:latin typeface="Arial Black" panose="020B0A04020102020204" charset="0"/>
                <a:cs typeface="Arial" panose="020B0604020202090204" pitchFamily="34" charset="0"/>
              </a:defRPr>
            </a:lvl1pPr>
          </a:lstStyle>
          <a:p>
            <a:r>
              <a:rPr lang="pt-BR" dirty="0" smtClean="0"/>
              <a:t>Clique para editar o estilo do título mestre</a:t>
            </a:r>
            <a:endParaRPr lang="en-US" dirty="0"/>
          </a:p>
        </p:txBody>
      </p:sp>
      <p:sp>
        <p:nvSpPr>
          <p:cNvPr id="18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57187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428760"/>
            <a:ext cx="4750606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clear"/>
        </p:spPr>
      </p:pic>
      <p:cxnSp>
        <p:nvCxnSpPr>
          <p:cNvPr id="5" name="Conector reto 7"/>
          <p:cNvCxnSpPr/>
          <p:nvPr userDrawn="1"/>
        </p:nvCxnSpPr>
        <p:spPr>
          <a:xfrm>
            <a:off x="500063" y="868363"/>
            <a:ext cx="5857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488950"/>
            <a:ext cx="2400300" cy="725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to 9"/>
          <p:cNvCxnSpPr/>
          <p:nvPr userDrawn="1"/>
        </p:nvCxnSpPr>
        <p:spPr>
          <a:xfrm>
            <a:off x="500063" y="5999163"/>
            <a:ext cx="8143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10"/>
          <p:cNvSpPr txBox="1">
            <a:spLocks noChangeArrowheads="1"/>
          </p:cNvSpPr>
          <p:nvPr userDrawn="1"/>
        </p:nvSpPr>
        <p:spPr bwMode="auto">
          <a:xfrm>
            <a:off x="6643688" y="6215063"/>
            <a:ext cx="208756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pt-BR" sz="1400" smtClean="0">
                <a:solidFill>
                  <a:srgbClr val="385D8A"/>
                </a:solidFill>
                <a:latin typeface="Arial Black" panose="020B0A04020102020204" charset="0"/>
              </a:rPr>
              <a:t>www.ufpa.br/spider</a:t>
            </a:r>
            <a:endParaRPr lang="en-US" sz="14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6034088"/>
            <a:ext cx="5953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12"/>
          <p:cNvSpPr txBox="1"/>
          <p:nvPr userDrawn="1"/>
        </p:nvSpPr>
        <p:spPr>
          <a:xfrm>
            <a:off x="1019175" y="6143625"/>
            <a:ext cx="1827213" cy="4302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UNIVERSIDADE FEDERAL</a:t>
            </a:r>
            <a:endParaRPr lang="pt-BR" sz="1100" smtClean="0">
              <a:solidFill>
                <a:srgbClr val="385D8A"/>
              </a:solidFill>
              <a:latin typeface="Arial Black" panose="020B0A04020102020204" charset="0"/>
            </a:endParaRPr>
          </a:p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DO PARÁ</a:t>
            </a:r>
            <a:endParaRPr lang="en-US" sz="11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5829312" cy="571504"/>
          </a:xfrm>
        </p:spPr>
        <p:txBody>
          <a:bodyPr>
            <a:noAutofit/>
          </a:bodyPr>
          <a:lstStyle>
            <a:lvl1pPr algn="l">
              <a:defRPr sz="3600"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pt-BR" dirty="0" smtClean="0"/>
              <a:t>Clique para editar o estilo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57200" y="1285860"/>
            <a:ext cx="8229600" cy="4525963"/>
          </a:xfrm>
        </p:spPr>
        <p:txBody>
          <a:bodyPr/>
          <a:lstStyle>
            <a:lvl1pPr>
              <a:defRPr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latin typeface="Arial" panose="020B0604020202090204" pitchFamily="34" charset="0"/>
                <a:cs typeface="Arial" panose="020B0604020202090204" pitchFamily="34" charset="0"/>
              </a:defRPr>
            </a:lvl5pPr>
          </a:lstStyle>
          <a:p>
            <a:pPr lvl="0"/>
            <a:r>
              <a:rPr lang="pt-BR" dirty="0" smtClean="0"/>
              <a:t>Clique para editar os estilos do texto mestre</a:t>
            </a:r>
            <a:endParaRPr lang="pt-BR" dirty="0" smtClean="0"/>
          </a:p>
          <a:p>
            <a:pPr lvl="1"/>
            <a:r>
              <a:rPr lang="pt-BR" dirty="0" smtClean="0"/>
              <a:t>Segundo nível</a:t>
            </a:r>
            <a:endParaRPr lang="pt-BR" dirty="0" smtClean="0"/>
          </a:p>
          <a:p>
            <a:pPr lvl="2"/>
            <a:r>
              <a:rPr lang="pt-BR" dirty="0" smtClean="0"/>
              <a:t>Terceiro nível</a:t>
            </a:r>
            <a:endParaRPr lang="pt-BR" dirty="0" smtClean="0"/>
          </a:p>
          <a:p>
            <a:pPr lvl="3"/>
            <a:r>
              <a:rPr lang="pt-BR" dirty="0" smtClean="0"/>
              <a:t>Quarto nível</a:t>
            </a:r>
            <a:endParaRPr lang="pt-BR" dirty="0" smtClean="0"/>
          </a:p>
          <a:p>
            <a:pPr lvl="4"/>
            <a:r>
              <a:rPr lang="pt-BR" dirty="0" smtClean="0"/>
              <a:t>Quinto nível</a:t>
            </a:r>
            <a:endParaRPr lang="en-US" dirty="0"/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3652838" y="6215063"/>
            <a:ext cx="2133600" cy="365125"/>
          </a:xfrm>
        </p:spPr>
        <p:txBody>
          <a:bodyPr/>
          <a:lstStyle>
            <a:lvl1pPr algn="ctr">
              <a:defRPr>
                <a:solidFill>
                  <a:srgbClr val="385D8A"/>
                </a:solidFill>
                <a:latin typeface="Arial Black" panose="020B0A04020102020204" charset="0"/>
              </a:defRPr>
            </a:lvl1pPr>
          </a:lstStyle>
          <a:p>
            <a:pPr>
              <a:defRPr/>
            </a:pPr>
            <a:fld id="{ADA9CB55-12EC-B146-92D0-8926A5BF7A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5E79B-722B-E04D-85EE-A808727E1DD2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FDD8F-94B2-CD4A-AFE6-FA4667CDDF3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7CD80-8BE8-E74B-9A09-ACFC0F013F3A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8ADC6-BCD8-8A4A-8AA3-973B57938F1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8E06A-B38A-3544-B89B-CE4CD7570496}" type="datetimeFigureOut">
              <a:rPr lang="en-US"/>
            </a:fld>
            <a:endParaRPr lang="en-US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4FAE1-0665-0147-B19F-CE751B98832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F9BC5-9385-5642-A779-67C3B5C36651}" type="datetimeFigureOut">
              <a:rPr lang="en-US"/>
            </a:fld>
            <a:endParaRPr lang="en-US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A8FC5-7632-E040-8BC9-81CD86AB11F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65A22-FA2B-C54F-9F28-EFD92A0ED32B}" type="datetimeFigureOut">
              <a:rPr lang="en-US"/>
            </a:fld>
            <a:endParaRPr lang="en-US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FB00C-7226-F84D-A2DC-DA6E520B3A8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5746B-7649-6944-BF94-0F2F9E1E73D1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E5F73-B2E5-3846-B85C-4CBBA08423C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F996E-E6FB-0543-8778-B314B368160E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6DDBB-CAE6-1A41-8D40-5C688B8F212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C4C7B-B2B9-F541-A10B-ED06EB2ECD59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B7AA2-F8F1-FC4B-8A49-7A348320B41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E8249-6A06-0140-AD5A-FFA9CCC7BBA5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8CB9B-ADA1-4A47-B752-179B6DBE424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E491F02E-1E85-674E-B269-08B53C233DB9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016ED3BC-7B2C-E948-94BA-6C03A824853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charset="0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wmf"/><Relationship Id="rId2" Type="http://schemas.openxmlformats.org/officeDocument/2006/relationships/image" Target="../media/image5.wmf"/><Relationship Id="rId1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microsoft.com/office/2007/relationships/media" Target="../media/media1.mov"/><Relationship Id="rId1" Type="http://schemas.openxmlformats.org/officeDocument/2006/relationships/video" Target="../media/media1.mo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ítulo 1"/>
          <p:cNvSpPr>
            <a:spLocks noGrp="1"/>
          </p:cNvSpPr>
          <p:nvPr>
            <p:ph type="ctrTitle"/>
          </p:nvPr>
        </p:nvSpPr>
        <p:spPr>
          <a:xfrm>
            <a:off x="685800" y="1887538"/>
            <a:ext cx="7772400" cy="1470025"/>
          </a:xfrm>
        </p:spPr>
        <p:txBody>
          <a:bodyPr/>
          <a:lstStyle/>
          <a:p>
            <a:pPr eaLnBrk="1" hangingPunct="1"/>
            <a:r>
              <a:rPr lang="en-US" b="1" dirty="0" err="1" smtClean="0">
                <a:latin typeface="Calibri" charset="0"/>
                <a:cs typeface="Arial" panose="020B0604020202090204" pitchFamily="34" charset="0"/>
              </a:rPr>
              <a:t>Teste</a:t>
            </a:r>
            <a:r>
              <a:rPr lang="en-US" b="1" dirty="0" smtClean="0">
                <a:latin typeface="Calibri" charset="0"/>
                <a:cs typeface="Arial" panose="020B0604020202090204" pitchFamily="34" charset="0"/>
              </a:rPr>
              <a:t> de Software</a:t>
            </a:r>
            <a:endParaRPr lang="en-US" b="1" dirty="0">
              <a:latin typeface="Calibri" charset="0"/>
              <a:cs typeface="Arial" panose="020B0604020202090204" pitchFamily="34" charset="0"/>
            </a:endParaRPr>
          </a:p>
        </p:txBody>
      </p:sp>
      <p:sp>
        <p:nvSpPr>
          <p:cNvPr id="4099" name="Subtítulo 2"/>
          <p:cNvSpPr>
            <a:spLocks noGrp="1"/>
          </p:cNvSpPr>
          <p:nvPr>
            <p:ph type="subTitle" idx="4294967295"/>
          </p:nvPr>
        </p:nvSpPr>
        <p:spPr>
          <a:xfrm>
            <a:off x="1371600" y="3643313"/>
            <a:ext cx="6400800" cy="1752600"/>
          </a:xfrm>
        </p:spPr>
        <p:txBody>
          <a:bodyPr/>
          <a:lstStyle/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dirty="0" smtClean="0">
                <a:latin typeface="+mj-lt"/>
                <a:ea typeface="+mn-ea"/>
                <a:cs typeface="+mn-cs"/>
              </a:rPr>
              <a:t>Prof. Dr. Sandro Bezerra</a:t>
            </a:r>
            <a:endParaRPr lang="en-US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sz="2400" dirty="0" err="1" smtClean="0">
                <a:latin typeface="+mj-lt"/>
                <a:ea typeface="+mn-ea"/>
                <a:cs typeface="+mn-cs"/>
              </a:rPr>
              <a:t>srbo@ufpa.br</a:t>
            </a:r>
            <a:endParaRPr lang="en-US" sz="2400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endParaRPr lang="en-US" sz="2400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sz="2400" dirty="0" smtClean="0">
                <a:latin typeface="+mj-lt"/>
                <a:ea typeface="+mn-ea"/>
                <a:cs typeface="+mn-cs"/>
              </a:rPr>
              <a:t>20</a:t>
            </a:r>
            <a:r>
              <a:rPr lang="pt-BR" altLang="en-US" sz="2400" dirty="0" smtClean="0">
                <a:latin typeface="+mj-lt"/>
                <a:ea typeface="+mn-ea"/>
                <a:cs typeface="+mn-cs"/>
              </a:rPr>
              <a:t>24</a:t>
            </a:r>
            <a:endParaRPr lang="pt-BR" altLang="en-US" sz="2400" dirty="0" smtClean="0"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305800" cy="4343400"/>
          </a:xfrm>
          <a:noFill/>
        </p:spPr>
        <p:txBody>
          <a:bodyPr/>
          <a:lstStyle/>
          <a:p>
            <a:r>
              <a:rPr lang="ja-JP" altLang="pt-BR" sz="2800" dirty="0">
                <a:latin typeface="Arial" panose="020B0604020202090204"/>
              </a:rPr>
              <a:t>“</a:t>
            </a:r>
            <a:r>
              <a:rPr lang="pt-BR" sz="2800" dirty="0"/>
              <a:t>Teste consiste em executar o programa com a intenção de encontrar erros</a:t>
            </a:r>
            <a:r>
              <a:rPr lang="ja-JP" altLang="pt-BR" sz="2800" dirty="0">
                <a:latin typeface="Arial" panose="020B0604020202090204"/>
              </a:rPr>
              <a:t>”</a:t>
            </a:r>
            <a:r>
              <a:rPr lang="pt-BR" sz="2800" dirty="0"/>
              <a:t> [</a:t>
            </a:r>
            <a:r>
              <a:rPr lang="pt-BR" sz="2800" i="1" dirty="0"/>
              <a:t>Myers</a:t>
            </a:r>
            <a:r>
              <a:rPr lang="pt-BR" sz="2800" dirty="0"/>
              <a:t>]</a:t>
            </a:r>
            <a:endParaRPr lang="pt-BR" sz="2800" dirty="0"/>
          </a:p>
          <a:p>
            <a:pPr>
              <a:buFont typeface="Monotype Sorts" charset="0"/>
              <a:buNone/>
            </a:pPr>
            <a:endParaRPr lang="pt-BR" sz="2800" dirty="0"/>
          </a:p>
          <a:p>
            <a:r>
              <a:rPr lang="pt-BR" sz="2800" dirty="0"/>
              <a:t>verificação incompleta</a:t>
            </a:r>
            <a:endParaRPr lang="pt-BR" sz="2800" dirty="0"/>
          </a:p>
          <a:p>
            <a:pPr>
              <a:buFont typeface="Monotype Sorts" charset="0"/>
              <a:buNone/>
            </a:pPr>
            <a:endParaRPr lang="pt-BR" sz="2800" dirty="0"/>
          </a:p>
          <a:p>
            <a:r>
              <a:rPr lang="pt-BR" sz="2800" dirty="0"/>
              <a:t>não garante a inexistência de erros no programa</a:t>
            </a:r>
            <a:endParaRPr lang="pt-BR" sz="2800" dirty="0"/>
          </a:p>
          <a:p>
            <a:pPr>
              <a:buFont typeface="Monotype Sorts" charset="0"/>
              <a:buNone/>
            </a:pPr>
            <a:endParaRPr lang="pt-BR" sz="2800" dirty="0"/>
          </a:p>
          <a:p>
            <a:r>
              <a:rPr lang="pt-BR" sz="2800" dirty="0"/>
              <a:t>pode ser usado para mostrar a presença de erros, mas nunca  sua ausência [</a:t>
            </a:r>
            <a:r>
              <a:rPr lang="pt-BR" sz="2800" dirty="0" err="1" smtClean="0"/>
              <a:t>Dijkstra</a:t>
            </a:r>
            <a:r>
              <a:rPr lang="pt-BR" sz="2800" dirty="0" smtClean="0"/>
              <a:t>]</a:t>
            </a:r>
            <a:endParaRPr lang="pt-BR" sz="2800" dirty="0"/>
          </a:p>
        </p:txBody>
      </p:sp>
      <p:graphicFrame>
        <p:nvGraphicFramePr>
          <p:cNvPr id="10245" name="Object 5">
            <a:hlinkClick r:id="" action="ppaction://ole?verb=0"/>
          </p:cNvPr>
          <p:cNvGraphicFramePr/>
          <p:nvPr/>
        </p:nvGraphicFramePr>
        <p:xfrm>
          <a:off x="6961982" y="2204864"/>
          <a:ext cx="1858490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Clip" r:id="rId1" imgW="2305050" imgH="1816100" progId="MS_ClipArt_Gallery.2">
                  <p:embed/>
                </p:oleObj>
              </mc:Choice>
              <mc:Fallback>
                <p:oleObj name="Clip" r:id="rId1" imgW="2305050" imgH="1816100" progId="MS_ClipArt_Gallery.2">
                  <p:embed/>
                  <p:pic>
                    <p:nvPicPr>
                      <p:cNvPr id="0" name="Picture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982" y="2204864"/>
                        <a:ext cx="1858490" cy="136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2"/>
          <p:cNvSpPr txBox="1"/>
          <p:nvPr/>
        </p:nvSpPr>
        <p:spPr bwMode="auto">
          <a:xfrm>
            <a:off x="395536" y="188640"/>
            <a:ext cx="5829312" cy="5715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</a:defRPr>
            </a:lvl9pPr>
          </a:lstStyle>
          <a:p>
            <a:r>
              <a:rPr lang="pt-BR" sz="2600" dirty="0" smtClean="0"/>
              <a:t>Teste de Software</a:t>
            </a:r>
            <a:endParaRPr lang="pt-BR" sz="2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00" dirty="0" smtClean="0"/>
              <a:t>O que o Teste de Software mostra?</a:t>
            </a:r>
            <a:endParaRPr lang="pt-BR" sz="2600" dirty="0"/>
          </a:p>
        </p:txBody>
      </p:sp>
      <p:pic>
        <p:nvPicPr>
          <p:cNvPr id="6" name="Picture 3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072" y="1412776"/>
            <a:ext cx="56007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328672" y="1412776"/>
            <a:ext cx="759822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erros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395472" y="2022376"/>
            <a:ext cx="3760644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Concordância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com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os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requisitos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995672" y="2784376"/>
            <a:ext cx="2027238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performance</a:t>
            </a: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340208" y="4460776"/>
            <a:ext cx="1657505" cy="5052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75000"/>
              </a:lnSpc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Um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indicador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 algn="ctr">
              <a:lnSpc>
                <a:spcPct val="75000"/>
              </a:lnSpc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qualidade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67544" y="1196752"/>
            <a:ext cx="83820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não planeje o teste assumindo que o programa está correto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um bom caso de teste é aquele que tem alta probabilidade de encontrar erro ainda não descoberto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caso de teste bem sucedido é aquele que detecta erro ainda não descoberto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a probabilidade de existência de mais erros numa parte do programa é proporcional ao número de erros já descoberto na mesma</a:t>
            </a:r>
            <a:endParaRPr lang="pt-BR" sz="2800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-108520" y="-99392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</a:pPr>
            <a:r>
              <a:rPr lang="pt-BR" sz="3600" b="1" dirty="0">
                <a:solidFill>
                  <a:schemeClr val="tx2"/>
                </a:solidFill>
              </a:rPr>
              <a:t>Princípios do Teste [Myers]</a:t>
            </a:r>
            <a:endParaRPr lang="pt-BR" sz="36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683568" y="1340768"/>
            <a:ext cx="81153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teste deve ser feito por outra pessoa que não o autor do programa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dados de teste devem ser definidos para dados inválidos e não-esperados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determinar SEMPRE os resultados esperados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verificar cuidadosamente os resultados de cada teste</a:t>
            </a:r>
            <a:endParaRPr lang="pt-BR" sz="2800" dirty="0"/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SzPct val="80000"/>
              <a:buFont typeface="Monotype Sorts" charset="0"/>
              <a:buChar char="¥"/>
            </a:pPr>
            <a:r>
              <a:rPr lang="pt-BR" sz="2800" dirty="0"/>
              <a:t>nunca jogue fora casos de teste, a não ser que esteja jogando fora também seu programa</a:t>
            </a:r>
            <a:endParaRPr lang="pt-BR" sz="2800" dirty="0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-180528" y="-99392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</a:pPr>
            <a:r>
              <a:rPr lang="pt-BR" sz="3600" b="1" dirty="0">
                <a:solidFill>
                  <a:schemeClr val="tx2"/>
                </a:solidFill>
              </a:rPr>
              <a:t>Princípios do Teste [Myers]</a:t>
            </a:r>
            <a:endParaRPr lang="pt-BR" sz="36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83568" y="1196752"/>
            <a:ext cx="7734300" cy="44577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400" dirty="0"/>
              <a:t>Objetivo:</a:t>
            </a:r>
            <a:endParaRPr lang="pt-BR" sz="2400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ja-JP" altLang="pt-BR" sz="2400" dirty="0">
                <a:latin typeface="Arial" panose="020B0604020202090204"/>
              </a:rPr>
              <a:t>“</a:t>
            </a:r>
            <a:r>
              <a:rPr lang="pt-BR" sz="2400" dirty="0"/>
              <a:t>Executar o programa com a intenção de descobrir erros</a:t>
            </a:r>
            <a:r>
              <a:rPr lang="ja-JP" altLang="pt-BR" sz="2400" dirty="0">
                <a:latin typeface="Arial" panose="020B0604020202090204"/>
              </a:rPr>
              <a:t>”</a:t>
            </a:r>
            <a:r>
              <a:rPr lang="pt-BR" sz="2400" dirty="0"/>
              <a:t> [Myers]</a:t>
            </a:r>
            <a:endParaRPr lang="pt-BR" sz="2400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400" dirty="0"/>
              <a:t>Suposição incorreta:</a:t>
            </a:r>
            <a:endParaRPr lang="pt-BR" sz="2400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ja-JP" altLang="pt-BR" sz="2400" dirty="0">
                <a:latin typeface="Arial" panose="020B0604020202090204"/>
              </a:rPr>
              <a:t>“</a:t>
            </a:r>
            <a:r>
              <a:rPr lang="pt-BR" sz="2400" dirty="0"/>
              <a:t>Mostrar que o programa funciona corretamente</a:t>
            </a:r>
            <a:r>
              <a:rPr lang="ja-JP" altLang="pt-BR" sz="2400" dirty="0">
                <a:latin typeface="Arial" panose="020B0604020202090204"/>
              </a:rPr>
              <a:t>”</a:t>
            </a:r>
            <a:endParaRPr lang="pt-BR" sz="2400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400" dirty="0"/>
              <a:t>Depuração:</a:t>
            </a:r>
            <a:endParaRPr lang="pt-BR" sz="2400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ja-JP" altLang="pt-BR" sz="2400" dirty="0">
                <a:latin typeface="Arial" panose="020B0604020202090204"/>
              </a:rPr>
              <a:t>“</a:t>
            </a:r>
            <a:r>
              <a:rPr lang="pt-BR" sz="2400" dirty="0"/>
              <a:t>Processo para identificar, localizar e corrigir erros</a:t>
            </a:r>
            <a:r>
              <a:rPr lang="ja-JP" altLang="pt-BR" sz="2400" dirty="0">
                <a:latin typeface="Arial" panose="020B0604020202090204"/>
              </a:rPr>
              <a:t>”</a:t>
            </a:r>
            <a:endParaRPr lang="pt-BR" sz="2400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sz="2400" b="1" dirty="0"/>
              <a:t>custo/esforço de difícil previsão</a:t>
            </a:r>
            <a:endParaRPr lang="pt-BR" sz="2400" b="1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sz="2400" b="1" dirty="0"/>
              <a:t>tempo para identificar um erro: minutos, horas, dias</a:t>
            </a:r>
            <a:endParaRPr lang="pt-BR" sz="2400" b="1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33536" y="-99392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r>
              <a:rPr lang="pt-BR" sz="4000" b="1" dirty="0">
                <a:solidFill>
                  <a:schemeClr val="tx2"/>
                </a:solidFill>
              </a:rPr>
              <a:t>Teste  de  Software</a:t>
            </a:r>
            <a:endParaRPr lang="pt-BR" sz="4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Uma </a:t>
            </a:r>
            <a:r>
              <a:rPr lang="pt-BR" sz="3200" dirty="0" err="1"/>
              <a:t>estratégia</a:t>
            </a:r>
            <a:r>
              <a:rPr lang="pt-BR" sz="3200" dirty="0"/>
              <a:t> de teste de software deve </a:t>
            </a:r>
            <a:r>
              <a:rPr lang="pt-BR" sz="3200" dirty="0" smtClean="0"/>
              <a:t>acomodar</a:t>
            </a:r>
            <a:endParaRPr lang="pt-BR" sz="3200" dirty="0" smtClean="0"/>
          </a:p>
          <a:p>
            <a:pPr lvl="1"/>
            <a:r>
              <a:rPr lang="pt-BR" sz="2800" dirty="0" smtClean="0"/>
              <a:t>testes </a:t>
            </a:r>
            <a:r>
              <a:rPr lang="pt-BR" sz="2800" dirty="0"/>
              <a:t>de baixo </a:t>
            </a:r>
            <a:r>
              <a:rPr lang="pt-BR" sz="2800" dirty="0" smtClean="0"/>
              <a:t>nível</a:t>
            </a:r>
            <a:endParaRPr lang="pt-BR" sz="2800" dirty="0" smtClean="0"/>
          </a:p>
          <a:p>
            <a:pPr lvl="2"/>
            <a:r>
              <a:rPr lang="pt-BR" sz="2400" dirty="0" err="1" smtClean="0"/>
              <a:t>necessários</a:t>
            </a:r>
            <a:r>
              <a:rPr lang="pt-BR" sz="2400" dirty="0" smtClean="0"/>
              <a:t> </a:t>
            </a:r>
            <a:r>
              <a:rPr lang="pt-BR" sz="2400" dirty="0"/>
              <a:t>para verificar se um pequeno segmento de </a:t>
            </a:r>
            <a:r>
              <a:rPr lang="pt-BR" sz="2400" dirty="0" err="1"/>
              <a:t>código</a:t>
            </a:r>
            <a:r>
              <a:rPr lang="pt-BR" sz="2400" dirty="0"/>
              <a:t> fonte foi implementado </a:t>
            </a:r>
            <a:r>
              <a:rPr lang="pt-BR" sz="2400" dirty="0" smtClean="0"/>
              <a:t>corretamente</a:t>
            </a:r>
            <a:endParaRPr lang="pt-BR" sz="2400" dirty="0" smtClean="0"/>
          </a:p>
          <a:p>
            <a:pPr lvl="1"/>
            <a:r>
              <a:rPr lang="pt-BR" sz="2800" dirty="0" smtClean="0"/>
              <a:t>testes </a:t>
            </a:r>
            <a:r>
              <a:rPr lang="pt-BR" sz="2800" dirty="0"/>
              <a:t>de alto </a:t>
            </a:r>
            <a:r>
              <a:rPr lang="pt-BR" sz="2800" dirty="0" err="1" smtClean="0"/>
              <a:t>nível</a:t>
            </a:r>
            <a:endParaRPr lang="pt-BR" sz="2800" dirty="0" smtClean="0"/>
          </a:p>
          <a:p>
            <a:pPr lvl="2"/>
            <a:r>
              <a:rPr lang="pt-BR" sz="2400" dirty="0" smtClean="0"/>
              <a:t>validam </a:t>
            </a:r>
            <a:r>
              <a:rPr lang="pt-BR" sz="2400" dirty="0"/>
              <a:t>as </a:t>
            </a:r>
            <a:r>
              <a:rPr lang="pt-BR" sz="2400" dirty="0" err="1"/>
              <a:t>funções</a:t>
            </a:r>
            <a:r>
              <a:rPr lang="pt-BR" sz="2400" dirty="0"/>
              <a:t> principais do sistema de acordo com os requisitos do </a:t>
            </a:r>
            <a:r>
              <a:rPr lang="pt-BR" sz="2400" dirty="0" smtClean="0"/>
              <a:t>cliente</a:t>
            </a:r>
            <a:endParaRPr lang="pt-BR" sz="24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Estratégica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Quem testa o software?</a:t>
            </a:r>
            <a:endParaRPr lang="pt-BR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06524" y="3598193"/>
            <a:ext cx="1837040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Desenvolvedor</a:t>
            </a:r>
            <a:endParaRPr lang="en-US" b="1" i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992624" y="3612480"/>
            <a:ext cx="2705035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Testador</a:t>
            </a:r>
            <a:r>
              <a:rPr lang="en-US" b="1" i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i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independente</a:t>
            </a:r>
            <a:endParaRPr lang="en-US" b="1" i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53726" y="4194497"/>
            <a:ext cx="3542635" cy="14747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Entende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o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sistema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,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porém</a:t>
            </a:r>
            <a:endParaRPr lang="en-US" sz="1800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irá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testá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-lo ”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gentilmente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” e</a:t>
            </a:r>
            <a:endParaRPr lang="en-US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er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á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orientado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pelo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objetivo</a:t>
            </a:r>
            <a:endParaRPr lang="en-US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rincipal da ”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entrega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” (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conclusão</a:t>
            </a:r>
            <a:endParaRPr lang="en-US" sz="1800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a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tarefa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)</a:t>
            </a:r>
            <a:endParaRPr lang="en-US" sz="1800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pic>
        <p:nvPicPr>
          <p:cNvPr id="9" name="Picture 15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649" y="1340768"/>
            <a:ext cx="21209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1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399" y="1467768"/>
            <a:ext cx="2019300" cy="209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808862" y="4200593"/>
            <a:ext cx="4029948" cy="9207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Deve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aprender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sobre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o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sistema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, mas</a:t>
            </a:r>
            <a:endParaRPr lang="en-US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rá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tentar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”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quebrá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-lo” e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será</a:t>
            </a:r>
            <a:r>
              <a:rPr lang="en-US" sz="18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orientado</a:t>
            </a:r>
            <a:endParaRPr lang="en-US" sz="1800" dirty="0" smtClean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ela </a:t>
            </a:r>
            <a:r>
              <a:rPr lang="en-US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qualidade</a:t>
            </a:r>
            <a:endParaRPr lang="en-US" sz="1800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Estratégia de Teste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6200"/>
            <a:ext cx="9144000" cy="41534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600" dirty="0" smtClean="0"/>
              <a:t>Nós iniciamos com o ”teste pequeno” (</a:t>
            </a:r>
            <a:r>
              <a:rPr lang="pt-BR" sz="2600" i="1" dirty="0" err="1" smtClean="0"/>
              <a:t>testing</a:t>
            </a:r>
            <a:r>
              <a:rPr lang="pt-BR" sz="2600" i="1" dirty="0" smtClean="0"/>
              <a:t> in </a:t>
            </a:r>
            <a:r>
              <a:rPr lang="pt-BR" sz="2600" i="1" dirty="0" err="1" smtClean="0"/>
              <a:t>the</a:t>
            </a:r>
            <a:r>
              <a:rPr lang="pt-BR" sz="2600" i="1" dirty="0" smtClean="0"/>
              <a:t> </a:t>
            </a:r>
            <a:r>
              <a:rPr lang="pt-BR" sz="2600" i="1" dirty="0" err="1" smtClean="0"/>
              <a:t>small</a:t>
            </a:r>
            <a:r>
              <a:rPr lang="pt-BR" sz="2600" dirty="0" smtClean="0"/>
              <a:t>) e devemos prosseguir para o ”teste maior” (</a:t>
            </a:r>
            <a:r>
              <a:rPr lang="pt-BR" sz="2600" i="1" dirty="0" err="1" smtClean="0"/>
              <a:t>testing</a:t>
            </a:r>
            <a:r>
              <a:rPr lang="pt-BR" sz="2600" i="1" dirty="0" smtClean="0"/>
              <a:t> in </a:t>
            </a:r>
            <a:r>
              <a:rPr lang="pt-BR" sz="2600" i="1" dirty="0" err="1" smtClean="0"/>
              <a:t>the</a:t>
            </a:r>
            <a:r>
              <a:rPr lang="pt-BR" sz="2600" i="1" dirty="0" smtClean="0"/>
              <a:t> </a:t>
            </a:r>
            <a:r>
              <a:rPr lang="pt-BR" sz="2600" i="1" dirty="0" err="1" smtClean="0"/>
              <a:t>large</a:t>
            </a:r>
            <a:r>
              <a:rPr lang="pt-BR" sz="2600" dirty="0" smtClean="0"/>
              <a:t>)</a:t>
            </a:r>
            <a:endParaRPr lang="pt-BR" sz="2600" dirty="0" smtClean="0"/>
          </a:p>
          <a:p>
            <a:r>
              <a:rPr lang="pt-BR" sz="2600" dirty="0" smtClean="0"/>
              <a:t>Para software convencional</a:t>
            </a:r>
            <a:endParaRPr lang="pt-BR" sz="2600" dirty="0" smtClean="0"/>
          </a:p>
          <a:p>
            <a:pPr lvl="1"/>
            <a:r>
              <a:rPr lang="pt-BR" sz="2600" dirty="0" smtClean="0"/>
              <a:t>O módulo (componente) é o foco inicial</a:t>
            </a:r>
            <a:endParaRPr lang="pt-BR" sz="2600" dirty="0" smtClean="0"/>
          </a:p>
          <a:p>
            <a:pPr lvl="1"/>
            <a:r>
              <a:rPr lang="pt-BR" sz="2600" dirty="0" smtClean="0"/>
              <a:t>A integração dos módulos é o foco seguinte</a:t>
            </a:r>
            <a:endParaRPr lang="pt-BR" sz="2600" dirty="0" smtClean="0"/>
          </a:p>
          <a:p>
            <a:r>
              <a:rPr lang="pt-BR" sz="2600" dirty="0" smtClean="0"/>
              <a:t>Para software OO</a:t>
            </a:r>
            <a:endParaRPr lang="pt-BR" sz="2600" dirty="0" smtClean="0"/>
          </a:p>
          <a:p>
            <a:pPr lvl="1"/>
            <a:r>
              <a:rPr lang="pt-BR" sz="2600" dirty="0" smtClean="0"/>
              <a:t>O foco se inicia com o método e muda para a classe de OO</a:t>
            </a:r>
            <a:endParaRPr lang="pt-BR" sz="26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Estratégia de Teste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dirty="0" smtClean="0"/>
              <a:t>Etapas de Teste de Software</a:t>
            </a:r>
            <a:endParaRPr lang="pt-BR" sz="3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32" y="1490790"/>
            <a:ext cx="7662672" cy="44629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Unitários</a:t>
            </a:r>
            <a:endParaRPr lang="pt-BR" dirty="0"/>
          </a:p>
        </p:txBody>
      </p:sp>
      <p:pic>
        <p:nvPicPr>
          <p:cNvPr id="6" name="Picture 3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33" y="1668844"/>
            <a:ext cx="2320925" cy="24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595" y="1995869"/>
            <a:ext cx="22987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345" y="4062794"/>
            <a:ext cx="1219200" cy="18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130358" y="2314956"/>
            <a:ext cx="1447800" cy="105727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367599" y="2353056"/>
            <a:ext cx="1003480" cy="7130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75000"/>
              </a:lnSpc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Módulo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 algn="ctr">
              <a:lnSpc>
                <a:spcPct val="75000"/>
              </a:lnSpc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a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ser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 algn="ctr">
              <a:lnSpc>
                <a:spcPct val="75000"/>
              </a:lnSpc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testado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16220" y="4605719"/>
            <a:ext cx="1992532" cy="39754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Casos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de teste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647758" y="2800731"/>
            <a:ext cx="419100" cy="371475"/>
          </a:xfrm>
          <a:prstGeom prst="rightArrow">
            <a:avLst>
              <a:gd name="adj1" fmla="val 50000"/>
              <a:gd name="adj2" fmla="val 56415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5768658" y="2772156"/>
            <a:ext cx="660400" cy="371475"/>
          </a:xfrm>
          <a:prstGeom prst="rightArrow">
            <a:avLst>
              <a:gd name="adj1" fmla="val 50000"/>
              <a:gd name="adj2" fmla="val 88897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967220" y="3619881"/>
            <a:ext cx="1479571" cy="39754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resultados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 rot="16200000">
            <a:off x="4478814" y="3552413"/>
            <a:ext cx="357187" cy="3683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747520" y="4239006"/>
            <a:ext cx="1606208" cy="5822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0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engenheiro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lnSpc>
                <a:spcPct val="80000"/>
              </a:lnSpc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de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software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Unitários</a:t>
            </a:r>
            <a:endParaRPr lang="pt-BR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250500" y="1404430"/>
            <a:ext cx="3568700" cy="32004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172712" y="2431542"/>
            <a:ext cx="1536700" cy="819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interface </a:t>
            </a: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172712" y="2874455"/>
            <a:ext cx="3132267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Estruturas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de dados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locais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172712" y="2402967"/>
            <a:ext cx="180975" cy="819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172712" y="3345942"/>
            <a:ext cx="2093521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Condições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limite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172712" y="3117342"/>
            <a:ext cx="180975" cy="819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4172712" y="3774567"/>
            <a:ext cx="3953004" cy="6437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Caminhos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independentes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do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fluxo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172712" y="4060317"/>
            <a:ext cx="180975" cy="819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>
              <a:defRPr/>
            </a:pPr>
            <a:endParaRPr lang="en-US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4172712" y="4188905"/>
            <a:ext cx="4081244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Caminhos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para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tratamento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de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erros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pic>
        <p:nvPicPr>
          <p:cNvPr id="17" name="Picture 14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937" y="4200017"/>
            <a:ext cx="1219200" cy="18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3652012" y="5500180"/>
            <a:ext cx="1811392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Casos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de teste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 rot="16200000">
            <a:off x="2331212" y="3233230"/>
            <a:ext cx="1285875" cy="381000"/>
          </a:xfrm>
          <a:prstGeom prst="rightArrow">
            <a:avLst>
              <a:gd name="adj1" fmla="val 50000"/>
              <a:gd name="adj2" fmla="val 168766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V="1">
            <a:off x="3031300" y="2701417"/>
            <a:ext cx="1104900" cy="98583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3069400" y="3130042"/>
            <a:ext cx="1054100" cy="5572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V="1">
            <a:off x="3082100" y="3544380"/>
            <a:ext cx="1028700" cy="1571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094800" y="3744405"/>
            <a:ext cx="1079500" cy="242887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3082100" y="3701542"/>
            <a:ext cx="1092200" cy="70008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2264982" y="1510284"/>
            <a:ext cx="1447800" cy="1057275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2502223" y="1548384"/>
            <a:ext cx="1003480" cy="7130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75000"/>
              </a:lnSpc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Módulo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 algn="ctr">
              <a:lnSpc>
                <a:spcPct val="75000"/>
              </a:lnSpc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a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ser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  <a:p>
            <a:pPr algn="ctr">
              <a:lnSpc>
                <a:spcPct val="75000"/>
              </a:lnSpc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testado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teste de </a:t>
            </a:r>
            <a:r>
              <a:rPr lang="pt-BR" dirty="0" smtClean="0"/>
              <a:t>integração </a:t>
            </a:r>
            <a:r>
              <a:rPr lang="pt-BR" dirty="0"/>
              <a:t>é uma </a:t>
            </a:r>
            <a:r>
              <a:rPr lang="pt-BR" dirty="0" smtClean="0"/>
              <a:t>técnica sistemática </a:t>
            </a:r>
            <a:r>
              <a:rPr lang="pt-BR" dirty="0"/>
              <a:t>para construir a </a:t>
            </a:r>
            <a:r>
              <a:rPr lang="pt-BR" dirty="0" smtClean="0"/>
              <a:t>arquitetura </a:t>
            </a:r>
            <a:r>
              <a:rPr lang="pt-BR" dirty="0"/>
              <a:t>de software, ao mesmo tempo em que se realizam testes para descobrir erros associados </a:t>
            </a:r>
            <a:r>
              <a:rPr lang="pt-BR" dirty="0" smtClean="0"/>
              <a:t>às </a:t>
            </a:r>
            <a:r>
              <a:rPr lang="pt-BR" dirty="0"/>
              <a:t>interfaces.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objetivo é construir uma estrutura de </a:t>
            </a:r>
            <a:r>
              <a:rPr lang="pt-BR" dirty="0" smtClean="0"/>
              <a:t>programa determinada </a:t>
            </a:r>
            <a:r>
              <a:rPr lang="pt-BR" dirty="0"/>
              <a:t>pelo projeto a partir de componentes testados em unidade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de Integração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Opções:</a:t>
            </a:r>
            <a:endParaRPr lang="pt-BR" dirty="0" smtClean="0"/>
          </a:p>
          <a:p>
            <a:pPr lvl="1"/>
            <a:r>
              <a:rPr lang="pt-BR" dirty="0" smtClean="0"/>
              <a:t>Abordagem ”big </a:t>
            </a:r>
            <a:r>
              <a:rPr lang="pt-BR" dirty="0" err="1" smtClean="0"/>
              <a:t>bang</a:t>
            </a:r>
            <a:r>
              <a:rPr lang="pt-BR" dirty="0" smtClean="0"/>
              <a:t>” </a:t>
            </a:r>
            <a:r>
              <a:rPr lang="pt-BR" dirty="0" smtClean="0">
                <a:sym typeface="Wingdings" panose="05000000000000000000"/>
              </a:rPr>
              <a:t> programa testado como um todo</a:t>
            </a:r>
            <a:endParaRPr lang="pt-BR" dirty="0" smtClean="0"/>
          </a:p>
          <a:p>
            <a:pPr lvl="1"/>
            <a:r>
              <a:rPr lang="pt-BR" dirty="0" smtClean="0"/>
              <a:t>Uma estratégia para construção incremental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00" dirty="0" smtClean="0"/>
              <a:t>Estratégias para Testes de Integração</a:t>
            </a:r>
            <a:endParaRPr lang="pt-BR" sz="2600" dirty="0"/>
          </a:p>
        </p:txBody>
      </p:sp>
      <p:pic>
        <p:nvPicPr>
          <p:cNvPr id="6" name="Picture 3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887" y="3447288"/>
            <a:ext cx="4594225" cy="24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5829312" cy="571504"/>
          </a:xfrm>
        </p:spPr>
        <p:txBody>
          <a:bodyPr/>
          <a:lstStyle/>
          <a:p>
            <a:r>
              <a:rPr lang="pt-BR" sz="2600" dirty="0" smtClean="0"/>
              <a:t>Teste de integração descendente (top </a:t>
            </a:r>
            <a:r>
              <a:rPr lang="pt-BR" sz="2600" dirty="0" err="1" smtClean="0"/>
              <a:t>down</a:t>
            </a:r>
            <a:r>
              <a:rPr lang="pt-BR" sz="2600" dirty="0" smtClean="0"/>
              <a:t>)</a:t>
            </a:r>
            <a:endParaRPr lang="pt-BR" sz="26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564700" y="2025650"/>
            <a:ext cx="685800" cy="542925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15400" y="3111500"/>
            <a:ext cx="685800" cy="542925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53400" y="4211638"/>
            <a:ext cx="685800" cy="542925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70800" y="5297488"/>
            <a:ext cx="685800" cy="542925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472500" y="5297488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679000" y="3111500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529900" y="3111500"/>
            <a:ext cx="685800" cy="542925"/>
          </a:xfrm>
          <a:prstGeom prst="rect">
            <a:avLst/>
          </a:prstGeom>
          <a:solidFill>
            <a:srgbClr val="00AE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-128" charset="-128"/>
              </a:defRPr>
            </a:lvl9pPr>
          </a:lstStyle>
          <a:p>
            <a:endParaRPr lang="pt-BR" altLang="pt-BR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2383600" y="4768850"/>
            <a:ext cx="3810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3933000" y="2582863"/>
            <a:ext cx="38100" cy="528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3907600" y="2611438"/>
            <a:ext cx="977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4668012" y="2200275"/>
            <a:ext cx="3337451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Módulo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inicial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é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testado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com</a:t>
            </a:r>
            <a:endParaRPr lang="en-US" sz="18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668012" y="2457450"/>
            <a:ext cx="790575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stubs</a:t>
            </a:r>
            <a:endParaRPr lang="en-US" sz="1800" b="1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3347212" y="3814763"/>
            <a:ext cx="3568284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Stubs são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substituídos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um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por</a:t>
            </a:r>
            <a:endParaRPr lang="en-US" sz="18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3347212" y="4071938"/>
            <a:ext cx="3767056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vez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, ”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primeiro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em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profundidade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"</a:t>
            </a:r>
            <a:endParaRPr lang="en-US" sz="18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3321812" y="4729163"/>
            <a:ext cx="4530085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Quando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novos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módulos</a:t>
            </a:r>
            <a:r>
              <a:rPr lang="en-US" sz="1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são </a:t>
            </a:r>
            <a:r>
              <a:rPr lang="en-US" sz="1800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integrados</a:t>
            </a:r>
            <a:endParaRPr lang="en-US" sz="18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3321812" y="4986338"/>
            <a:ext cx="5658599" cy="3667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alguns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subconjuntos</a:t>
            </a: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de testes são re-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  <a:ea typeface="MS PGothic" pitchFamily="-128" charset="-128"/>
              </a:rPr>
              <a:t>executados</a:t>
            </a:r>
            <a:endParaRPr lang="en-US" sz="1800" b="1" dirty="0">
              <a:effectLst>
                <a:outerShdw blurRad="38100" dist="38100" dir="2700000" algn="tl">
                  <a:srgbClr val="FFFFFF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3791712" y="2057400"/>
            <a:ext cx="346075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A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3004312" y="3200400"/>
            <a:ext cx="346075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B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2280412" y="4300538"/>
            <a:ext cx="346075" cy="3635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C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747012" y="5343525"/>
            <a:ext cx="346075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D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674112" y="5343525"/>
            <a:ext cx="333375" cy="3635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E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3867912" y="3214688"/>
            <a:ext cx="320675" cy="3635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F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4693412" y="3214688"/>
            <a:ext cx="358775" cy="3635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-128" charset="0"/>
                <a:ea typeface="MS PGothic" pitchFamily="-128" charset="-128"/>
              </a:rPr>
              <a:t>G</a:t>
            </a:r>
            <a:endParaRPr 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-128" charset="0"/>
              <a:ea typeface="MS PGothic" pitchFamily="-128" charset="-128"/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H="1">
            <a:off x="3183700" y="2597150"/>
            <a:ext cx="723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 flipH="1">
            <a:off x="2409000" y="3683000"/>
            <a:ext cx="7239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 flipH="1">
            <a:off x="1926400" y="4783138"/>
            <a:ext cx="457200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nit Test x Integration Test.mov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98475" y="1600200"/>
            <a:ext cx="8147050" cy="4525963"/>
          </a:xfr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796923" y="6100318"/>
            <a:ext cx="571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mtClean="0"/>
              <a:t>Disponível em </a:t>
            </a:r>
            <a:r>
              <a:rPr lang="pt-BR" dirty="0" err="1" smtClean="0"/>
              <a:t>https</a:t>
            </a:r>
            <a:r>
              <a:rPr lang="pt-BR" dirty="0"/>
              <a:t>://</a:t>
            </a:r>
            <a:r>
              <a:rPr lang="pt-BR" dirty="0" err="1"/>
              <a:t>giphy.com</a:t>
            </a:r>
            <a:r>
              <a:rPr lang="pt-BR" dirty="0"/>
              <a:t>/</a:t>
            </a:r>
            <a:r>
              <a:rPr lang="pt-BR" dirty="0" err="1"/>
              <a:t>gifs</a:t>
            </a:r>
            <a:r>
              <a:rPr lang="pt-BR" dirty="0"/>
              <a:t>/l0MYSpvx4pnsoMNz2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 smtClean="0"/>
              <a:t>Cada vez que um novo módulo é acrescentado como parte do teste de integração, o software muda</a:t>
            </a:r>
            <a:endParaRPr lang="pt-BR" sz="2800" dirty="0" smtClean="0"/>
          </a:p>
          <a:p>
            <a:pPr lvl="1"/>
            <a:r>
              <a:rPr lang="pt-BR" dirty="0" smtClean="0"/>
              <a:t>Novos caminhos de fluxo de dados são estabelecidos</a:t>
            </a:r>
            <a:endParaRPr lang="pt-BR" dirty="0" smtClean="0"/>
          </a:p>
          <a:p>
            <a:pPr lvl="1"/>
            <a:r>
              <a:rPr lang="pt-BR" dirty="0" smtClean="0"/>
              <a:t>Podem ocorrer novas entradas e saídas</a:t>
            </a:r>
            <a:endParaRPr lang="pt-BR" dirty="0" smtClean="0"/>
          </a:p>
          <a:p>
            <a:pPr lvl="1"/>
            <a:r>
              <a:rPr lang="pt-BR" dirty="0" smtClean="0"/>
              <a:t>Nova lógica de controle é chamada</a:t>
            </a:r>
            <a:endParaRPr lang="pt-BR" dirty="0" smtClean="0"/>
          </a:p>
          <a:p>
            <a:r>
              <a:rPr lang="pt-BR" sz="2800" dirty="0" smtClean="0"/>
              <a:t>Os efeitos colaterais associados a estas alterações podem causar problemas em funções que antes funcionam corretamente</a:t>
            </a:r>
            <a:endParaRPr lang="pt-BR" sz="2800" dirty="0" smtClean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de Regressão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O teste de regressão é a </a:t>
            </a:r>
            <a:r>
              <a:rPr lang="pt-BR" dirty="0" err="1" smtClean="0"/>
              <a:t>re-execução</a:t>
            </a:r>
            <a:r>
              <a:rPr lang="pt-BR" dirty="0" smtClean="0"/>
              <a:t> de alguns subconjuntos de testes que já foram conduzidos para garantir que mudanças não propagam efeitos colaterais indesejados</a:t>
            </a:r>
            <a:endParaRPr lang="pt-BR" dirty="0" smtClean="0"/>
          </a:p>
          <a:p>
            <a:r>
              <a:rPr lang="pt-BR" dirty="0" smtClean="0"/>
              <a:t>Sempre que o software é corrigido, algum aspecto da configuração de software (o programa, sua documentação, ou os dados manipulados) é modificado</a:t>
            </a:r>
            <a:endParaRPr lang="pt-BR" dirty="0" smtClean="0"/>
          </a:p>
          <a:p>
            <a:r>
              <a:rPr lang="pt-BR" dirty="0" smtClean="0"/>
              <a:t>O teste de regressão auxilia a garantir que as mudanças (decorrentes do teste ou por outras razões) não introduzem comportamento inesperado ou novos erros</a:t>
            </a:r>
            <a:endParaRPr lang="pt-BR" dirty="0" smtClean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de Regressão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teste de </a:t>
            </a:r>
            <a:r>
              <a:rPr lang="pt-BR" dirty="0" smtClean="0"/>
              <a:t>validação começa </a:t>
            </a:r>
            <a:r>
              <a:rPr lang="pt-BR" dirty="0"/>
              <a:t>quando </a:t>
            </a:r>
            <a:endParaRPr lang="pt-BR" dirty="0" smtClean="0"/>
          </a:p>
          <a:p>
            <a:pPr lvl="1"/>
            <a:r>
              <a:rPr lang="pt-BR" dirty="0" smtClean="0"/>
              <a:t>termina </a:t>
            </a:r>
            <a:r>
              <a:rPr lang="pt-BR" dirty="0"/>
              <a:t>o teste de </a:t>
            </a:r>
            <a:r>
              <a:rPr lang="pt-BR" dirty="0" smtClean="0"/>
              <a:t>integração,</a:t>
            </a:r>
            <a:endParaRPr lang="pt-BR" dirty="0" smtClean="0"/>
          </a:p>
          <a:p>
            <a:pPr lvl="1"/>
            <a:r>
              <a:rPr lang="pt-BR" dirty="0" smtClean="0"/>
              <a:t>os </a:t>
            </a:r>
            <a:r>
              <a:rPr lang="pt-BR" dirty="0"/>
              <a:t>componentes individuais </a:t>
            </a:r>
            <a:r>
              <a:rPr lang="pt-BR" dirty="0" smtClean="0"/>
              <a:t>já́ </a:t>
            </a:r>
            <a:r>
              <a:rPr lang="pt-BR" dirty="0"/>
              <a:t>foram exercitados, </a:t>
            </a:r>
            <a:endParaRPr lang="pt-BR" dirty="0" smtClean="0"/>
          </a:p>
          <a:p>
            <a:pPr lvl="1"/>
            <a:r>
              <a:rPr lang="pt-BR" dirty="0" smtClean="0"/>
              <a:t>o </a:t>
            </a:r>
            <a:r>
              <a:rPr lang="pt-BR" dirty="0"/>
              <a:t>software está </a:t>
            </a:r>
            <a:r>
              <a:rPr lang="pt-BR" dirty="0" smtClean="0"/>
              <a:t>completamente </a:t>
            </a:r>
            <a:r>
              <a:rPr lang="pt-BR" dirty="0"/>
              <a:t>montado como um </a:t>
            </a:r>
            <a:r>
              <a:rPr lang="pt-BR" dirty="0" smtClean="0"/>
              <a:t>pacote, e</a:t>
            </a:r>
            <a:endParaRPr lang="pt-BR" dirty="0" smtClean="0"/>
          </a:p>
          <a:p>
            <a:pPr lvl="1"/>
            <a:r>
              <a:rPr lang="pt-BR" dirty="0" smtClean="0"/>
              <a:t>os </a:t>
            </a:r>
            <a:r>
              <a:rPr lang="pt-BR" dirty="0"/>
              <a:t>erros de interface </a:t>
            </a:r>
            <a:r>
              <a:rPr lang="pt-BR" dirty="0" smtClean="0"/>
              <a:t>já́ </a:t>
            </a:r>
            <a:r>
              <a:rPr lang="pt-BR" dirty="0"/>
              <a:t>foram </a:t>
            </a:r>
            <a:r>
              <a:rPr lang="pt-BR" dirty="0" smtClean="0"/>
              <a:t>descobertos e corrigidos</a:t>
            </a:r>
            <a:endParaRPr lang="pt-BR" dirty="0"/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Testes de Validação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</a:t>
            </a:r>
            <a:r>
              <a:rPr lang="en-US" altLang="pt-BR" sz="2000" dirty="0" err="1" smtClean="0">
                <a:solidFill>
                  <a:schemeClr val="folHlink"/>
                </a:solidFill>
              </a:rPr>
              <a:t>Validação</a:t>
            </a:r>
            <a:endParaRPr lang="en-US" altLang="pt-BR" sz="2000" dirty="0">
              <a:solidFill>
                <a:srgbClr val="F3FF07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Foco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nos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Requisitos</a:t>
            </a:r>
            <a:r>
              <a:rPr lang="en-US" altLang="pt-BR" sz="1800" dirty="0" smtClean="0"/>
              <a:t> de Software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Sistema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Foco</a:t>
            </a:r>
            <a:r>
              <a:rPr lang="en-US" altLang="pt-BR" sz="1800" dirty="0" smtClean="0"/>
              <a:t> no </a:t>
            </a:r>
            <a:r>
              <a:rPr lang="en-US" altLang="pt-BR" sz="1800" dirty="0" err="1" smtClean="0"/>
              <a:t>integração</a:t>
            </a:r>
            <a:r>
              <a:rPr lang="en-US" altLang="pt-BR" sz="1800" dirty="0" smtClean="0"/>
              <a:t> do </a:t>
            </a:r>
            <a:r>
              <a:rPr lang="en-US" altLang="pt-BR" sz="1800" dirty="0" err="1" smtClean="0"/>
              <a:t>sistema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Testes Alpha/Beta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Foco</a:t>
            </a:r>
            <a:r>
              <a:rPr lang="en-US" altLang="pt-BR" sz="1800" dirty="0" smtClean="0"/>
              <a:t> no </a:t>
            </a:r>
            <a:r>
              <a:rPr lang="en-US" altLang="pt-BR" sz="1800" dirty="0" err="1" smtClean="0"/>
              <a:t>uso</a:t>
            </a:r>
            <a:r>
              <a:rPr lang="en-US" altLang="pt-BR" sz="1800" dirty="0" smtClean="0"/>
              <a:t> do </a:t>
            </a:r>
            <a:r>
              <a:rPr lang="en-US" altLang="pt-BR" sz="1800" dirty="0" err="1" smtClean="0"/>
              <a:t>cliente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</a:t>
            </a:r>
            <a:r>
              <a:rPr lang="en-US" altLang="pt-BR" sz="2000" dirty="0" err="1" smtClean="0">
                <a:solidFill>
                  <a:schemeClr val="folHlink"/>
                </a:solidFill>
              </a:rPr>
              <a:t>Recuperação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Força</a:t>
            </a:r>
            <a:r>
              <a:rPr lang="en-US" altLang="pt-BR" sz="1800" dirty="0" smtClean="0"/>
              <a:t> que o software </a:t>
            </a:r>
            <a:r>
              <a:rPr lang="en-US" altLang="pt-BR" sz="1800" dirty="0" err="1" smtClean="0"/>
              <a:t>falhe</a:t>
            </a:r>
            <a:r>
              <a:rPr lang="en-US" altLang="pt-BR" sz="1800" dirty="0" smtClean="0"/>
              <a:t> de </a:t>
            </a:r>
            <a:r>
              <a:rPr lang="en-US" altLang="pt-BR" sz="1800" dirty="0" err="1" smtClean="0"/>
              <a:t>uma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variedade</a:t>
            </a:r>
            <a:r>
              <a:rPr lang="en-US" altLang="pt-BR" sz="1800" dirty="0" smtClean="0"/>
              <a:t> de </a:t>
            </a:r>
            <a:r>
              <a:rPr lang="en-US" altLang="pt-BR" sz="1800" dirty="0" err="1" smtClean="0"/>
              <a:t>formas</a:t>
            </a:r>
            <a:r>
              <a:rPr lang="en-US" altLang="pt-BR" sz="1800" dirty="0" smtClean="0"/>
              <a:t> e </a:t>
            </a:r>
            <a:r>
              <a:rPr lang="en-US" altLang="pt-BR" sz="1800" dirty="0" err="1" smtClean="0"/>
              <a:t>verifica</a:t>
            </a:r>
            <a:r>
              <a:rPr lang="en-US" altLang="pt-BR" sz="1800" dirty="0" smtClean="0"/>
              <a:t> se a </a:t>
            </a:r>
            <a:r>
              <a:rPr lang="en-US" altLang="pt-BR" sz="1800" dirty="0" err="1" smtClean="0"/>
              <a:t>recuperação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é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possível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</a:t>
            </a:r>
            <a:r>
              <a:rPr lang="en-US" altLang="pt-BR" sz="2000" dirty="0" err="1" smtClean="0">
                <a:solidFill>
                  <a:schemeClr val="folHlink"/>
                </a:solidFill>
              </a:rPr>
              <a:t>Segurança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Verifica</a:t>
            </a:r>
            <a:r>
              <a:rPr lang="en-US" altLang="pt-BR" sz="1800" dirty="0" smtClean="0"/>
              <a:t> se </a:t>
            </a:r>
            <a:r>
              <a:rPr lang="en-US" altLang="pt-BR" sz="1800" dirty="0" err="1" smtClean="0"/>
              <a:t>os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mecanismos</a:t>
            </a:r>
            <a:r>
              <a:rPr lang="en-US" altLang="pt-BR" sz="1800" dirty="0" smtClean="0"/>
              <a:t> de </a:t>
            </a:r>
            <a:r>
              <a:rPr lang="en-US" altLang="pt-BR" sz="1800" dirty="0" err="1" smtClean="0"/>
              <a:t>proteção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inseridos</a:t>
            </a:r>
            <a:r>
              <a:rPr lang="en-US" altLang="pt-BR" sz="1800" dirty="0" smtClean="0"/>
              <a:t> no </a:t>
            </a:r>
            <a:r>
              <a:rPr lang="en-US" altLang="pt-BR" sz="1800" dirty="0" err="1" smtClean="0"/>
              <a:t>sistema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irão</a:t>
            </a:r>
            <a:r>
              <a:rPr lang="en-US" altLang="pt-BR" sz="1800" dirty="0" smtClean="0"/>
              <a:t>, de </a:t>
            </a:r>
            <a:r>
              <a:rPr lang="en-US" altLang="pt-BR" sz="1800" dirty="0" err="1" smtClean="0"/>
              <a:t>fato</a:t>
            </a:r>
            <a:r>
              <a:rPr lang="en-US" altLang="pt-BR" sz="1800" dirty="0" smtClean="0"/>
              <a:t>, </a:t>
            </a:r>
            <a:r>
              <a:rPr lang="en-US" altLang="pt-BR" sz="1800" dirty="0" err="1" smtClean="0"/>
              <a:t>protegê</a:t>
            </a:r>
            <a:r>
              <a:rPr lang="en-US" altLang="pt-BR" sz="1800" dirty="0" smtClean="0"/>
              <a:t>-lo de </a:t>
            </a:r>
            <a:r>
              <a:rPr lang="en-US" altLang="pt-BR" sz="1800" dirty="0" err="1" smtClean="0"/>
              <a:t>violação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Stress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err="1" smtClean="0"/>
              <a:t>Executa</a:t>
            </a:r>
            <a:r>
              <a:rPr lang="en-US" altLang="pt-BR" sz="1800" dirty="0" smtClean="0"/>
              <a:t> o </a:t>
            </a:r>
            <a:r>
              <a:rPr lang="en-US" altLang="pt-BR" sz="1800" dirty="0" err="1" smtClean="0"/>
              <a:t>sistema</a:t>
            </a:r>
            <a:r>
              <a:rPr lang="en-US" altLang="pt-BR" sz="1800" dirty="0" smtClean="0"/>
              <a:t> de </a:t>
            </a:r>
            <a:r>
              <a:rPr lang="en-US" altLang="pt-BR" sz="1800" dirty="0" err="1" smtClean="0"/>
              <a:t>uma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maneira</a:t>
            </a:r>
            <a:r>
              <a:rPr lang="en-US" altLang="pt-BR" sz="1800" dirty="0" smtClean="0"/>
              <a:t> que </a:t>
            </a:r>
            <a:r>
              <a:rPr lang="en-US" altLang="pt-BR" sz="1800" dirty="0" err="1" smtClean="0"/>
              <a:t>haja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demanda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por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recursos</a:t>
            </a:r>
            <a:r>
              <a:rPr lang="en-US" altLang="pt-BR" sz="1800" dirty="0" smtClean="0"/>
              <a:t> de forma </a:t>
            </a:r>
            <a:r>
              <a:rPr lang="en-US" altLang="pt-BR" sz="1800" dirty="0" err="1" smtClean="0"/>
              <a:t>anormal</a:t>
            </a:r>
            <a:endParaRPr lang="en-US" altLang="pt-BR" sz="1800" dirty="0" smtClean="0"/>
          </a:p>
          <a:p>
            <a:pPr>
              <a:lnSpc>
                <a:spcPct val="90000"/>
              </a:lnSpc>
            </a:pPr>
            <a:r>
              <a:rPr lang="en-US" altLang="pt-BR" sz="2000" dirty="0" smtClean="0">
                <a:solidFill>
                  <a:schemeClr val="folHlink"/>
                </a:solidFill>
              </a:rPr>
              <a:t>Teste de Performance</a:t>
            </a:r>
            <a:endParaRPr lang="en-US" altLang="pt-BR" sz="2000" dirty="0" smtClean="0"/>
          </a:p>
          <a:p>
            <a:pPr lvl="1">
              <a:lnSpc>
                <a:spcPct val="90000"/>
              </a:lnSpc>
            </a:pPr>
            <a:r>
              <a:rPr lang="en-US" altLang="pt-BR" sz="1800" dirty="0" smtClean="0"/>
              <a:t>Teste a performance de </a:t>
            </a:r>
            <a:r>
              <a:rPr lang="en-US" altLang="pt-BR" sz="1800" dirty="0" err="1" smtClean="0"/>
              <a:t>execução</a:t>
            </a:r>
            <a:r>
              <a:rPr lang="en-US" altLang="pt-BR" sz="1800" dirty="0" smtClean="0"/>
              <a:t> do software no </a:t>
            </a:r>
            <a:r>
              <a:rPr lang="en-US" altLang="pt-BR" sz="1800" dirty="0" err="1" smtClean="0"/>
              <a:t>contexto</a:t>
            </a:r>
            <a:r>
              <a:rPr lang="en-US" altLang="pt-BR" sz="1800" dirty="0" smtClean="0"/>
              <a:t> do </a:t>
            </a:r>
            <a:r>
              <a:rPr lang="en-US" altLang="pt-BR" sz="1800" dirty="0" err="1" smtClean="0"/>
              <a:t>sistema</a:t>
            </a:r>
            <a:r>
              <a:rPr lang="en-US" altLang="pt-BR" sz="1800" dirty="0" smtClean="0"/>
              <a:t> </a:t>
            </a:r>
            <a:r>
              <a:rPr lang="en-US" altLang="pt-BR" sz="1800" dirty="0" err="1" smtClean="0"/>
              <a:t>integrado</a:t>
            </a:r>
            <a:endParaRPr lang="en-US" altLang="pt-BR" sz="1800" dirty="0" smtClean="0"/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 de Validação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depuração</a:t>
            </a:r>
            <a:r>
              <a:rPr lang="pt-BR" dirty="0"/>
              <a:t> ocorre como </a:t>
            </a:r>
            <a:r>
              <a:rPr lang="pt-BR" dirty="0" err="1"/>
              <a:t>consequência</a:t>
            </a:r>
            <a:r>
              <a:rPr lang="pt-BR" dirty="0"/>
              <a:t> de um teste bem-sucedido.</a:t>
            </a:r>
            <a:endParaRPr lang="pt-BR" dirty="0"/>
          </a:p>
          <a:p>
            <a:r>
              <a:rPr lang="pt-BR" dirty="0" smtClean="0"/>
              <a:t>Quando </a:t>
            </a:r>
            <a:r>
              <a:rPr lang="pt-BR" dirty="0"/>
              <a:t>um caso de teste descobre um erro, a </a:t>
            </a:r>
            <a:r>
              <a:rPr lang="pt-BR" dirty="0" err="1"/>
              <a:t>depuração</a:t>
            </a:r>
            <a:r>
              <a:rPr lang="pt-BR" dirty="0"/>
              <a:t> é o processo </a:t>
            </a:r>
            <a:r>
              <a:rPr lang="pt-BR" dirty="0" smtClean="0"/>
              <a:t>que resulta na remoção do erro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Depuração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09600" y="1124744"/>
            <a:ext cx="80010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/>
              <a:t>Funcional ou Caixa-preta</a:t>
            </a:r>
            <a:endParaRPr lang="pt-BR" sz="2800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b="1" dirty="0"/>
              <a:t>baseado na Especificação de Requisitos</a:t>
            </a:r>
            <a:endParaRPr lang="pt-BR" b="1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b="1" dirty="0"/>
              <a:t>verifica se as funções do produto são realizadas adequadamente</a:t>
            </a:r>
            <a:endParaRPr lang="pt-BR" b="1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/>
              <a:t>Estrutural ou Caixa-aberta</a:t>
            </a:r>
            <a:endParaRPr lang="pt-BR" sz="2800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b="1" dirty="0"/>
              <a:t>baseado no código fonte</a:t>
            </a:r>
            <a:endParaRPr lang="pt-BR" b="1" dirty="0"/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r>
              <a:rPr lang="pt-BR" b="1" dirty="0"/>
              <a:t>verifica quais funções foram </a:t>
            </a:r>
            <a:r>
              <a:rPr lang="pt-BR" b="1" dirty="0" smtClean="0"/>
              <a:t>implementadas</a:t>
            </a:r>
            <a:endParaRPr lang="pt-BR" b="1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505544" y="-90264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r>
              <a:rPr lang="pt-BR" sz="3600" b="1" dirty="0">
                <a:solidFill>
                  <a:schemeClr val="tx2"/>
                </a:solidFill>
              </a:rPr>
              <a:t>Tipos de Teste</a:t>
            </a:r>
            <a:endParaRPr lang="pt-BR" sz="36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-99392"/>
            <a:ext cx="7162800" cy="1143000"/>
          </a:xfrm>
          <a:noFill/>
        </p:spPr>
        <p:txBody>
          <a:bodyPr/>
          <a:lstStyle/>
          <a:p>
            <a:r>
              <a:rPr lang="pt-BR" sz="3000" b="1" dirty="0"/>
              <a:t>Atividades do Processo de Teste</a:t>
            </a:r>
            <a:endParaRPr lang="pt-BR" sz="3000" b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93440"/>
            <a:ext cx="8229600" cy="4495800"/>
          </a:xfrm>
          <a:noFill/>
        </p:spPr>
        <p:txBody>
          <a:bodyPr/>
          <a:lstStyle/>
          <a:p>
            <a:r>
              <a:rPr lang="pt-BR" sz="2500" dirty="0"/>
              <a:t>determinar casos de teste</a:t>
            </a:r>
            <a:endParaRPr lang="pt-BR" sz="2500" dirty="0"/>
          </a:p>
          <a:p>
            <a:pPr lvl="1"/>
            <a:r>
              <a:rPr lang="pt-BR" sz="2500" dirty="0"/>
              <a:t>escolher estratégia, critério (conclusão dos testes)</a:t>
            </a:r>
            <a:endParaRPr lang="pt-BR" sz="2500" dirty="0"/>
          </a:p>
          <a:p>
            <a:pPr lvl="1"/>
            <a:r>
              <a:rPr lang="pt-BR" sz="2500" dirty="0"/>
              <a:t>selecionar dados e determinar resultados esperados</a:t>
            </a:r>
            <a:endParaRPr lang="pt-BR" sz="2500" dirty="0"/>
          </a:p>
          <a:p>
            <a:r>
              <a:rPr lang="pt-BR" sz="2500" dirty="0"/>
              <a:t>executar os testes</a:t>
            </a:r>
            <a:endParaRPr lang="pt-BR" sz="2500" dirty="0"/>
          </a:p>
          <a:p>
            <a:pPr lvl="1"/>
            <a:r>
              <a:rPr lang="pt-BR" sz="2500" dirty="0"/>
              <a:t>montar </a:t>
            </a:r>
            <a:r>
              <a:rPr lang="pt-BR" sz="2500" dirty="0" smtClean="0"/>
              <a:t>cenários</a:t>
            </a:r>
            <a:endParaRPr lang="pt-BR" sz="2500" dirty="0"/>
          </a:p>
          <a:p>
            <a:pPr lvl="1"/>
            <a:r>
              <a:rPr lang="pt-BR" sz="2500" dirty="0"/>
              <a:t>instrumentar </a:t>
            </a:r>
            <a:r>
              <a:rPr lang="pt-BR" sz="2500" dirty="0" err="1" smtClean="0"/>
              <a:t>programs</a:t>
            </a:r>
            <a:endParaRPr lang="pt-BR" sz="2500" dirty="0" smtClean="0"/>
          </a:p>
          <a:p>
            <a:r>
              <a:rPr lang="pt-BR" sz="2500" dirty="0" smtClean="0"/>
              <a:t>avaliar os resultados</a:t>
            </a:r>
            <a:endParaRPr lang="pt-BR" sz="2500" dirty="0" smtClean="0"/>
          </a:p>
          <a:p>
            <a:pPr lvl="1"/>
            <a:r>
              <a:rPr lang="pt-BR" sz="2500" dirty="0" smtClean="0"/>
              <a:t>comparar </a:t>
            </a:r>
            <a:r>
              <a:rPr lang="pt-BR" sz="2500" dirty="0"/>
              <a:t>resultados computados </a:t>
            </a:r>
            <a:r>
              <a:rPr lang="pt-BR" sz="2500" dirty="0" err="1"/>
              <a:t>c</a:t>
            </a:r>
            <a:r>
              <a:rPr lang="pt-BR" sz="2500" dirty="0"/>
              <a:t>/esperados</a:t>
            </a:r>
            <a:endParaRPr lang="pt-BR" sz="2500" dirty="0"/>
          </a:p>
          <a:p>
            <a:pPr lvl="1"/>
            <a:r>
              <a:rPr lang="pt-BR" sz="2500" dirty="0"/>
              <a:t>avaliar a satisfação do critério</a:t>
            </a:r>
            <a:endParaRPr lang="pt-BR" sz="25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09600" y="1124744"/>
            <a:ext cx="80010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 smtClean="0"/>
              <a:t>Título:</a:t>
            </a:r>
            <a:endParaRPr lang="pt-BR" sz="2800" dirty="0"/>
          </a:p>
          <a:p>
            <a:pPr marL="742950" lvl="1" indent="-285750">
              <a:buFont typeface="Arial" panose="020B0604020202090204"/>
              <a:buChar char="•"/>
            </a:pPr>
            <a:r>
              <a:rPr lang="en-US" dirty="0" err="1"/>
              <a:t>deverá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sucinto</a:t>
            </a:r>
            <a:r>
              <a:rPr lang="en-US" dirty="0"/>
              <a:t>, simples e </a:t>
            </a:r>
            <a:r>
              <a:rPr lang="en-US" dirty="0" err="1"/>
              <a:t>autoexplicativo</a:t>
            </a:r>
            <a:r>
              <a:rPr lang="en-US" dirty="0"/>
              <a:t> com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Analista</a:t>
            </a:r>
            <a:r>
              <a:rPr lang="en-US" dirty="0"/>
              <a:t> de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saiba</a:t>
            </a:r>
            <a:r>
              <a:rPr lang="en-US" dirty="0"/>
              <a:t> a </a:t>
            </a:r>
            <a:r>
              <a:rPr lang="en-US" dirty="0" err="1"/>
              <a:t>validação</a:t>
            </a:r>
            <a:r>
              <a:rPr lang="en-US" dirty="0"/>
              <a:t> a </a:t>
            </a:r>
            <a:r>
              <a:rPr lang="en-US" dirty="0" err="1"/>
              <a:t>qual</a:t>
            </a:r>
            <a:r>
              <a:rPr lang="en-US" dirty="0"/>
              <a:t> o </a:t>
            </a:r>
            <a:r>
              <a:rPr lang="en-US" dirty="0" err="1"/>
              <a:t>teste</a:t>
            </a:r>
            <a:r>
              <a:rPr lang="en-US" dirty="0"/>
              <a:t> se </a:t>
            </a:r>
            <a:r>
              <a:rPr lang="en-US" dirty="0" err="1"/>
              <a:t>propõe</a:t>
            </a:r>
            <a:r>
              <a:rPr lang="en-US" dirty="0"/>
              <a:t>. </a:t>
            </a:r>
            <a:r>
              <a:rPr lang="en-US" dirty="0" err="1"/>
              <a:t>Exemplos</a:t>
            </a:r>
            <a:r>
              <a:rPr lang="en-US" dirty="0"/>
              <a:t>: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Validar</a:t>
            </a:r>
            <a:r>
              <a:rPr lang="en-US" dirty="0"/>
              <a:t> upload de </a:t>
            </a:r>
            <a:r>
              <a:rPr lang="en-US" dirty="0" err="1"/>
              <a:t>arquivo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Validar</a:t>
            </a:r>
            <a:r>
              <a:rPr lang="en-US" dirty="0"/>
              <a:t> </a:t>
            </a:r>
            <a:r>
              <a:rPr lang="en-US" dirty="0" err="1"/>
              <a:t>cadastro</a:t>
            </a:r>
            <a:r>
              <a:rPr lang="en-US" dirty="0"/>
              <a:t> de </a:t>
            </a:r>
            <a:r>
              <a:rPr lang="en-US" dirty="0" err="1"/>
              <a:t>usuário</a:t>
            </a:r>
            <a:r>
              <a:rPr lang="en-US" dirty="0"/>
              <a:t> com </a:t>
            </a:r>
            <a:r>
              <a:rPr lang="en-US" dirty="0" err="1"/>
              <a:t>perfil</a:t>
            </a:r>
            <a:r>
              <a:rPr lang="en-US" dirty="0"/>
              <a:t> </a:t>
            </a:r>
            <a:r>
              <a:rPr lang="en-US" dirty="0" err="1"/>
              <a:t>administrador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Validar</a:t>
            </a:r>
            <a:r>
              <a:rPr lang="en-US" dirty="0"/>
              <a:t> </a:t>
            </a:r>
            <a:r>
              <a:rPr lang="en-US" dirty="0" err="1"/>
              <a:t>envio</a:t>
            </a:r>
            <a:r>
              <a:rPr lang="en-US" dirty="0"/>
              <a:t> de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compra</a:t>
            </a:r>
            <a:endParaRPr lang="pt-BR" dirty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 smtClean="0"/>
              <a:t>Objetivo</a:t>
            </a:r>
            <a:endParaRPr lang="pt-BR" sz="2800" dirty="0"/>
          </a:p>
          <a:p>
            <a:pPr marL="742950" lvl="1" indent="-285750">
              <a:buFont typeface="Arial" panose="020B0604020202090204"/>
              <a:buChar char="•"/>
            </a:pP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descrever</a:t>
            </a:r>
            <a:r>
              <a:rPr lang="en-US" dirty="0"/>
              <a:t>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executado</a:t>
            </a:r>
            <a:r>
              <a:rPr lang="en-US" dirty="0"/>
              <a:t>, </a:t>
            </a:r>
            <a:r>
              <a:rPr lang="en-US" dirty="0" err="1"/>
              <a:t>fornecendo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do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. </a:t>
            </a:r>
            <a:r>
              <a:rPr lang="en-US" dirty="0" err="1"/>
              <a:t>Exemplos</a:t>
            </a:r>
            <a:r>
              <a:rPr lang="en-US" dirty="0"/>
              <a:t>: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Verificar</a:t>
            </a:r>
            <a:r>
              <a:rPr lang="en-US" dirty="0"/>
              <a:t> se </a:t>
            </a:r>
            <a:r>
              <a:rPr lang="en-US" dirty="0" err="1"/>
              <a:t>realiza</a:t>
            </a:r>
            <a:r>
              <a:rPr lang="en-US" dirty="0"/>
              <a:t> o upload do </a:t>
            </a:r>
            <a:r>
              <a:rPr lang="en-US" dirty="0" err="1"/>
              <a:t>arquivo</a:t>
            </a:r>
            <a:r>
              <a:rPr lang="en-US" dirty="0"/>
              <a:t> com as </a:t>
            </a:r>
            <a:r>
              <a:rPr lang="en-US" dirty="0" err="1"/>
              <a:t>extensões</a:t>
            </a:r>
            <a:r>
              <a:rPr lang="en-US" dirty="0"/>
              <a:t> </a:t>
            </a:r>
            <a:r>
              <a:rPr lang="en-US" dirty="0" err="1"/>
              <a:t>permitidas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Verificar</a:t>
            </a:r>
            <a:r>
              <a:rPr lang="en-US" dirty="0"/>
              <a:t> se o </a:t>
            </a:r>
            <a:r>
              <a:rPr lang="en-US" dirty="0" err="1"/>
              <a:t>cadastro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efetivado</a:t>
            </a:r>
            <a:r>
              <a:rPr lang="en-US" dirty="0"/>
              <a:t> </a:t>
            </a:r>
            <a:r>
              <a:rPr lang="en-US" dirty="0" err="1"/>
              <a:t>após</a:t>
            </a:r>
            <a:r>
              <a:rPr lang="en-US" dirty="0"/>
              <a:t> </a:t>
            </a:r>
            <a:r>
              <a:rPr lang="en-US" dirty="0" err="1"/>
              <a:t>preencher</a:t>
            </a:r>
            <a:r>
              <a:rPr lang="en-US" dirty="0"/>
              <a:t> as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corretamente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Verificar</a:t>
            </a:r>
            <a:r>
              <a:rPr lang="en-US" dirty="0"/>
              <a:t> se 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compra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enviada</a:t>
            </a:r>
            <a:r>
              <a:rPr lang="en-US" dirty="0"/>
              <a:t> </a:t>
            </a:r>
            <a:r>
              <a:rPr lang="en-US" dirty="0" err="1"/>
              <a:t>informando</a:t>
            </a:r>
            <a:r>
              <a:rPr lang="en-US" dirty="0"/>
              <a:t> o </a:t>
            </a:r>
            <a:r>
              <a:rPr lang="en-US" dirty="0" err="1"/>
              <a:t>ativo</a:t>
            </a:r>
            <a:r>
              <a:rPr lang="en-US" dirty="0"/>
              <a:t>, </a:t>
            </a:r>
            <a:r>
              <a:rPr lang="en-US" dirty="0" err="1"/>
              <a:t>quantidade</a:t>
            </a:r>
            <a:r>
              <a:rPr lang="en-US" dirty="0"/>
              <a:t> e </a:t>
            </a:r>
            <a:r>
              <a:rPr lang="en-US" dirty="0" err="1"/>
              <a:t>preço</a:t>
            </a:r>
            <a:endParaRPr lang="pt-BR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505544" y="-90264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r>
              <a:rPr lang="pt-BR" sz="3000" b="1" dirty="0" smtClean="0">
                <a:solidFill>
                  <a:schemeClr val="tx2"/>
                </a:solidFill>
              </a:rPr>
              <a:t>Especificação de Caso de Teste</a:t>
            </a:r>
            <a:endParaRPr lang="pt-BR" sz="3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09600" y="1124744"/>
            <a:ext cx="80010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 smtClean="0"/>
              <a:t>Pré-Condição:</a:t>
            </a:r>
            <a:endParaRPr lang="pt-BR" sz="2800" dirty="0"/>
          </a:p>
          <a:p>
            <a:pPr marL="742950" lvl="1" indent="-285750">
              <a:buFont typeface="Arial" panose="020B0604020202090204"/>
              <a:buChar char="•"/>
            </a:pPr>
            <a:r>
              <a:rPr lang="en-US" dirty="0" err="1"/>
              <a:t>s</a:t>
            </a:r>
            <a:r>
              <a:rPr lang="en-US" dirty="0" err="1" smtClean="0"/>
              <a:t>ão</a:t>
            </a:r>
            <a:r>
              <a:rPr lang="en-US" dirty="0" smtClean="0"/>
              <a:t> </a:t>
            </a:r>
            <a:r>
              <a:rPr lang="en-US" dirty="0" err="1"/>
              <a:t>condições</a:t>
            </a:r>
            <a:r>
              <a:rPr lang="en-US" dirty="0"/>
              <a:t> </a:t>
            </a:r>
            <a:r>
              <a:rPr lang="en-US" dirty="0" err="1"/>
              <a:t>necessárias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teste</a:t>
            </a:r>
            <a:r>
              <a:rPr lang="en-US" dirty="0"/>
              <a:t> </a:t>
            </a:r>
            <a:r>
              <a:rPr lang="en-US" dirty="0" err="1"/>
              <a:t>consiga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executado</a:t>
            </a:r>
            <a:r>
              <a:rPr lang="en-US" dirty="0"/>
              <a:t>.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tenha</a:t>
            </a:r>
            <a:r>
              <a:rPr lang="en-US" dirty="0"/>
              <a:t> </a:t>
            </a:r>
            <a:r>
              <a:rPr lang="en-US" dirty="0" err="1"/>
              <a:t>alguma</a:t>
            </a:r>
            <a:r>
              <a:rPr lang="en-US" dirty="0"/>
              <a:t> </a:t>
            </a:r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 (</a:t>
            </a:r>
            <a:r>
              <a:rPr lang="en-US" dirty="0" err="1"/>
              <a:t>Exemplo</a:t>
            </a:r>
            <a:r>
              <a:rPr lang="en-US" dirty="0"/>
              <a:t>: </a:t>
            </a:r>
            <a:r>
              <a:rPr lang="en-US" dirty="0" err="1"/>
              <a:t>solicitar</a:t>
            </a:r>
            <a:r>
              <a:rPr lang="en-US" dirty="0"/>
              <a:t> a </a:t>
            </a:r>
            <a:r>
              <a:rPr lang="en-US" dirty="0" err="1"/>
              <a:t>edição</a:t>
            </a:r>
            <a:r>
              <a:rPr lang="en-US" dirty="0"/>
              <a:t> de um </a:t>
            </a: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pré-condição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informar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cadastrado</a:t>
            </a:r>
            <a:r>
              <a:rPr lang="en-US" dirty="0"/>
              <a:t>). </a:t>
            </a:r>
            <a:r>
              <a:rPr lang="en-US" dirty="0" err="1"/>
              <a:t>Exemplos</a:t>
            </a:r>
            <a:r>
              <a:rPr lang="en-US" dirty="0"/>
              <a:t>: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cadastrado</a:t>
            </a:r>
            <a:r>
              <a:rPr lang="en-US" dirty="0"/>
              <a:t> e </a:t>
            </a:r>
            <a:r>
              <a:rPr lang="en-US" dirty="0" err="1"/>
              <a:t>autenticado</a:t>
            </a:r>
            <a:r>
              <a:rPr lang="en-US" dirty="0"/>
              <a:t> no </a:t>
            </a:r>
            <a:r>
              <a:rPr lang="en-US" dirty="0" err="1"/>
              <a:t>sistema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compra</a:t>
            </a:r>
            <a:r>
              <a:rPr lang="en-US" dirty="0"/>
              <a:t> </a:t>
            </a:r>
            <a:r>
              <a:rPr lang="en-US" dirty="0" err="1"/>
              <a:t>enviada</a:t>
            </a:r>
            <a:r>
              <a:rPr lang="en-US" dirty="0"/>
              <a:t> e </a:t>
            </a:r>
            <a:r>
              <a:rPr lang="en-US" dirty="0" err="1"/>
              <a:t>executada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Usuário</a:t>
            </a:r>
            <a:r>
              <a:rPr lang="en-US" dirty="0"/>
              <a:t> com </a:t>
            </a:r>
            <a:r>
              <a:rPr lang="en-US" dirty="0" err="1"/>
              <a:t>perfil</a:t>
            </a:r>
            <a:r>
              <a:rPr lang="en-US" dirty="0"/>
              <a:t> </a:t>
            </a:r>
            <a:r>
              <a:rPr lang="en-US" dirty="0" err="1"/>
              <a:t>Administrador</a:t>
            </a:r>
            <a:endParaRPr lang="pt-BR" dirty="0" smtClean="0"/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 smtClean="0"/>
              <a:t>Dados</a:t>
            </a:r>
            <a:endParaRPr lang="pt-BR" sz="2800" dirty="0" smtClean="0"/>
          </a:p>
          <a:p>
            <a:pPr marL="742950" lvl="1" indent="-285750">
              <a:buFont typeface="Arial" panose="020B0604020202090204"/>
              <a:buChar char="•"/>
            </a:pPr>
            <a:r>
              <a:rPr lang="pt-BR" dirty="0" err="1"/>
              <a:t>r</a:t>
            </a:r>
            <a:r>
              <a:rPr lang="en-US" dirty="0" err="1" smtClean="0"/>
              <a:t>epresentam</a:t>
            </a:r>
            <a:r>
              <a:rPr lang="en-US" dirty="0" smtClean="0"/>
              <a:t> 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será</a:t>
            </a:r>
            <a:r>
              <a:rPr lang="en-US" dirty="0" smtClean="0"/>
              <a:t> </a:t>
            </a:r>
            <a:r>
              <a:rPr lang="en-US" dirty="0" err="1" smtClean="0"/>
              <a:t>usado</a:t>
            </a:r>
            <a:r>
              <a:rPr lang="en-US" dirty="0" smtClean="0"/>
              <a:t> </a:t>
            </a:r>
            <a:r>
              <a:rPr lang="en-US" dirty="0" err="1" smtClean="0"/>
              <a:t>pelo</a:t>
            </a:r>
            <a:r>
              <a:rPr lang="en-US" dirty="0" smtClean="0"/>
              <a:t> </a:t>
            </a:r>
            <a:r>
              <a:rPr lang="en-US" dirty="0" err="1" smtClean="0"/>
              <a:t>Analista</a:t>
            </a:r>
            <a:r>
              <a:rPr lang="en-US" dirty="0" smtClean="0"/>
              <a:t> de </a:t>
            </a:r>
            <a:r>
              <a:rPr lang="en-US" dirty="0" err="1" smtClean="0"/>
              <a:t>Teste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executar</a:t>
            </a:r>
            <a:r>
              <a:rPr lang="en-US" dirty="0" smtClean="0"/>
              <a:t> o </a:t>
            </a:r>
            <a:r>
              <a:rPr lang="en-US" dirty="0" err="1" smtClean="0"/>
              <a:t>Teste</a:t>
            </a:r>
            <a:r>
              <a:rPr lang="en-US" dirty="0" smtClean="0"/>
              <a:t>,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seja</a:t>
            </a:r>
            <a:r>
              <a:rPr lang="en-US" dirty="0" smtClean="0"/>
              <a:t>, </a:t>
            </a:r>
            <a:r>
              <a:rPr lang="en-US" dirty="0" err="1" smtClean="0"/>
              <a:t>quais</a:t>
            </a:r>
            <a:r>
              <a:rPr lang="en-US" dirty="0" smtClean="0"/>
              <a:t> as </a:t>
            </a:r>
            <a:r>
              <a:rPr lang="en-US" dirty="0" err="1" smtClean="0"/>
              <a:t>entradas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estarão</a:t>
            </a:r>
            <a:r>
              <a:rPr lang="en-US" dirty="0" smtClean="0"/>
              <a:t> </a:t>
            </a:r>
            <a:r>
              <a:rPr lang="en-US" dirty="0" err="1" smtClean="0"/>
              <a:t>disponíveis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a </a:t>
            </a:r>
            <a:r>
              <a:rPr lang="en-US" dirty="0" err="1" smtClean="0"/>
              <a:t>realização</a:t>
            </a:r>
            <a:r>
              <a:rPr lang="en-US" dirty="0" smtClean="0"/>
              <a:t> do </a:t>
            </a:r>
            <a:r>
              <a:rPr lang="en-US" dirty="0" err="1" smtClean="0"/>
              <a:t>Caso</a:t>
            </a:r>
            <a:r>
              <a:rPr lang="en-US" dirty="0" smtClean="0"/>
              <a:t> de </a:t>
            </a:r>
            <a:r>
              <a:rPr lang="en-US" dirty="0" err="1" smtClean="0"/>
              <a:t>Teste</a:t>
            </a:r>
            <a:r>
              <a:rPr lang="en-US" dirty="0" smtClean="0"/>
              <a:t>. </a:t>
            </a:r>
            <a:r>
              <a:rPr lang="en-US" dirty="0" err="1"/>
              <a:t>Exemplos</a:t>
            </a:r>
            <a:r>
              <a:rPr lang="en-US" dirty="0" smtClean="0"/>
              <a:t>:</a:t>
            </a:r>
            <a:endParaRPr lang="en-US" dirty="0" smtClean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smtClean="0"/>
              <a:t>Nome = Sandro</a:t>
            </a:r>
            <a:endParaRPr lang="en-US" dirty="0" smtClean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 smtClean="0"/>
              <a:t>Telefone</a:t>
            </a:r>
            <a:r>
              <a:rPr lang="en-US" dirty="0"/>
              <a:t> </a:t>
            </a:r>
            <a:r>
              <a:rPr lang="en-US" dirty="0" smtClean="0"/>
              <a:t>= (91) 967656543</a:t>
            </a:r>
            <a:endParaRPr lang="en-US" dirty="0" smtClean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 smtClean="0"/>
              <a:t>Endereço</a:t>
            </a:r>
            <a:r>
              <a:rPr lang="en-US" dirty="0"/>
              <a:t> </a:t>
            </a:r>
            <a:r>
              <a:rPr lang="en-US" dirty="0" smtClean="0"/>
              <a:t>= Trav. </a:t>
            </a:r>
            <a:r>
              <a:rPr lang="en-US" dirty="0" err="1" smtClean="0"/>
              <a:t>Humaitá</a:t>
            </a:r>
            <a:r>
              <a:rPr lang="en-US" dirty="0" smtClean="0"/>
              <a:t>, 2240. </a:t>
            </a:r>
            <a:endParaRPr lang="en-US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505544" y="-90264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r>
              <a:rPr lang="pt-BR" sz="3000" b="1" dirty="0" smtClean="0">
                <a:solidFill>
                  <a:schemeClr val="tx2"/>
                </a:solidFill>
              </a:rPr>
              <a:t>Especificação de Caso de Teste</a:t>
            </a:r>
            <a:endParaRPr lang="pt-BR" sz="3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09600" y="1029816"/>
            <a:ext cx="8001000" cy="43434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pt-BR" sz="2800" dirty="0" smtClean="0"/>
              <a:t>Ações do Passo:</a:t>
            </a:r>
            <a:endParaRPr lang="pt-BR" sz="2800" dirty="0"/>
          </a:p>
          <a:p>
            <a:pPr marL="742950" lvl="1" indent="-285750">
              <a:buFont typeface="Arial" panose="020B0604020202090204"/>
              <a:buChar char="•"/>
            </a:pPr>
            <a:r>
              <a:rPr lang="en-US" dirty="0" err="1" smtClean="0"/>
              <a:t>necessários</a:t>
            </a:r>
            <a:r>
              <a:rPr lang="en-US" dirty="0" smtClean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descrever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analista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seguir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a </a:t>
            </a:r>
            <a:r>
              <a:rPr lang="en-US" dirty="0" err="1"/>
              <a:t>execução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chegar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esperado</a:t>
            </a:r>
            <a:r>
              <a:rPr lang="en-US" dirty="0"/>
              <a:t>. </a:t>
            </a:r>
            <a:r>
              <a:rPr lang="en-US" dirty="0" err="1"/>
              <a:t>Devendo</a:t>
            </a:r>
            <a:r>
              <a:rPr lang="en-US" dirty="0"/>
              <a:t> </a:t>
            </a:r>
            <a:r>
              <a:rPr lang="en-US" dirty="0" err="1"/>
              <a:t>iniciar</a:t>
            </a:r>
            <a:r>
              <a:rPr lang="en-US" dirty="0"/>
              <a:t> com um </a:t>
            </a:r>
            <a:r>
              <a:rPr lang="en-US" dirty="0" err="1"/>
              <a:t>verbo</a:t>
            </a:r>
            <a:r>
              <a:rPr lang="en-US" dirty="0"/>
              <a:t> </a:t>
            </a:r>
            <a:r>
              <a:rPr lang="en-US" dirty="0" err="1"/>
              <a:t>infinitivo</a:t>
            </a:r>
            <a:r>
              <a:rPr lang="en-US" dirty="0"/>
              <a:t> (</a:t>
            </a:r>
            <a:r>
              <a:rPr lang="en-US" dirty="0" err="1"/>
              <a:t>acessar</a:t>
            </a:r>
            <a:r>
              <a:rPr lang="en-US" dirty="0"/>
              <a:t>, </a:t>
            </a:r>
            <a:r>
              <a:rPr lang="en-US" dirty="0" err="1"/>
              <a:t>preencher</a:t>
            </a:r>
            <a:r>
              <a:rPr lang="en-US" dirty="0"/>
              <a:t>, </a:t>
            </a:r>
            <a:r>
              <a:rPr lang="en-US" dirty="0" err="1"/>
              <a:t>clicar</a:t>
            </a:r>
            <a:r>
              <a:rPr lang="en-US" dirty="0"/>
              <a:t>, </a:t>
            </a:r>
            <a:r>
              <a:rPr lang="en-US" dirty="0" err="1"/>
              <a:t>verificar</a:t>
            </a:r>
            <a:r>
              <a:rPr lang="en-US" dirty="0" smtClean="0"/>
              <a:t>). </a:t>
            </a:r>
            <a:r>
              <a:rPr lang="en-US" dirty="0" err="1"/>
              <a:t>Exemplos</a:t>
            </a:r>
            <a:r>
              <a:rPr lang="en-US" dirty="0"/>
              <a:t>: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Acessar</a:t>
            </a:r>
            <a:r>
              <a:rPr lang="en-US" dirty="0"/>
              <a:t> a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Negociação</a:t>
            </a:r>
            <a:r>
              <a:rPr lang="en-US" dirty="0"/>
              <a:t> &gt; </a:t>
            </a:r>
            <a:r>
              <a:rPr lang="en-US" dirty="0" err="1"/>
              <a:t>Boleta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 smtClean="0"/>
              <a:t>Clicar</a:t>
            </a:r>
            <a:r>
              <a:rPr lang="en-US" dirty="0" smtClean="0"/>
              <a:t> </a:t>
            </a:r>
            <a:r>
              <a:rPr lang="en-US" dirty="0"/>
              <a:t>no </a:t>
            </a:r>
            <a:r>
              <a:rPr lang="en-US" dirty="0" err="1"/>
              <a:t>botão</a:t>
            </a:r>
            <a:r>
              <a:rPr lang="en-US" dirty="0"/>
              <a:t> “</a:t>
            </a:r>
            <a:r>
              <a:rPr lang="en-US" dirty="0" err="1"/>
              <a:t>Entrar</a:t>
            </a:r>
            <a:r>
              <a:rPr lang="en-US" dirty="0"/>
              <a:t>”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Verificar</a:t>
            </a:r>
            <a:r>
              <a:rPr lang="en-US" dirty="0"/>
              <a:t> se a </a:t>
            </a:r>
            <a:r>
              <a:rPr lang="en-US" dirty="0" err="1"/>
              <a:t>edição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salva</a:t>
            </a:r>
            <a:r>
              <a:rPr lang="en-US" dirty="0"/>
              <a:t> no </a:t>
            </a:r>
            <a:r>
              <a:rPr lang="en-US" dirty="0" err="1"/>
              <a:t>banco</a:t>
            </a:r>
            <a:r>
              <a:rPr lang="en-US" dirty="0"/>
              <a:t> de </a:t>
            </a:r>
            <a:r>
              <a:rPr lang="en-US" dirty="0" smtClean="0"/>
              <a:t>dados</a:t>
            </a:r>
            <a:endParaRPr lang="en-US" dirty="0" smtClean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 smtClean="0"/>
              <a:t>Preencher</a:t>
            </a:r>
            <a:r>
              <a:rPr lang="en-US" dirty="0" smtClean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campos</a:t>
            </a:r>
            <a:r>
              <a:rPr lang="en-US" dirty="0"/>
              <a:t> do </a:t>
            </a:r>
            <a:r>
              <a:rPr lang="en-US" dirty="0" err="1" smtClean="0"/>
              <a:t>cadastro</a:t>
            </a:r>
            <a:endParaRPr lang="en-US" dirty="0" smtClean="0"/>
          </a:p>
          <a:p>
            <a:pPr marL="457200" indent="-457200">
              <a:buFont typeface="Arial" panose="020B0604020202090204"/>
              <a:buChar char="•"/>
            </a:pPr>
            <a:r>
              <a:rPr lang="pt-BR" sz="2800" dirty="0" smtClean="0"/>
              <a:t>Resultados Esperados</a:t>
            </a:r>
            <a:endParaRPr lang="pt-BR" sz="2800" dirty="0"/>
          </a:p>
          <a:p>
            <a:pPr marL="742950" lvl="1" indent="-285750">
              <a:buFont typeface="Arial" panose="020B0604020202090204"/>
              <a:buChar char="•"/>
            </a:pPr>
            <a:r>
              <a:rPr lang="en-US" dirty="0" err="1"/>
              <a:t>Descrever</a:t>
            </a:r>
            <a:r>
              <a:rPr lang="en-US" dirty="0"/>
              <a:t> o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esperado</a:t>
            </a:r>
            <a:r>
              <a:rPr lang="en-US" dirty="0"/>
              <a:t> do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após</a:t>
            </a:r>
            <a:r>
              <a:rPr lang="en-US" dirty="0"/>
              <a:t> </a:t>
            </a:r>
            <a:r>
              <a:rPr lang="en-US" dirty="0" err="1"/>
              <a:t>executar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passos</a:t>
            </a:r>
            <a:r>
              <a:rPr lang="en-US" dirty="0"/>
              <a:t> </a:t>
            </a:r>
            <a:r>
              <a:rPr lang="en-US" dirty="0" err="1"/>
              <a:t>detalhados</a:t>
            </a:r>
            <a:r>
              <a:rPr lang="en-US" dirty="0"/>
              <a:t>. </a:t>
            </a:r>
            <a:r>
              <a:rPr lang="en-US" dirty="0" err="1"/>
              <a:t>Informar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verbos</a:t>
            </a:r>
            <a:r>
              <a:rPr lang="en-US" dirty="0"/>
              <a:t> no </a:t>
            </a:r>
            <a:r>
              <a:rPr lang="en-US" dirty="0" err="1"/>
              <a:t>presente</a:t>
            </a:r>
            <a:r>
              <a:rPr lang="en-US" dirty="0"/>
              <a:t> (</a:t>
            </a:r>
            <a:r>
              <a:rPr lang="en-US" dirty="0" err="1"/>
              <a:t>valida</a:t>
            </a:r>
            <a:r>
              <a:rPr lang="en-US" dirty="0"/>
              <a:t>, </a:t>
            </a:r>
            <a:r>
              <a:rPr lang="en-US" dirty="0" err="1"/>
              <a:t>apresenta</a:t>
            </a:r>
            <a:r>
              <a:rPr lang="en-US" dirty="0"/>
              <a:t>, </a:t>
            </a:r>
            <a:r>
              <a:rPr lang="en-US" dirty="0" err="1"/>
              <a:t>recupera</a:t>
            </a:r>
            <a:r>
              <a:rPr lang="en-US" dirty="0"/>
              <a:t>, </a:t>
            </a:r>
            <a:r>
              <a:rPr lang="en-US" dirty="0" err="1"/>
              <a:t>retorna</a:t>
            </a:r>
            <a:r>
              <a:rPr lang="en-US" dirty="0" smtClean="0"/>
              <a:t>). </a:t>
            </a:r>
            <a:r>
              <a:rPr lang="en-US" dirty="0" err="1"/>
              <a:t>Exemplos</a:t>
            </a:r>
            <a:r>
              <a:rPr lang="en-US" dirty="0"/>
              <a:t>: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apresenta</a:t>
            </a:r>
            <a:r>
              <a:rPr lang="en-US" dirty="0"/>
              <a:t> a </a:t>
            </a:r>
            <a:r>
              <a:rPr lang="en-US" dirty="0" err="1"/>
              <a:t>tela</a:t>
            </a:r>
            <a:r>
              <a:rPr lang="en-US" dirty="0"/>
              <a:t> de </a:t>
            </a:r>
            <a:r>
              <a:rPr lang="en-US" dirty="0" err="1"/>
              <a:t>edição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campos</a:t>
            </a:r>
            <a:r>
              <a:rPr lang="en-US" dirty="0"/>
              <a:t> </a:t>
            </a:r>
            <a:r>
              <a:rPr lang="en-US" dirty="0" err="1"/>
              <a:t>preenchidos</a:t>
            </a:r>
            <a:r>
              <a:rPr lang="en-US" dirty="0"/>
              <a:t>.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/>
              <a:t>A </a:t>
            </a:r>
            <a:r>
              <a:rPr lang="en-US" dirty="0" err="1"/>
              <a:t>ordem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enviada</a:t>
            </a:r>
            <a:r>
              <a:rPr lang="en-US" dirty="0"/>
              <a:t> e </a:t>
            </a:r>
            <a:r>
              <a:rPr lang="en-US" dirty="0" err="1"/>
              <a:t>executada</a:t>
            </a:r>
            <a:r>
              <a:rPr lang="en-US" dirty="0"/>
              <a:t> com o </a:t>
            </a:r>
            <a:r>
              <a:rPr lang="en-US" dirty="0" err="1"/>
              <a:t>preço</a:t>
            </a:r>
            <a:r>
              <a:rPr lang="en-US" dirty="0"/>
              <a:t> </a:t>
            </a:r>
            <a:r>
              <a:rPr lang="en-US" dirty="0" err="1"/>
              <a:t>informado</a:t>
            </a:r>
            <a:r>
              <a:rPr lang="en-US" dirty="0"/>
              <a:t>.</a:t>
            </a:r>
            <a:endParaRPr lang="en-US" dirty="0"/>
          </a:p>
          <a:p>
            <a:pPr marL="1200150" lvl="2" indent="-285750">
              <a:buFont typeface="Arial" panose="020B0604020202090204"/>
              <a:buChar char="•"/>
            </a:pPr>
            <a:r>
              <a:rPr lang="en-US" dirty="0"/>
              <a:t>O </a:t>
            </a:r>
            <a:r>
              <a:rPr lang="en-US" dirty="0" err="1"/>
              <a:t>cadastro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salvo no </a:t>
            </a:r>
            <a:r>
              <a:rPr lang="en-US" dirty="0" err="1"/>
              <a:t>banco</a:t>
            </a:r>
            <a:r>
              <a:rPr lang="en-US" dirty="0"/>
              <a:t> de dados.</a:t>
            </a:r>
            <a:endParaRPr lang="en-US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505544" y="-90264"/>
            <a:ext cx="716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0000"/>
              </a:lnSpc>
            </a:pPr>
            <a:r>
              <a:rPr lang="pt-BR" sz="3000" b="1" dirty="0" smtClean="0">
                <a:solidFill>
                  <a:schemeClr val="tx2"/>
                </a:solidFill>
              </a:rPr>
              <a:t>Especificação de Caso de Teste</a:t>
            </a:r>
            <a:endParaRPr lang="pt-BR" sz="30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116632"/>
            <a:ext cx="5829312" cy="571504"/>
          </a:xfrm>
        </p:spPr>
        <p:txBody>
          <a:bodyPr/>
          <a:lstStyle/>
          <a:p>
            <a:r>
              <a:rPr lang="pt-BR" sz="3000" dirty="0" smtClean="0"/>
              <a:t>Especificação de Caso de Teste - Exemplo</a:t>
            </a:r>
            <a:endParaRPr lang="pt-BR" sz="3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" y="1340768"/>
            <a:ext cx="8089900" cy="5263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7742</Words>
  <Application>WPS Spreadsheets</Application>
  <PresentationFormat>On-screen Show (4:3)</PresentationFormat>
  <Paragraphs>283</Paragraphs>
  <Slides>28</Slides>
  <Notes>0</Notes>
  <HiddenSlides>5</HiddenSlides>
  <MMClips>1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SimSun</vt:lpstr>
      <vt:lpstr>Wingdings</vt:lpstr>
      <vt:lpstr>MS PGothic</vt:lpstr>
      <vt:lpstr>Hiragino Maru Gothic ProN</vt:lpstr>
      <vt:lpstr>Calibri</vt:lpstr>
      <vt:lpstr>Helvetica Neue</vt:lpstr>
      <vt:lpstr>Arial Black</vt:lpstr>
      <vt:lpstr>Arial</vt:lpstr>
      <vt:lpstr>Monotype Sorts</vt:lpstr>
      <vt:lpstr>Helvetica</vt:lpstr>
      <vt:lpstr>MS PGothic</vt:lpstr>
      <vt:lpstr/>
      <vt:lpstr>Wingdings</vt:lpstr>
      <vt:lpstr>微软雅黑</vt:lpstr>
      <vt:lpstr>汉仪旗黑</vt:lpstr>
      <vt:lpstr>Arial Unicode MS</vt:lpstr>
      <vt:lpstr>宋体-简</vt:lpstr>
      <vt:lpstr>Tema do Office</vt:lpstr>
      <vt:lpstr>MS_ClipArt_Gallery.2</vt:lpstr>
      <vt:lpstr>Teste de Software</vt:lpstr>
      <vt:lpstr>PowerPoint 演示文稿</vt:lpstr>
      <vt:lpstr>O que o Teste de Software mostra?</vt:lpstr>
      <vt:lpstr>PowerPoint 演示文稿</vt:lpstr>
      <vt:lpstr>PowerPoint 演示文稿</vt:lpstr>
      <vt:lpstr>PowerPoint 演示文稿</vt:lpstr>
      <vt:lpstr>Abordagem Estratégica</vt:lpstr>
      <vt:lpstr>Quem testa o software?</vt:lpstr>
      <vt:lpstr>Estratégia de Teste</vt:lpstr>
      <vt:lpstr>Estratégia de Teste</vt:lpstr>
      <vt:lpstr>Etapas de Teste de Software</vt:lpstr>
      <vt:lpstr>Testes Unitários</vt:lpstr>
      <vt:lpstr>Testes Unitários</vt:lpstr>
      <vt:lpstr>Testes de Integração</vt:lpstr>
      <vt:lpstr>Estratégias para Testes de Integração</vt:lpstr>
      <vt:lpstr>Teste de integração descendente (top down)</vt:lpstr>
      <vt:lpstr>PowerPoint 演示文稿</vt:lpstr>
      <vt:lpstr>Testes de Regressão</vt:lpstr>
      <vt:lpstr>Testes de Regressão</vt:lpstr>
      <vt:lpstr>Testes de Validação</vt:lpstr>
      <vt:lpstr>Testes de Validação</vt:lpstr>
      <vt:lpstr>Depuração</vt:lpstr>
      <vt:lpstr>PowerPoint 演示文稿</vt:lpstr>
      <vt:lpstr>Atividades do Processo de Teste</vt:lpstr>
      <vt:lpstr>PowerPoint 演示文稿</vt:lpstr>
      <vt:lpstr>PowerPoint 演示文稿</vt:lpstr>
      <vt:lpstr>PowerPoint 演示文稿</vt:lpstr>
      <vt:lpstr>Especificação de Caso de Teste - Exemplo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sandrobezerra</cp:lastModifiedBy>
  <cp:revision>72</cp:revision>
  <dcterms:created xsi:type="dcterms:W3CDTF">2024-10-08T18:31:44Z</dcterms:created>
  <dcterms:modified xsi:type="dcterms:W3CDTF">2024-10-08T18:31:44Z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</Properties>
</file>