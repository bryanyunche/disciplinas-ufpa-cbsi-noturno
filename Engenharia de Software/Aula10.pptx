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815" r:id="rId4"/>
    <p:sldId id="816" r:id="rId5"/>
    <p:sldId id="791" r:id="rId6"/>
    <p:sldId id="792" r:id="rId7"/>
    <p:sldId id="793" r:id="rId8"/>
    <p:sldId id="794" r:id="rId9"/>
    <p:sldId id="795" r:id="rId10"/>
    <p:sldId id="796" r:id="rId11"/>
    <p:sldId id="797" r:id="rId12"/>
    <p:sldId id="798" r:id="rId13"/>
    <p:sldId id="799" r:id="rId14"/>
    <p:sldId id="800" r:id="rId15"/>
    <p:sldId id="801" r:id="rId16"/>
    <p:sldId id="802" r:id="rId17"/>
    <p:sldId id="803" r:id="rId18"/>
    <p:sldId id="804" r:id="rId19"/>
    <p:sldId id="805" r:id="rId20"/>
    <p:sldId id="806" r:id="rId21"/>
    <p:sldId id="807" r:id="rId22"/>
    <p:sldId id="808" r:id="rId23"/>
    <p:sldId id="809" r:id="rId24"/>
    <p:sldId id="810" r:id="rId25"/>
    <p:sldId id="811" r:id="rId26"/>
    <p:sldId id="812" r:id="rId27"/>
    <p:sldId id="813" r:id="rId28"/>
    <p:sldId id="817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80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5F812191-D2D6-5E4C-BFAC-5CA147E93987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  <a:endParaRPr lang="x-none" noProof="0" smtClean="0"/>
          </a:p>
          <a:p>
            <a:pPr lvl="1"/>
            <a:r>
              <a:rPr lang="x-none" noProof="0" smtClean="0"/>
              <a:t>Second level</a:t>
            </a:r>
            <a:endParaRPr lang="x-none" noProof="0" smtClean="0"/>
          </a:p>
          <a:p>
            <a:pPr lvl="2"/>
            <a:r>
              <a:rPr lang="x-none" noProof="0" smtClean="0"/>
              <a:t>Third level</a:t>
            </a:r>
            <a:endParaRPr lang="x-none" noProof="0" smtClean="0"/>
          </a:p>
          <a:p>
            <a:pPr lvl="3"/>
            <a:r>
              <a:rPr lang="x-none" noProof="0" smtClean="0"/>
              <a:t>Fourth level</a:t>
            </a:r>
            <a:endParaRPr lang="x-none" noProof="0" smtClean="0"/>
          </a:p>
          <a:p>
            <a:pPr lvl="4"/>
            <a:r>
              <a:rPr lang="x-none" noProof="0" smtClean="0"/>
              <a:t>Fifth level</a:t>
            </a:r>
            <a:endParaRPr lang="en-US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AA4B525C-3B95-7E4F-82DD-CA7653D3C49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MS PGothic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428760"/>
            <a:ext cx="4750606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clear"/>
        </p:spPr>
      </p:pic>
      <p:sp>
        <p:nvSpPr>
          <p:cNvPr id="5" name="Retângulo 7"/>
          <p:cNvSpPr/>
          <p:nvPr userDrawn="1"/>
        </p:nvSpPr>
        <p:spPr>
          <a:xfrm>
            <a:off x="142875" y="142875"/>
            <a:ext cx="8858250" cy="6572250"/>
          </a:xfrm>
          <a:prstGeom prst="rect">
            <a:avLst/>
          </a:prstGeom>
          <a:noFill/>
          <a:ln w="635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Conector reto 8"/>
          <p:cNvCxnSpPr/>
          <p:nvPr userDrawn="1"/>
        </p:nvCxnSpPr>
        <p:spPr>
          <a:xfrm>
            <a:off x="500063" y="857250"/>
            <a:ext cx="5857875" cy="1588"/>
          </a:xfrm>
          <a:prstGeom prst="line">
            <a:avLst/>
          </a:prstGeom>
          <a:ln w="31750"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5" y="488950"/>
            <a:ext cx="2400300" cy="7254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Conector reto 10"/>
          <p:cNvCxnSpPr/>
          <p:nvPr userDrawn="1"/>
        </p:nvCxnSpPr>
        <p:spPr>
          <a:xfrm>
            <a:off x="500063" y="5999163"/>
            <a:ext cx="8143875" cy="1587"/>
          </a:xfrm>
          <a:prstGeom prst="line">
            <a:avLst/>
          </a:prstGeom>
          <a:ln w="31750"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11"/>
          <p:cNvSpPr txBox="1">
            <a:spLocks noChangeArrowheads="1"/>
          </p:cNvSpPr>
          <p:nvPr userDrawn="1"/>
        </p:nvSpPr>
        <p:spPr bwMode="auto">
          <a:xfrm>
            <a:off x="6643688" y="6215063"/>
            <a:ext cx="2087562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pt-BR" sz="1400" smtClean="0">
                <a:solidFill>
                  <a:srgbClr val="385D8A"/>
                </a:solidFill>
                <a:latin typeface="Arial Black" panose="020B0A04020102020204" charset="0"/>
              </a:rPr>
              <a:t>www.ufpa.br/spider</a:t>
            </a:r>
            <a:endParaRPr lang="en-US" sz="1400" smtClean="0">
              <a:solidFill>
                <a:srgbClr val="385D8A"/>
              </a:solidFill>
              <a:latin typeface="Arial Black" panose="020B0A0402010202020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6034088"/>
            <a:ext cx="5953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ixaDeTexto 13"/>
          <p:cNvSpPr txBox="1"/>
          <p:nvPr userDrawn="1"/>
        </p:nvSpPr>
        <p:spPr>
          <a:xfrm>
            <a:off x="1019175" y="6143625"/>
            <a:ext cx="1827213" cy="43021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1" hangingPunct="1">
              <a:defRPr/>
            </a:pPr>
            <a:r>
              <a:rPr lang="pt-BR" sz="1100" smtClean="0">
                <a:solidFill>
                  <a:srgbClr val="385D8A"/>
                </a:solidFill>
                <a:latin typeface="Arial Black" panose="020B0A04020102020204" charset="0"/>
              </a:rPr>
              <a:t>UNIVERSIDADE FEDERAL</a:t>
            </a:r>
            <a:endParaRPr lang="pt-BR" sz="1100" smtClean="0">
              <a:solidFill>
                <a:srgbClr val="385D8A"/>
              </a:solidFill>
              <a:latin typeface="Arial Black" panose="020B0A04020102020204" charset="0"/>
            </a:endParaRPr>
          </a:p>
          <a:p>
            <a:pPr eaLnBrk="1" hangingPunct="1">
              <a:defRPr/>
            </a:pPr>
            <a:r>
              <a:rPr lang="pt-BR" sz="1100" smtClean="0">
                <a:solidFill>
                  <a:srgbClr val="385D8A"/>
                </a:solidFill>
                <a:latin typeface="Arial Black" panose="020B0A04020102020204" charset="0"/>
              </a:rPr>
              <a:t>DO PARÁ</a:t>
            </a:r>
            <a:endParaRPr lang="en-US" sz="1100" smtClean="0">
              <a:solidFill>
                <a:srgbClr val="385D8A"/>
              </a:solidFill>
              <a:latin typeface="Arial Black" panose="020B0A04020102020204" charset="0"/>
            </a:endParaRPr>
          </a:p>
        </p:txBody>
      </p:sp>
      <p:sp>
        <p:nvSpPr>
          <p:cNvPr id="17" name="Título 1"/>
          <p:cNvSpPr>
            <a:spLocks noGrp="1"/>
          </p:cNvSpPr>
          <p:nvPr>
            <p:ph type="ctrTitle" hasCustomPrompt="1"/>
          </p:nvPr>
        </p:nvSpPr>
        <p:spPr>
          <a:xfrm>
            <a:off x="685800" y="1601785"/>
            <a:ext cx="7772400" cy="1470025"/>
          </a:xfrm>
        </p:spPr>
        <p:txBody>
          <a:bodyPr>
            <a:normAutofit/>
          </a:bodyPr>
          <a:lstStyle>
            <a:lvl1pPr>
              <a:defRPr sz="3200">
                <a:latin typeface="Arial Black" panose="020B0A04020102020204" charset="0"/>
                <a:cs typeface="Arial" panose="020B0604020202090204" pitchFamily="34" charset="0"/>
              </a:defRPr>
            </a:lvl1pPr>
          </a:lstStyle>
          <a:p>
            <a:r>
              <a:rPr lang="pt-BR" dirty="0" smtClean="0"/>
              <a:t>Clique para editar o estilo do título mestre</a:t>
            </a:r>
            <a:endParaRPr lang="en-US" dirty="0"/>
          </a:p>
        </p:txBody>
      </p:sp>
      <p:sp>
        <p:nvSpPr>
          <p:cNvPr id="18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57187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428760"/>
            <a:ext cx="4750606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prstMaterial="clear"/>
        </p:spPr>
      </p:pic>
      <p:cxnSp>
        <p:nvCxnSpPr>
          <p:cNvPr id="5" name="Conector reto 7"/>
          <p:cNvCxnSpPr/>
          <p:nvPr userDrawn="1"/>
        </p:nvCxnSpPr>
        <p:spPr>
          <a:xfrm>
            <a:off x="500063" y="868363"/>
            <a:ext cx="5857875" cy="1587"/>
          </a:xfrm>
          <a:prstGeom prst="line">
            <a:avLst/>
          </a:prstGeom>
          <a:ln w="31750"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5" y="488950"/>
            <a:ext cx="2400300" cy="7254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to 9"/>
          <p:cNvCxnSpPr/>
          <p:nvPr userDrawn="1"/>
        </p:nvCxnSpPr>
        <p:spPr>
          <a:xfrm>
            <a:off x="500063" y="5999163"/>
            <a:ext cx="8143875" cy="1587"/>
          </a:xfrm>
          <a:prstGeom prst="line">
            <a:avLst/>
          </a:prstGeom>
          <a:ln w="31750"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10"/>
          <p:cNvSpPr txBox="1">
            <a:spLocks noChangeArrowheads="1"/>
          </p:cNvSpPr>
          <p:nvPr userDrawn="1"/>
        </p:nvSpPr>
        <p:spPr bwMode="auto">
          <a:xfrm>
            <a:off x="6643688" y="6215063"/>
            <a:ext cx="2087562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pt-BR" sz="1400" smtClean="0">
                <a:solidFill>
                  <a:srgbClr val="385D8A"/>
                </a:solidFill>
                <a:latin typeface="Arial Black" panose="020B0A04020102020204" charset="0"/>
              </a:rPr>
              <a:t>www.ufpa.br/spider</a:t>
            </a:r>
            <a:endParaRPr lang="en-US" sz="1400" smtClean="0">
              <a:solidFill>
                <a:srgbClr val="385D8A"/>
              </a:solidFill>
              <a:latin typeface="Arial Black" panose="020B0A04020102020204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6034088"/>
            <a:ext cx="595312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12"/>
          <p:cNvSpPr txBox="1"/>
          <p:nvPr userDrawn="1"/>
        </p:nvSpPr>
        <p:spPr>
          <a:xfrm>
            <a:off x="1019175" y="6143625"/>
            <a:ext cx="1827213" cy="43021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1" hangingPunct="1">
              <a:defRPr/>
            </a:pPr>
            <a:r>
              <a:rPr lang="pt-BR" sz="1100" smtClean="0">
                <a:solidFill>
                  <a:srgbClr val="385D8A"/>
                </a:solidFill>
                <a:latin typeface="Arial Black" panose="020B0A04020102020204" charset="0"/>
              </a:rPr>
              <a:t>UNIVERSIDADE FEDERAL</a:t>
            </a:r>
            <a:endParaRPr lang="pt-BR" sz="1100" smtClean="0">
              <a:solidFill>
                <a:srgbClr val="385D8A"/>
              </a:solidFill>
              <a:latin typeface="Arial Black" panose="020B0A04020102020204" charset="0"/>
            </a:endParaRPr>
          </a:p>
          <a:p>
            <a:pPr eaLnBrk="1" hangingPunct="1">
              <a:defRPr/>
            </a:pPr>
            <a:r>
              <a:rPr lang="pt-BR" sz="1100" smtClean="0">
                <a:solidFill>
                  <a:srgbClr val="385D8A"/>
                </a:solidFill>
                <a:latin typeface="Arial Black" panose="020B0A04020102020204" charset="0"/>
              </a:rPr>
              <a:t>DO PARÁ</a:t>
            </a:r>
            <a:endParaRPr lang="en-US" sz="1100" smtClean="0">
              <a:solidFill>
                <a:srgbClr val="385D8A"/>
              </a:solidFill>
              <a:latin typeface="Arial Black" panose="020B0A04020102020204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5829312" cy="571504"/>
          </a:xfrm>
        </p:spPr>
        <p:txBody>
          <a:bodyPr>
            <a:noAutofit/>
          </a:bodyPr>
          <a:lstStyle>
            <a:lvl1pPr algn="l">
              <a:defRPr sz="3600"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pt-BR" dirty="0" smtClean="0"/>
              <a:t>Clique para editar o estilo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57200" y="1285860"/>
            <a:ext cx="8229600" cy="4525963"/>
          </a:xfrm>
        </p:spPr>
        <p:txBody>
          <a:bodyPr/>
          <a:lstStyle>
            <a:lvl1pPr>
              <a:defRPr>
                <a:latin typeface="Arial" panose="020B0604020202090204" pitchFamily="34" charset="0"/>
                <a:cs typeface="Arial" panose="020B0604020202090204" pitchFamily="34" charset="0"/>
              </a:defRPr>
            </a:lvl1pPr>
            <a:lvl2pPr>
              <a:defRPr>
                <a:latin typeface="Arial" panose="020B0604020202090204" pitchFamily="34" charset="0"/>
                <a:cs typeface="Arial" panose="020B0604020202090204" pitchFamily="34" charset="0"/>
              </a:defRPr>
            </a:lvl2pPr>
            <a:lvl3pPr>
              <a:defRPr>
                <a:latin typeface="Arial" panose="020B0604020202090204" pitchFamily="34" charset="0"/>
                <a:cs typeface="Arial" panose="020B0604020202090204" pitchFamily="34" charset="0"/>
              </a:defRPr>
            </a:lvl3pPr>
            <a:lvl4pPr>
              <a:defRPr>
                <a:latin typeface="Arial" panose="020B0604020202090204" pitchFamily="34" charset="0"/>
                <a:cs typeface="Arial" panose="020B0604020202090204" pitchFamily="34" charset="0"/>
              </a:defRPr>
            </a:lvl4pPr>
            <a:lvl5pPr>
              <a:defRPr>
                <a:latin typeface="Arial" panose="020B0604020202090204" pitchFamily="34" charset="0"/>
                <a:cs typeface="Arial" panose="020B0604020202090204" pitchFamily="34" charset="0"/>
              </a:defRPr>
            </a:lvl5pPr>
          </a:lstStyle>
          <a:p>
            <a:pPr lvl="0"/>
            <a:r>
              <a:rPr lang="pt-BR" dirty="0" smtClean="0"/>
              <a:t>Clique para editar os estilos do texto mestre</a:t>
            </a:r>
            <a:endParaRPr lang="pt-BR" dirty="0" smtClean="0"/>
          </a:p>
          <a:p>
            <a:pPr lvl="1"/>
            <a:r>
              <a:rPr lang="pt-BR" dirty="0" smtClean="0"/>
              <a:t>Segundo nível</a:t>
            </a:r>
            <a:endParaRPr lang="pt-BR" dirty="0" smtClean="0"/>
          </a:p>
          <a:p>
            <a:pPr lvl="2"/>
            <a:r>
              <a:rPr lang="pt-BR" dirty="0" smtClean="0"/>
              <a:t>Terceiro nível</a:t>
            </a:r>
            <a:endParaRPr lang="pt-BR" dirty="0" smtClean="0"/>
          </a:p>
          <a:p>
            <a:pPr lvl="3"/>
            <a:r>
              <a:rPr lang="pt-BR" dirty="0" smtClean="0"/>
              <a:t>Quarto nível</a:t>
            </a:r>
            <a:endParaRPr lang="pt-BR" dirty="0" smtClean="0"/>
          </a:p>
          <a:p>
            <a:pPr lvl="4"/>
            <a:r>
              <a:rPr lang="pt-BR" dirty="0" smtClean="0"/>
              <a:t>Quinto nível</a:t>
            </a:r>
            <a:endParaRPr lang="en-US" dirty="0"/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0"/>
          </p:nvPr>
        </p:nvSpPr>
        <p:spPr>
          <a:xfrm>
            <a:off x="3652838" y="6215063"/>
            <a:ext cx="2133600" cy="365125"/>
          </a:xfrm>
        </p:spPr>
        <p:txBody>
          <a:bodyPr/>
          <a:lstStyle>
            <a:lvl1pPr algn="ctr">
              <a:defRPr>
                <a:solidFill>
                  <a:srgbClr val="385D8A"/>
                </a:solidFill>
                <a:latin typeface="Arial Black" panose="020B0A04020102020204" charset="0"/>
              </a:defRPr>
            </a:lvl1pPr>
          </a:lstStyle>
          <a:p>
            <a:pPr>
              <a:defRPr/>
            </a:pPr>
            <a:fld id="{ADA9CB55-12EC-B146-92D0-8926A5BF7A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5E79B-722B-E04D-85EE-A808727E1DD2}" type="datetimeFigureOut">
              <a:rPr lang="en-US"/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FDD8F-94B2-CD4A-AFE6-FA4667CDDF3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7CD80-8BE8-E74B-9A09-ACFC0F013F3A}" type="datetimeFigureOut">
              <a:rPr lang="en-US"/>
            </a:fld>
            <a:endParaRPr 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8ADC6-BCD8-8A4A-8AA3-973B57938F1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8E06A-B38A-3544-B89B-CE4CD7570496}" type="datetimeFigureOut">
              <a:rPr lang="en-US"/>
            </a:fld>
            <a:endParaRPr lang="en-US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4FAE1-0665-0147-B19F-CE751B98832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F9BC5-9385-5642-A779-67C3B5C36651}" type="datetimeFigureOut">
              <a:rPr lang="en-US"/>
            </a:fld>
            <a:endParaRPr lang="en-US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A8FC5-7632-E040-8BC9-81CD86AB11F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65A22-FA2B-C54F-9F28-EFD92A0ED32B}" type="datetimeFigureOut">
              <a:rPr lang="en-US"/>
            </a:fld>
            <a:endParaRPr lang="en-US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FB00C-7226-F84D-A2DC-DA6E520B3A8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5746B-7649-6944-BF94-0F2F9E1E73D1}" type="datetimeFigureOut">
              <a:rPr lang="en-US"/>
            </a:fld>
            <a:endParaRPr 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E5F73-B2E5-3846-B85C-4CBBA08423C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2F996E-E6FB-0543-8778-B314B368160E}" type="datetimeFigureOut">
              <a:rPr lang="en-US"/>
            </a:fld>
            <a:endParaRPr 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6DDBB-CAE6-1A41-8D40-5C688B8F212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C4C7B-B2B9-F541-A10B-ED06EB2ECD59}" type="datetimeFigureOut">
              <a:rPr lang="en-US"/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9B7AA2-F8F1-FC4B-8A49-7A348320B41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E8249-6A06-0140-AD5A-FFA9CCC7BBA5}" type="datetimeFigureOut">
              <a:rPr lang="en-US"/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8CB9B-ADA1-4A47-B752-179B6DBE424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pt-BR"/>
              <a:t>Clique para editar os estilos do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Calibri" charset="0"/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E491F02E-1E85-674E-B269-08B53C233DB9}" type="datetimeFigureOut">
              <a:rPr lang="en-US"/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charset="0"/>
                <a:cs typeface="Arial" panose="020B0604020202090204" pitchFamily="34" charset="0"/>
              </a:defRPr>
            </a:lvl1pPr>
          </a:lstStyle>
          <a:p>
            <a:pPr>
              <a:defRPr/>
            </a:pPr>
            <a:fld id="{016ED3BC-7B2C-E948-94BA-6C03A824853B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charset="0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charset="0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charset="0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charset="0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charset="0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ítulo 1"/>
          <p:cNvSpPr>
            <a:spLocks noGrp="1"/>
          </p:cNvSpPr>
          <p:nvPr>
            <p:ph type="ctrTitle"/>
          </p:nvPr>
        </p:nvSpPr>
        <p:spPr>
          <a:xfrm>
            <a:off x="685800" y="1887538"/>
            <a:ext cx="7772400" cy="1470025"/>
          </a:xfrm>
        </p:spPr>
        <p:txBody>
          <a:bodyPr/>
          <a:lstStyle/>
          <a:p>
            <a:pPr eaLnBrk="1" hangingPunct="1"/>
            <a:r>
              <a:rPr lang="en-US" b="1" dirty="0" err="1" smtClean="0">
                <a:latin typeface="Calibri" charset="0"/>
                <a:cs typeface="Arial" panose="020B0604020202090204" pitchFamily="34" charset="0"/>
              </a:rPr>
              <a:t>Manutenção</a:t>
            </a:r>
            <a:r>
              <a:rPr lang="en-US" b="1" dirty="0" smtClean="0">
                <a:latin typeface="Calibri" charset="0"/>
                <a:cs typeface="Arial" panose="020B0604020202090204" pitchFamily="34" charset="0"/>
              </a:rPr>
              <a:t> de Software</a:t>
            </a:r>
            <a:endParaRPr lang="en-US" b="1" dirty="0">
              <a:latin typeface="Calibri" charset="0"/>
              <a:cs typeface="Arial" panose="020B0604020202090204" pitchFamily="34" charset="0"/>
            </a:endParaRPr>
          </a:p>
        </p:txBody>
      </p:sp>
      <p:sp>
        <p:nvSpPr>
          <p:cNvPr id="4099" name="Subtítulo 2"/>
          <p:cNvSpPr>
            <a:spLocks noGrp="1"/>
          </p:cNvSpPr>
          <p:nvPr>
            <p:ph type="subTitle" idx="4294967295"/>
          </p:nvPr>
        </p:nvSpPr>
        <p:spPr>
          <a:xfrm>
            <a:off x="1371600" y="3643313"/>
            <a:ext cx="6400800" cy="1752600"/>
          </a:xfrm>
        </p:spPr>
        <p:txBody>
          <a:bodyPr/>
          <a:lstStyle/>
          <a:p>
            <a:pPr algn="ctr" eaLnBrk="1" hangingPunct="1">
              <a:buFont typeface="Arial" panose="020B0604020202090204" pitchFamily="34" charset="0"/>
              <a:buNone/>
              <a:defRPr/>
            </a:pPr>
            <a:r>
              <a:rPr lang="en-US" dirty="0" smtClean="0">
                <a:latin typeface="+mj-lt"/>
                <a:ea typeface="+mn-ea"/>
                <a:cs typeface="+mn-cs"/>
              </a:rPr>
              <a:t>Prof. Dr. Sandro Bezerra</a:t>
            </a:r>
            <a:endParaRPr lang="en-US" dirty="0" smtClean="0">
              <a:latin typeface="+mj-lt"/>
              <a:ea typeface="+mn-ea"/>
              <a:cs typeface="+mn-cs"/>
            </a:endParaRPr>
          </a:p>
          <a:p>
            <a:pPr algn="ctr" eaLnBrk="1" hangingPunct="1">
              <a:buFont typeface="Arial" panose="020B0604020202090204" pitchFamily="34" charset="0"/>
              <a:buNone/>
              <a:defRPr/>
            </a:pPr>
            <a:r>
              <a:rPr lang="en-US" sz="2400" dirty="0" err="1" smtClean="0">
                <a:latin typeface="+mj-lt"/>
                <a:ea typeface="+mn-ea"/>
                <a:cs typeface="+mn-cs"/>
              </a:rPr>
              <a:t>srbo@ufpa.br</a:t>
            </a:r>
            <a:endParaRPr lang="en-US" sz="2400" dirty="0" smtClean="0">
              <a:latin typeface="+mj-lt"/>
              <a:ea typeface="+mn-ea"/>
              <a:cs typeface="+mn-cs"/>
            </a:endParaRPr>
          </a:p>
          <a:p>
            <a:pPr algn="ctr" eaLnBrk="1" hangingPunct="1">
              <a:buFont typeface="Arial" panose="020B0604020202090204" pitchFamily="34" charset="0"/>
              <a:buNone/>
              <a:defRPr/>
            </a:pPr>
            <a:endParaRPr lang="en-US" sz="2400" dirty="0" smtClean="0">
              <a:latin typeface="+mj-lt"/>
              <a:ea typeface="+mn-ea"/>
              <a:cs typeface="+mn-cs"/>
            </a:endParaRPr>
          </a:p>
          <a:p>
            <a:pPr algn="ctr" eaLnBrk="1" hangingPunct="1">
              <a:buFont typeface="Arial" panose="020B0604020202090204" pitchFamily="34" charset="0"/>
              <a:buNone/>
              <a:defRPr/>
            </a:pPr>
            <a:r>
              <a:rPr lang="en-US" sz="2400" dirty="0" smtClean="0">
                <a:latin typeface="+mj-lt"/>
                <a:ea typeface="+mn-ea"/>
                <a:cs typeface="+mn-cs"/>
              </a:rPr>
              <a:t>202</a:t>
            </a:r>
            <a:r>
              <a:rPr lang="pt-BR" altLang="en-US" sz="2400" dirty="0" smtClean="0">
                <a:latin typeface="+mj-lt"/>
                <a:ea typeface="+mn-ea"/>
                <a:cs typeface="+mn-cs"/>
              </a:rPr>
              <a:t>4</a:t>
            </a:r>
            <a:endParaRPr lang="pt-BR" altLang="en-US" sz="2400" dirty="0" smtClean="0">
              <a:latin typeface="+mj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err="1" smtClean="0">
                <a:latin typeface="Garamond" charset="0"/>
                <a:cs typeface="+mj-cs"/>
              </a:rPr>
              <a:t>Conceito</a:t>
            </a:r>
            <a:endParaRPr lang="en-US" b="1" dirty="0">
              <a:latin typeface="Garamond" charset="0"/>
              <a:cs typeface="+mj-cs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/>
              <a:t>Processo</a:t>
            </a:r>
            <a:r>
              <a:rPr lang="en-US" dirty="0" smtClean="0"/>
              <a:t> </a:t>
            </a:r>
            <a:r>
              <a:rPr lang="en-US" dirty="0" err="1"/>
              <a:t>geral</a:t>
            </a:r>
            <a:r>
              <a:rPr lang="en-US" dirty="0"/>
              <a:t> de </a:t>
            </a:r>
            <a:r>
              <a:rPr lang="en-US" dirty="0" err="1"/>
              <a:t>mudanças</a:t>
            </a:r>
            <a:r>
              <a:rPr lang="en-US" dirty="0"/>
              <a:t>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 smtClean="0"/>
              <a:t>entregue</a:t>
            </a:r>
            <a:endParaRPr lang="pt-BR" sz="2800" i="1" dirty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Font typeface="Wingdings" panose="05000000000000000000" charset="0"/>
              <a:buNone/>
              <a:defRPr/>
            </a:pPr>
            <a:endParaRPr lang="pt-BR" sz="2800" i="1" dirty="0">
              <a:solidFill>
                <a:schemeClr val="accent2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Font typeface="Wingdings" panose="05000000000000000000" charset="0"/>
              <a:buNone/>
              <a:defRPr/>
            </a:pPr>
            <a:endParaRPr lang="en-US" sz="2800" i="1" dirty="0"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err="1" smtClean="0">
                <a:latin typeface="Garamond" charset="0"/>
                <a:cs typeface="+mj-cs"/>
              </a:rPr>
              <a:t>Ciclo</a:t>
            </a:r>
            <a:r>
              <a:rPr lang="en-US" b="1" dirty="0" smtClean="0">
                <a:latin typeface="Garamond" charset="0"/>
                <a:cs typeface="+mj-cs"/>
              </a:rPr>
              <a:t> de Vida de Software</a:t>
            </a:r>
            <a:endParaRPr lang="en-US" b="1" dirty="0">
              <a:latin typeface="Garamond" charset="0"/>
              <a:cs typeface="+mj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8153400" cy="404812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200" dirty="0">
                <a:latin typeface="Arial" panose="020B0604020202090204" pitchFamily="34" charset="0"/>
                <a:cs typeface="+mj-cs"/>
              </a:rPr>
              <a:t>Sinônimos de Manutenção</a:t>
            </a:r>
            <a:endParaRPr lang="pt-BR" sz="3200" dirty="0">
              <a:latin typeface="Arial" panose="020B0604020202090204" pitchFamily="34" charset="0"/>
              <a:cs typeface="+mj-cs"/>
            </a:endParaRP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65026"/>
            <a:ext cx="4043362" cy="4525962"/>
          </a:xfrm>
        </p:spPr>
        <p:txBody>
          <a:bodyPr/>
          <a:lstStyle/>
          <a:p>
            <a:pPr algn="l"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latin typeface="Arial" panose="020B0604020202090204" pitchFamily="34" charset="0"/>
                <a:cs typeface="+mn-cs"/>
              </a:rPr>
              <a:t>Modificação;</a:t>
            </a:r>
            <a:endParaRPr lang="pt-BR" sz="2800" dirty="0">
              <a:latin typeface="Arial" panose="020B0604020202090204" pitchFamily="34" charset="0"/>
              <a:cs typeface="+mn-cs"/>
            </a:endParaRPr>
          </a:p>
          <a:p>
            <a:pPr algn="l"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latin typeface="Arial" panose="020B0604020202090204" pitchFamily="34" charset="0"/>
                <a:cs typeface="+mn-cs"/>
              </a:rPr>
              <a:t>Acréscimos;</a:t>
            </a:r>
            <a:endParaRPr lang="pt-BR" sz="2800" dirty="0">
              <a:latin typeface="Arial" panose="020B0604020202090204" pitchFamily="34" charset="0"/>
              <a:cs typeface="+mn-cs"/>
            </a:endParaRPr>
          </a:p>
          <a:p>
            <a:pPr algn="l"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latin typeface="Arial" panose="020B0604020202090204" pitchFamily="34" charset="0"/>
                <a:cs typeface="+mn-cs"/>
              </a:rPr>
              <a:t>Refinamentos;</a:t>
            </a:r>
            <a:endParaRPr lang="pt-BR" sz="2800" dirty="0">
              <a:latin typeface="Arial" panose="020B0604020202090204" pitchFamily="34" charset="0"/>
              <a:cs typeface="+mn-cs"/>
            </a:endParaRPr>
          </a:p>
          <a:p>
            <a:pPr algn="l"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latin typeface="Arial" panose="020B0604020202090204" pitchFamily="34" charset="0"/>
                <a:cs typeface="+mn-cs"/>
              </a:rPr>
              <a:t>Remoção de defeitos;</a:t>
            </a:r>
            <a:endParaRPr lang="pt-BR" sz="2800" dirty="0">
              <a:latin typeface="Arial" panose="020B0604020202090204" pitchFamily="34" charset="0"/>
              <a:cs typeface="+mn-cs"/>
            </a:endParaRPr>
          </a:p>
          <a:p>
            <a:pPr algn="l"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latin typeface="Arial" panose="020B0604020202090204" pitchFamily="34" charset="0"/>
                <a:cs typeface="+mn-cs"/>
              </a:rPr>
              <a:t>Adições no sistema;</a:t>
            </a:r>
            <a:endParaRPr lang="pt-BR" sz="2800" dirty="0">
              <a:latin typeface="Arial" panose="020B0604020202090204" pitchFamily="34" charset="0"/>
              <a:cs typeface="+mn-cs"/>
            </a:endParaRPr>
          </a:p>
          <a:p>
            <a:pPr algn="l"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latin typeface="Arial" panose="020B0604020202090204" pitchFamily="34" charset="0"/>
                <a:cs typeface="+mn-cs"/>
              </a:rPr>
              <a:t>Remendos e correções;</a:t>
            </a:r>
            <a:endParaRPr lang="pt-BR" sz="2800" dirty="0">
              <a:latin typeface="Arial" panose="020B0604020202090204" pitchFamily="34" charset="0"/>
              <a:cs typeface="+mn-cs"/>
            </a:endParaRPr>
          </a:p>
          <a:p>
            <a:pPr algn="l"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latin typeface="Arial" panose="020B0604020202090204" pitchFamily="34" charset="0"/>
                <a:cs typeface="+mn-cs"/>
              </a:rPr>
              <a:t>Suporte;</a:t>
            </a:r>
            <a:endParaRPr lang="pt-BR" sz="2800" dirty="0">
              <a:latin typeface="Arial" panose="020B0604020202090204" pitchFamily="34" charset="0"/>
              <a:cs typeface="+mn-cs"/>
            </a:endParaRPr>
          </a:p>
          <a:p>
            <a:pPr algn="l"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latin typeface="Arial" panose="020B0604020202090204" pitchFamily="34" charset="0"/>
                <a:cs typeface="+mn-cs"/>
              </a:rPr>
              <a:t>Evoluções;</a:t>
            </a:r>
            <a:endParaRPr lang="pt-BR" sz="2800" dirty="0">
              <a:latin typeface="Arial" panose="020B0604020202090204" pitchFamily="34" charset="0"/>
              <a:cs typeface="+mn-cs"/>
            </a:endParaRPr>
          </a:p>
          <a:p>
            <a:pPr algn="l"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latin typeface="Arial" panose="020B0604020202090204" pitchFamily="34" charset="0"/>
                <a:cs typeface="+mn-cs"/>
              </a:rPr>
              <a:t>Ajustes;</a:t>
            </a:r>
            <a:endParaRPr lang="pt-BR" sz="280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4621213" y="734838"/>
            <a:ext cx="4522787" cy="6078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indent="265430">
              <a:tabLst>
                <a:tab pos="264795" algn="l"/>
                <a:tab pos="360045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1pPr>
            <a:lvl2pPr marL="742950" indent="-285750">
              <a:tabLst>
                <a:tab pos="264795" algn="l"/>
                <a:tab pos="360045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tabLst>
                <a:tab pos="264795" algn="l"/>
                <a:tab pos="360045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tabLst>
                <a:tab pos="264795" algn="l"/>
                <a:tab pos="360045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tabLst>
                <a:tab pos="264795" algn="l"/>
                <a:tab pos="360045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64795" algn="l"/>
                <a:tab pos="360045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64795" algn="l"/>
                <a:tab pos="360045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64795" algn="l"/>
                <a:tab pos="360045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264795" algn="l"/>
                <a:tab pos="360045" algn="l"/>
              </a:tabLs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l">
              <a:lnSpc>
                <a:spcPct val="150000"/>
              </a:lnSpc>
              <a:buFontTx/>
              <a:buChar char="•"/>
              <a:defRPr/>
            </a:pPr>
            <a:r>
              <a:rPr lang="pt-BR" sz="2800" smtClean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Extensão;</a:t>
            </a:r>
            <a:endParaRPr lang="pt-BR" sz="2800" smtClean="0">
              <a:effectLst>
                <a:outerShdw blurRad="38100" dist="38100" dir="2700000" algn="tl">
                  <a:srgbClr val="000000"/>
                </a:outerShdw>
              </a:effectLst>
              <a:cs typeface="+mn-cs"/>
            </a:endParaRPr>
          </a:p>
          <a:p>
            <a:pPr algn="l">
              <a:lnSpc>
                <a:spcPct val="150000"/>
              </a:lnSpc>
              <a:buFontTx/>
              <a:buChar char="•"/>
              <a:defRPr/>
            </a:pPr>
            <a:r>
              <a:rPr lang="pt-BR" sz="2800" smtClean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Expansão;</a:t>
            </a:r>
            <a:endParaRPr lang="pt-BR" sz="2800" smtClean="0">
              <a:effectLst>
                <a:outerShdw blurRad="38100" dist="38100" dir="2700000" algn="tl">
                  <a:srgbClr val="000000"/>
                </a:outerShdw>
              </a:effectLst>
              <a:cs typeface="+mn-cs"/>
            </a:endParaRPr>
          </a:p>
          <a:p>
            <a:pPr algn="l">
              <a:lnSpc>
                <a:spcPct val="150000"/>
              </a:lnSpc>
              <a:buFontTx/>
              <a:buChar char="•"/>
              <a:defRPr/>
            </a:pPr>
            <a:r>
              <a:rPr lang="pt-BR" sz="2800" smtClean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Revisão;</a:t>
            </a:r>
            <a:endParaRPr lang="pt-BR" sz="2800" smtClean="0">
              <a:effectLst>
                <a:outerShdw blurRad="38100" dist="38100" dir="2700000" algn="tl">
                  <a:srgbClr val="000000"/>
                </a:outerShdw>
              </a:effectLst>
              <a:cs typeface="+mn-cs"/>
            </a:endParaRPr>
          </a:p>
          <a:p>
            <a:pPr algn="l">
              <a:lnSpc>
                <a:spcPct val="150000"/>
              </a:lnSpc>
              <a:buFontTx/>
              <a:buChar char="•"/>
              <a:defRPr/>
            </a:pPr>
            <a:r>
              <a:rPr lang="pt-BR" sz="2800" smtClean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Atualização;</a:t>
            </a:r>
            <a:endParaRPr lang="pt-BR" sz="2800" smtClean="0">
              <a:effectLst>
                <a:outerShdw blurRad="38100" dist="38100" dir="2700000" algn="tl">
                  <a:srgbClr val="000000"/>
                </a:outerShdw>
              </a:effectLst>
              <a:cs typeface="+mn-cs"/>
            </a:endParaRPr>
          </a:p>
          <a:p>
            <a:pPr algn="l">
              <a:lnSpc>
                <a:spcPct val="150000"/>
              </a:lnSpc>
              <a:buFontTx/>
              <a:buChar char="•"/>
              <a:defRPr/>
            </a:pPr>
            <a:r>
              <a:rPr lang="pt-BR" sz="2800" smtClean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Re-programação;</a:t>
            </a:r>
            <a:endParaRPr lang="pt-BR" sz="2800" smtClean="0">
              <a:effectLst>
                <a:outerShdw blurRad="38100" dist="38100" dir="2700000" algn="tl">
                  <a:srgbClr val="000000"/>
                </a:outerShdw>
              </a:effectLst>
              <a:cs typeface="+mn-cs"/>
            </a:endParaRPr>
          </a:p>
          <a:p>
            <a:pPr algn="l">
              <a:lnSpc>
                <a:spcPct val="150000"/>
              </a:lnSpc>
              <a:buFontTx/>
              <a:buChar char="•"/>
              <a:defRPr/>
            </a:pPr>
            <a:r>
              <a:rPr lang="pt-BR" sz="2800" smtClean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Re-desenvolvimento;</a:t>
            </a:r>
            <a:endParaRPr lang="pt-BR" sz="2800" smtClean="0">
              <a:effectLst>
                <a:outerShdw blurRad="38100" dist="38100" dir="2700000" algn="tl">
                  <a:srgbClr val="000000"/>
                </a:outerShdw>
              </a:effectLst>
              <a:cs typeface="+mn-cs"/>
            </a:endParaRPr>
          </a:p>
          <a:p>
            <a:pPr algn="l">
              <a:lnSpc>
                <a:spcPct val="150000"/>
              </a:lnSpc>
              <a:buFontTx/>
              <a:buChar char="•"/>
              <a:defRPr/>
            </a:pPr>
            <a:r>
              <a:rPr lang="pt-BR" sz="2800" smtClean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Melhorias;</a:t>
            </a:r>
            <a:endParaRPr lang="pt-BR" sz="2800" smtClean="0">
              <a:effectLst>
                <a:outerShdw blurRad="38100" dist="38100" dir="2700000" algn="tl">
                  <a:srgbClr val="000000"/>
                </a:outerShdw>
              </a:effectLst>
              <a:cs typeface="+mn-cs"/>
            </a:endParaRPr>
          </a:p>
          <a:p>
            <a:pPr algn="l">
              <a:lnSpc>
                <a:spcPct val="150000"/>
              </a:lnSpc>
              <a:buFontTx/>
              <a:buChar char="•"/>
              <a:defRPr/>
            </a:pPr>
            <a:r>
              <a:rPr lang="pt-BR" sz="2800" smtClean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Alterações.</a:t>
            </a:r>
            <a:endParaRPr lang="pt-BR" sz="2800" smtClean="0">
              <a:effectLst>
                <a:outerShdw blurRad="38100" dist="38100" dir="2700000" algn="tl">
                  <a:srgbClr val="000000"/>
                </a:outerShdw>
              </a:effectLst>
              <a:cs typeface="+mn-cs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endParaRPr lang="pt-BR" sz="2800" smtClean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13995"/>
            <a:ext cx="6208395" cy="5715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err="1">
                <a:latin typeface="Garamond" charset="0"/>
                <a:cs typeface="+mj-cs"/>
              </a:rPr>
              <a:t>Categorias</a:t>
            </a:r>
            <a:r>
              <a:rPr lang="en-US" b="1" dirty="0">
                <a:latin typeface="Garamond" charset="0"/>
                <a:cs typeface="+mj-cs"/>
              </a:rPr>
              <a:t> de </a:t>
            </a:r>
            <a:r>
              <a:rPr lang="en-US" b="1" dirty="0" err="1">
                <a:latin typeface="Garamond" charset="0"/>
                <a:cs typeface="+mj-cs"/>
              </a:rPr>
              <a:t>Manutenção</a:t>
            </a:r>
            <a:endParaRPr lang="en-US" b="1" dirty="0">
              <a:latin typeface="Garamond" charset="0"/>
              <a:cs typeface="+mj-cs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charset="0"/>
              <a:buNone/>
              <a:defRPr/>
            </a:pPr>
            <a:r>
              <a:rPr lang="en-US" dirty="0">
                <a:latin typeface="Arial" panose="020B0604020202090204" pitchFamily="34" charset="0"/>
                <a:cs typeface="+mn-cs"/>
              </a:rPr>
              <a:t>1) </a:t>
            </a:r>
            <a:r>
              <a:rPr lang="en-US" dirty="0" err="1">
                <a:latin typeface="Arial" panose="020B0604020202090204" pitchFamily="34" charset="0"/>
                <a:cs typeface="+mn-cs"/>
              </a:rPr>
              <a:t>Identificar</a:t>
            </a:r>
            <a:r>
              <a:rPr lang="en-US" dirty="0">
                <a:latin typeface="Arial" panose="020B0604020202090204" pitchFamily="34" charset="0"/>
                <a:cs typeface="+mn-cs"/>
              </a:rPr>
              <a:t> e </a:t>
            </a:r>
            <a:r>
              <a:rPr lang="en-US" dirty="0" err="1">
                <a:latin typeface="Arial" panose="020B0604020202090204" pitchFamily="34" charset="0"/>
                <a:cs typeface="+mn-cs"/>
              </a:rPr>
              <a:t>Corrigir</a:t>
            </a:r>
            <a:r>
              <a:rPr lang="en-US" dirty="0">
                <a:latin typeface="Arial" panose="020B0604020202090204" pitchFamily="34" charset="0"/>
                <a:cs typeface="+mn-cs"/>
              </a:rPr>
              <a:t> </a:t>
            </a:r>
            <a:r>
              <a:rPr lang="en-US" u="sng" dirty="0" err="1">
                <a:latin typeface="Arial" panose="020B0604020202090204" pitchFamily="34" charset="0"/>
                <a:cs typeface="+mn-cs"/>
              </a:rPr>
              <a:t>Erros</a:t>
            </a:r>
            <a:endParaRPr lang="en-US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buFont typeface="Wingdings" panose="05000000000000000000" charset="0"/>
              <a:buNone/>
              <a:defRPr/>
            </a:pPr>
            <a:r>
              <a:rPr lang="pt-BR" sz="2800" i="1" dirty="0">
                <a:solidFill>
                  <a:schemeClr val="hlink"/>
                </a:solidFill>
                <a:latin typeface="Arial" panose="020B0604020202090204" pitchFamily="34" charset="0"/>
                <a:cs typeface="+mn-cs"/>
                <a:sym typeface="Wingdings" panose="05000000000000000000" charset="0"/>
              </a:rPr>
              <a:t>      </a:t>
            </a:r>
            <a:r>
              <a:rPr lang="pt-BR" sz="2800" i="1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Manutenção </a:t>
            </a:r>
            <a:r>
              <a:rPr lang="pt-BR" sz="2800" i="1" dirty="0" smtClean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Corretiva</a:t>
            </a:r>
            <a:endParaRPr lang="pt-BR" sz="2800" i="1" dirty="0" smtClean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lvl="2" eaLnBrk="1" hangingPunct="1">
              <a:defRPr/>
            </a:pPr>
            <a:r>
              <a:rPr lang="en-US" sz="2800" dirty="0" err="1"/>
              <a:t>mudanças</a:t>
            </a:r>
            <a:r>
              <a:rPr lang="en-US" sz="2800" dirty="0"/>
              <a:t> </a:t>
            </a:r>
            <a:r>
              <a:rPr lang="en-US" sz="2800" dirty="0" err="1"/>
              <a:t>para</a:t>
            </a:r>
            <a:r>
              <a:rPr lang="en-US" sz="2800" dirty="0"/>
              <a:t> </a:t>
            </a:r>
            <a:r>
              <a:rPr lang="en-US" sz="2800" dirty="0" err="1"/>
              <a:t>reparo</a:t>
            </a:r>
            <a:r>
              <a:rPr lang="en-US" sz="2800" dirty="0"/>
              <a:t> de </a:t>
            </a:r>
            <a:r>
              <a:rPr lang="en-US" sz="2800" dirty="0" err="1"/>
              <a:t>defeitos</a:t>
            </a:r>
            <a:r>
              <a:rPr lang="en-US" sz="2800" dirty="0"/>
              <a:t> de software</a:t>
            </a:r>
            <a:endParaRPr lang="pt-BR" sz="2800" i="1" dirty="0">
              <a:solidFill>
                <a:schemeClr val="hlink"/>
              </a:solidFill>
              <a:latin typeface="Arial" panose="020B0604020202090204" pitchFamily="34" charset="0"/>
            </a:endParaRPr>
          </a:p>
          <a:p>
            <a:pPr eaLnBrk="1" hangingPunct="1">
              <a:buFont typeface="Wingdings" panose="05000000000000000000" charset="0"/>
              <a:buNone/>
              <a:defRPr/>
            </a:pPr>
            <a:endParaRPr lang="pt-BR" sz="2800" i="1" dirty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Font typeface="Wingdings" panose="05000000000000000000" charset="0"/>
              <a:buNone/>
              <a:defRPr/>
            </a:pPr>
            <a:endParaRPr lang="pt-BR" sz="2800" i="1" dirty="0">
              <a:solidFill>
                <a:schemeClr val="accent2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Font typeface="Wingdings" panose="05000000000000000000" charset="0"/>
              <a:buNone/>
              <a:defRPr/>
            </a:pPr>
            <a:endParaRPr lang="en-US" sz="2800" i="1" dirty="0"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13995"/>
            <a:ext cx="6259830" cy="5715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err="1">
                <a:latin typeface="Garamond" charset="0"/>
                <a:cs typeface="+mj-cs"/>
              </a:rPr>
              <a:t>Categorias</a:t>
            </a:r>
            <a:r>
              <a:rPr lang="en-US" b="1" dirty="0">
                <a:latin typeface="Garamond" charset="0"/>
                <a:cs typeface="+mj-cs"/>
              </a:rPr>
              <a:t> de </a:t>
            </a:r>
            <a:r>
              <a:rPr lang="en-US" b="1" dirty="0" err="1">
                <a:latin typeface="Garamond" charset="0"/>
                <a:cs typeface="+mj-cs"/>
              </a:rPr>
              <a:t>Manutenção</a:t>
            </a:r>
            <a:endParaRPr lang="en-US" b="1" dirty="0">
              <a:latin typeface="Garamond" charset="0"/>
              <a:cs typeface="+mj-cs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76250" indent="-476250" eaLnBrk="1" hangingPunct="1">
              <a:buFont typeface="Wingdings" panose="05000000000000000000" charset="0"/>
              <a:buNone/>
              <a:defRPr/>
            </a:pPr>
            <a:r>
              <a:rPr lang="en-US" dirty="0">
                <a:latin typeface="Arial" panose="020B0604020202090204" pitchFamily="34" charset="0"/>
                <a:cs typeface="+mn-cs"/>
              </a:rPr>
              <a:t>2) A</a:t>
            </a:r>
            <a:r>
              <a:rPr lang="pt-BR" dirty="0">
                <a:latin typeface="Arial" panose="020B0604020202090204" pitchFamily="34" charset="0"/>
                <a:cs typeface="+mn-cs"/>
              </a:rPr>
              <a:t>tender Pedidos do Usuário para </a:t>
            </a:r>
            <a:r>
              <a:rPr lang="pt-BR" u="sng" dirty="0">
                <a:latin typeface="Arial" panose="020B0604020202090204" pitchFamily="34" charset="0"/>
                <a:cs typeface="+mn-cs"/>
              </a:rPr>
              <a:t>Modificar Funções</a:t>
            </a:r>
            <a:r>
              <a:rPr lang="pt-BR" dirty="0">
                <a:latin typeface="Arial" panose="020B0604020202090204" pitchFamily="34" charset="0"/>
                <a:cs typeface="+mn-cs"/>
              </a:rPr>
              <a:t> Existentes, Incluir </a:t>
            </a:r>
            <a:r>
              <a:rPr lang="pt-BR" u="sng" dirty="0">
                <a:latin typeface="Arial" panose="020B0604020202090204" pitchFamily="34" charset="0"/>
                <a:cs typeface="+mn-cs"/>
              </a:rPr>
              <a:t>Novas Funções</a:t>
            </a:r>
            <a:r>
              <a:rPr lang="pt-BR" dirty="0">
                <a:latin typeface="Arial" panose="020B0604020202090204" pitchFamily="34" charset="0"/>
                <a:cs typeface="+mn-cs"/>
              </a:rPr>
              <a:t> e Efetuar </a:t>
            </a:r>
            <a:r>
              <a:rPr lang="pt-BR" u="sng" dirty="0">
                <a:latin typeface="Arial" panose="020B0604020202090204" pitchFamily="34" charset="0"/>
                <a:cs typeface="+mn-cs"/>
              </a:rPr>
              <a:t>Melhoramentos</a:t>
            </a:r>
            <a:r>
              <a:rPr lang="pt-BR" dirty="0">
                <a:latin typeface="Arial" panose="020B0604020202090204" pitchFamily="34" charset="0"/>
                <a:cs typeface="+mn-cs"/>
              </a:rPr>
              <a:t> Gerais</a:t>
            </a:r>
            <a:endParaRPr lang="pt-BR" dirty="0"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None/>
              <a:defRPr/>
            </a:pPr>
            <a:r>
              <a:rPr lang="pt-BR" sz="2800" dirty="0">
                <a:solidFill>
                  <a:schemeClr val="hlink"/>
                </a:solidFill>
                <a:latin typeface="Arial" panose="020B0604020202090204" pitchFamily="34" charset="0"/>
                <a:cs typeface="+mn-cs"/>
                <a:sym typeface="Wingdings" panose="05000000000000000000" charset="0"/>
              </a:rPr>
              <a:t>    </a:t>
            </a:r>
            <a:r>
              <a:rPr lang="pt-BR" sz="2800" i="1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Manutenção </a:t>
            </a:r>
            <a:r>
              <a:rPr lang="pt-BR" sz="2800" i="1" dirty="0" smtClean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Evolutiva</a:t>
            </a:r>
            <a:endParaRPr lang="pt-BR" sz="2800" i="1" dirty="0" smtClean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lvl="2" eaLnBrk="1" hangingPunct="1">
              <a:defRPr/>
            </a:pPr>
            <a:r>
              <a:rPr lang="en-US" sz="2800" dirty="0" err="1" smtClean="0"/>
              <a:t>mudanças</a:t>
            </a:r>
            <a:r>
              <a:rPr lang="en-US" sz="2800" dirty="0" smtClean="0"/>
              <a:t> </a:t>
            </a:r>
            <a:r>
              <a:rPr lang="en-US" sz="2800" dirty="0" err="1"/>
              <a:t>para</a:t>
            </a:r>
            <a:r>
              <a:rPr lang="en-US" sz="2800" dirty="0"/>
              <a:t> </a:t>
            </a:r>
            <a:r>
              <a:rPr lang="en-US" sz="2800" dirty="0" err="1"/>
              <a:t>adicionar</a:t>
            </a:r>
            <a:r>
              <a:rPr lang="en-US" sz="2800" dirty="0"/>
              <a:t> </a:t>
            </a:r>
            <a:r>
              <a:rPr lang="en-US" sz="2800" dirty="0" err="1"/>
              <a:t>funcionalidade</a:t>
            </a:r>
            <a:r>
              <a:rPr lang="en-US" sz="2800" dirty="0"/>
              <a:t> </a:t>
            </a:r>
            <a:r>
              <a:rPr lang="en-US" sz="2800" dirty="0" err="1"/>
              <a:t>ao</a:t>
            </a:r>
            <a:r>
              <a:rPr lang="en-US" sz="2800" dirty="0"/>
              <a:t> </a:t>
            </a:r>
            <a:r>
              <a:rPr lang="en-US" sz="2800" dirty="0" err="1"/>
              <a:t>sistema</a:t>
            </a:r>
            <a:endParaRPr lang="pt-BR" sz="2800" i="1" dirty="0">
              <a:solidFill>
                <a:schemeClr val="hlink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13995"/>
            <a:ext cx="6612890" cy="5715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err="1">
                <a:latin typeface="Garamond" charset="0"/>
                <a:cs typeface="+mj-cs"/>
              </a:rPr>
              <a:t>Categorias</a:t>
            </a:r>
            <a:r>
              <a:rPr lang="en-US" b="1" dirty="0">
                <a:latin typeface="Garamond" charset="0"/>
                <a:cs typeface="+mj-cs"/>
              </a:rPr>
              <a:t> de </a:t>
            </a:r>
            <a:r>
              <a:rPr lang="en-US" b="1" dirty="0" err="1">
                <a:latin typeface="Garamond" charset="0"/>
                <a:cs typeface="+mj-cs"/>
              </a:rPr>
              <a:t>Manutenção</a:t>
            </a:r>
            <a:endParaRPr lang="en-US" b="1" dirty="0">
              <a:latin typeface="Garamond" charset="0"/>
              <a:cs typeface="+mj-cs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76250" indent="-476250" eaLnBrk="1" hangingPunct="1">
              <a:buFont typeface="Wingdings" panose="05000000000000000000" charset="0"/>
              <a:buNone/>
              <a:defRPr/>
            </a:pPr>
            <a:r>
              <a:rPr lang="en-US" dirty="0">
                <a:latin typeface="Arial" panose="020B0604020202090204" pitchFamily="34" charset="0"/>
                <a:cs typeface="+mn-cs"/>
              </a:rPr>
              <a:t>3) </a:t>
            </a:r>
            <a:r>
              <a:rPr lang="en-US" u="sng" dirty="0">
                <a:latin typeface="Arial" panose="020B0604020202090204" pitchFamily="34" charset="0"/>
                <a:cs typeface="+mn-cs"/>
              </a:rPr>
              <a:t>M</a:t>
            </a:r>
            <a:r>
              <a:rPr lang="pt-BR" u="sng" dirty="0" err="1">
                <a:latin typeface="Arial" panose="020B0604020202090204" pitchFamily="34" charset="0"/>
                <a:cs typeface="+mn-cs"/>
              </a:rPr>
              <a:t>elhorar</a:t>
            </a:r>
            <a:r>
              <a:rPr lang="pt-BR" dirty="0">
                <a:latin typeface="Arial" panose="020B0604020202090204" pitchFamily="34" charset="0"/>
                <a:cs typeface="+mn-cs"/>
              </a:rPr>
              <a:t> a </a:t>
            </a:r>
            <a:r>
              <a:rPr lang="pt-BR" dirty="0" err="1">
                <a:latin typeface="Arial" panose="020B0604020202090204" pitchFamily="34" charset="0"/>
                <a:cs typeface="+mn-cs"/>
              </a:rPr>
              <a:t>manutenibilidade</a:t>
            </a:r>
            <a:r>
              <a:rPr lang="pt-BR" dirty="0">
                <a:latin typeface="Arial" panose="020B0604020202090204" pitchFamily="34" charset="0"/>
                <a:cs typeface="+mn-cs"/>
              </a:rPr>
              <a:t> ou confiabilidade futuras e fornecer uma </a:t>
            </a:r>
            <a:r>
              <a:rPr lang="pt-BR" u="sng" dirty="0">
                <a:latin typeface="Arial" panose="020B0604020202090204" pitchFamily="34" charset="0"/>
                <a:cs typeface="+mn-cs"/>
              </a:rPr>
              <a:t>base</a:t>
            </a:r>
            <a:r>
              <a:rPr lang="pt-BR" dirty="0">
                <a:latin typeface="Arial" panose="020B0604020202090204" pitchFamily="34" charset="0"/>
                <a:cs typeface="+mn-cs"/>
              </a:rPr>
              <a:t> melhor para futuros melhoramentos</a:t>
            </a:r>
            <a:endParaRPr lang="pt-BR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buFont typeface="Wingdings" panose="05000000000000000000" charset="0"/>
              <a:buChar char="ð"/>
              <a:defRPr/>
            </a:pPr>
            <a:r>
              <a:rPr lang="pt-BR" sz="2800" i="1" dirty="0" smtClean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Manutenção Preventiva</a:t>
            </a:r>
            <a:endParaRPr lang="pt-BR" sz="2800" i="1" dirty="0" smtClean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marL="914400" lvl="3" indent="-457200" eaLnBrk="1" hangingPunct="1">
              <a:defRPr/>
            </a:pPr>
            <a:r>
              <a:rPr lang="en-US" sz="2800" dirty="0" err="1" smtClean="0"/>
              <a:t>mudanças</a:t>
            </a:r>
            <a:r>
              <a:rPr lang="en-US" sz="2800" dirty="0" smtClean="0"/>
              <a:t> </a:t>
            </a:r>
            <a:r>
              <a:rPr lang="en-US" sz="2800" dirty="0" err="1" smtClean="0"/>
              <a:t>para</a:t>
            </a:r>
            <a:r>
              <a:rPr lang="en-US" sz="2800" dirty="0" smtClean="0"/>
              <a:t> </a:t>
            </a:r>
            <a:r>
              <a:rPr lang="en-US" sz="2800" dirty="0" err="1" smtClean="0"/>
              <a:t>adaptar</a:t>
            </a:r>
            <a:r>
              <a:rPr lang="en-US" sz="2800" dirty="0" smtClean="0"/>
              <a:t> o software a outro </a:t>
            </a:r>
            <a:r>
              <a:rPr lang="en-US" sz="2800" dirty="0" err="1" smtClean="0"/>
              <a:t>ambiente</a:t>
            </a:r>
            <a:endParaRPr lang="en-US" sz="2800" dirty="0" smtClean="0"/>
          </a:p>
          <a:p>
            <a:pPr eaLnBrk="1" hangingPunct="1">
              <a:buFont typeface="Wingdings" panose="05000000000000000000" charset="0"/>
              <a:buChar char="ð"/>
              <a:defRPr/>
            </a:pPr>
            <a:endParaRPr lang="pt-BR" sz="2800" i="1" dirty="0" smtClean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Font typeface="Wingdings" panose="05000000000000000000" charset="0"/>
              <a:buChar char="ð"/>
              <a:defRPr/>
            </a:pPr>
            <a:endParaRPr lang="pt-BR" sz="2800" i="1" dirty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b="1" dirty="0" smtClean="0">
                <a:latin typeface="Garamond" charset="0"/>
                <a:cs typeface="+mj-cs"/>
              </a:rPr>
              <a:t>Distribuição do Esforço</a:t>
            </a:r>
            <a:endParaRPr lang="en-US" b="1" dirty="0">
              <a:latin typeface="Garamond" charset="0"/>
              <a:cs typeface="+mj-cs"/>
            </a:endParaRPr>
          </a:p>
        </p:txBody>
      </p:sp>
      <p:pic>
        <p:nvPicPr>
          <p:cNvPr id="1331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131943"/>
            <a:ext cx="4968552" cy="474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000" b="1" dirty="0">
                <a:latin typeface="Garamond" charset="0"/>
                <a:cs typeface="+mj-cs"/>
              </a:rPr>
              <a:t>A Fase de Manutenção de Software</a:t>
            </a:r>
            <a:endParaRPr lang="en-US" sz="3000" b="1" dirty="0">
              <a:latin typeface="Garamond" charset="0"/>
              <a:cs typeface="+mj-cs"/>
            </a:endParaRP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b="1">
                <a:effectLst/>
                <a:latin typeface="Arial" panose="020B0604020202090204" pitchFamily="34" charset="0"/>
              </a:rPr>
              <a:t>Fase mais </a:t>
            </a:r>
            <a:r>
              <a:rPr lang="pt-BR" b="1" u="sng">
                <a:effectLst/>
                <a:latin typeface="Arial" panose="020B0604020202090204" pitchFamily="34" charset="0"/>
              </a:rPr>
              <a:t>problemática</a:t>
            </a:r>
            <a:r>
              <a:rPr lang="pt-BR" b="1">
                <a:effectLst/>
                <a:latin typeface="Arial" panose="020B0604020202090204" pitchFamily="34" charset="0"/>
              </a:rPr>
              <a:t> do Ciclo de Vida de Software</a:t>
            </a:r>
            <a:endParaRPr lang="pt-BR" b="1">
              <a:effectLst/>
              <a:latin typeface="Arial" panose="020B0604020202090204" pitchFamily="34" charset="0"/>
            </a:endParaRPr>
          </a:p>
          <a:p>
            <a:pPr eaLnBrk="1" hangingPunct="1"/>
            <a:r>
              <a:rPr lang="pt-BR" b="1">
                <a:effectLst/>
                <a:latin typeface="Arial" panose="020B0604020202090204" pitchFamily="34" charset="0"/>
              </a:rPr>
              <a:t>Pode despender </a:t>
            </a:r>
            <a:r>
              <a:rPr lang="pt-BR" b="1" u="sng">
                <a:effectLst/>
                <a:latin typeface="Arial" panose="020B0604020202090204" pitchFamily="34" charset="0"/>
              </a:rPr>
              <a:t>mais de 70%</a:t>
            </a:r>
            <a:r>
              <a:rPr lang="pt-BR" b="1">
                <a:effectLst/>
                <a:latin typeface="Arial" panose="020B0604020202090204" pitchFamily="34" charset="0"/>
              </a:rPr>
              <a:t> de todo esforço de uma Organização</a:t>
            </a:r>
            <a:endParaRPr lang="pt-BR" b="1">
              <a:effectLst/>
              <a:latin typeface="Arial" panose="020B0604020202090204" pitchFamily="34" charset="0"/>
            </a:endParaRPr>
          </a:p>
          <a:p>
            <a:pPr eaLnBrk="1" hangingPunct="1"/>
            <a:r>
              <a:rPr lang="pt-BR" b="1">
                <a:effectLst/>
                <a:latin typeface="Arial" panose="020B0604020202090204" pitchFamily="34" charset="0"/>
              </a:rPr>
              <a:t>Esses sistemas devem </a:t>
            </a:r>
            <a:r>
              <a:rPr lang="pt-BR" b="1" u="sng">
                <a:effectLst/>
                <a:latin typeface="Arial" panose="020B0604020202090204" pitchFamily="34" charset="0"/>
              </a:rPr>
              <a:t>continuar</a:t>
            </a:r>
            <a:r>
              <a:rPr lang="pt-BR" b="1">
                <a:effectLst/>
                <a:latin typeface="Arial" panose="020B0604020202090204" pitchFamily="34" charset="0"/>
              </a:rPr>
              <a:t> rodando e as alterações são </a:t>
            </a:r>
            <a:r>
              <a:rPr lang="pt-BR" b="1" u="sng">
                <a:effectLst/>
                <a:latin typeface="Arial" panose="020B0604020202090204" pitchFamily="34" charset="0"/>
              </a:rPr>
              <a:t>inevitáveis</a:t>
            </a:r>
            <a:r>
              <a:rPr lang="pt-BR" b="1">
                <a:effectLst/>
                <a:latin typeface="Arial" panose="020B0604020202090204" pitchFamily="34" charset="0"/>
              </a:rPr>
              <a:t> </a:t>
            </a:r>
            <a:endParaRPr lang="pt-BR" b="1"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3000" b="1" dirty="0">
                <a:latin typeface="Garamond" charset="0"/>
                <a:cs typeface="+mj-cs"/>
              </a:rPr>
              <a:t>A Fase de Manutenção de Software</a:t>
            </a:r>
            <a:endParaRPr lang="en-US" sz="3000" b="1" dirty="0">
              <a:latin typeface="Garamond" charset="0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35285"/>
            <a:ext cx="8229600" cy="4525963"/>
          </a:xfrm>
        </p:spPr>
        <p:txBody>
          <a:bodyPr/>
          <a:lstStyle/>
          <a:p>
            <a:pPr eaLnBrk="1" hangingPunct="1"/>
            <a:r>
              <a:rPr lang="pt-BR" sz="2800" b="1" dirty="0">
                <a:effectLst/>
                <a:latin typeface="Arial" panose="020B0604020202090204" pitchFamily="34" charset="0"/>
              </a:rPr>
              <a:t>Por que é exigida tanta </a:t>
            </a:r>
            <a:r>
              <a:rPr lang="pt-BR" sz="2800" b="1" u="sng" dirty="0">
                <a:effectLst/>
                <a:latin typeface="Arial" panose="020B0604020202090204" pitchFamily="34" charset="0"/>
              </a:rPr>
              <a:t>Manutenção</a:t>
            </a:r>
            <a:r>
              <a:rPr lang="pt-BR" sz="2800" b="1" dirty="0">
                <a:effectLst/>
                <a:latin typeface="Arial" panose="020B0604020202090204" pitchFamily="34" charset="0"/>
              </a:rPr>
              <a:t> e por que é despendido tanto </a:t>
            </a:r>
            <a:r>
              <a:rPr lang="pt-BR" sz="2800" b="1" u="sng" dirty="0">
                <a:effectLst/>
                <a:latin typeface="Arial" panose="020B0604020202090204" pitchFamily="34" charset="0"/>
              </a:rPr>
              <a:t>Esforço </a:t>
            </a:r>
            <a:r>
              <a:rPr lang="pt-BR" sz="2800" b="1" dirty="0">
                <a:effectLst/>
                <a:latin typeface="Arial" panose="020B0604020202090204" pitchFamily="34" charset="0"/>
              </a:rPr>
              <a:t>nessa atividade? </a:t>
            </a:r>
            <a:endParaRPr lang="pt-BR" sz="2800" b="1" dirty="0">
              <a:effectLst/>
              <a:latin typeface="Arial" panose="020B0604020202090204" pitchFamily="34" charset="0"/>
            </a:endParaRPr>
          </a:p>
          <a:p>
            <a:pPr lvl="1" eaLnBrk="1" hangingPunct="1">
              <a:spcBef>
                <a:spcPct val="50000"/>
              </a:spcBef>
            </a:pPr>
            <a:r>
              <a:rPr lang="pt-BR" b="1" dirty="0">
                <a:effectLst/>
                <a:latin typeface="Arial" panose="020B0604020202090204" pitchFamily="34" charset="0"/>
              </a:rPr>
              <a:t>Idade Média dos sistemas são de 10 a 15 anos</a:t>
            </a:r>
            <a:endParaRPr lang="pt-BR" b="1" dirty="0">
              <a:effectLst/>
              <a:latin typeface="Arial" panose="020B0604020202090204" pitchFamily="34" charset="0"/>
            </a:endParaRPr>
          </a:p>
          <a:p>
            <a:pPr lvl="1" eaLnBrk="1" hangingPunct="1"/>
            <a:r>
              <a:rPr lang="pt-BR" b="1" dirty="0">
                <a:effectLst/>
                <a:latin typeface="Arial" panose="020B0604020202090204" pitchFamily="34" charset="0"/>
              </a:rPr>
              <a:t>Quando foram implementados, o tamanho do programa e espaço de armazenamento eram o principal interesse</a:t>
            </a:r>
            <a:endParaRPr lang="pt-BR" b="1" dirty="0">
              <a:effectLst/>
              <a:latin typeface="Arial" panose="020B0604020202090204" pitchFamily="34" charset="0"/>
            </a:endParaRPr>
          </a:p>
          <a:p>
            <a:pPr lvl="1" eaLnBrk="1" hangingPunct="1"/>
            <a:r>
              <a:rPr lang="pt-BR" b="1" dirty="0">
                <a:effectLst/>
                <a:latin typeface="Arial" panose="020B0604020202090204" pitchFamily="34" charset="0"/>
              </a:rPr>
              <a:t>Migração Para Novas Plataformas</a:t>
            </a:r>
            <a:endParaRPr lang="pt-BR" b="1" dirty="0">
              <a:effectLst/>
              <a:latin typeface="Arial" panose="020B0604020202090204" pitchFamily="34" charset="0"/>
            </a:endParaRPr>
          </a:p>
          <a:p>
            <a:pPr lvl="1" eaLnBrk="1" hangingPunct="1"/>
            <a:r>
              <a:rPr lang="pt-BR" b="1" dirty="0">
                <a:effectLst/>
                <a:latin typeface="Arial" panose="020B0604020202090204" pitchFamily="34" charset="0"/>
              </a:rPr>
              <a:t>Sistemas mal estruturados</a:t>
            </a:r>
            <a:endParaRPr lang="pt-BR" b="1" dirty="0"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b="1" dirty="0">
                <a:latin typeface="Garamond" charset="0"/>
                <a:cs typeface="+mj-cs"/>
              </a:rPr>
              <a:t>Custo de Manutenção</a:t>
            </a:r>
            <a:endParaRPr lang="en-US" b="1" dirty="0">
              <a:latin typeface="Garamond" charset="0"/>
              <a:cs typeface="+mj-cs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Custos</a:t>
            </a:r>
            <a:r>
              <a:rPr lang="pt-BR" dirty="0">
                <a:latin typeface="Arial" panose="020B0604020202090204" pitchFamily="34" charset="0"/>
                <a:cs typeface="+mn-cs"/>
              </a:rPr>
              <a:t> não Monetários</a:t>
            </a:r>
            <a:endParaRPr lang="pt-BR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endParaRPr lang="pt-BR" dirty="0">
              <a:latin typeface="Arial" panose="020B0604020202090204" pitchFamily="34" charset="0"/>
              <a:cs typeface="+mn-cs"/>
            </a:endParaRPr>
          </a:p>
          <a:p>
            <a:pPr lvl="1" eaLnBrk="1" hangingPunct="1">
              <a:defRPr/>
            </a:pPr>
            <a:r>
              <a:rPr lang="pt-BR" dirty="0">
                <a:latin typeface="Arial" panose="020B0604020202090204" pitchFamily="34" charset="0"/>
              </a:rPr>
              <a:t>Adiamento de oportunidades de desenvolvimento</a:t>
            </a:r>
            <a:endParaRPr lang="pt-BR" dirty="0">
              <a:latin typeface="Arial" panose="020B0604020202090204" pitchFamily="34" charset="0"/>
            </a:endParaRPr>
          </a:p>
          <a:p>
            <a:pPr lvl="1" eaLnBrk="1" hangingPunct="1">
              <a:defRPr/>
            </a:pPr>
            <a:r>
              <a:rPr lang="pt-BR" dirty="0">
                <a:latin typeface="Arial" panose="020B0604020202090204" pitchFamily="34" charset="0"/>
              </a:rPr>
              <a:t>Redução da qualidade global do software</a:t>
            </a:r>
            <a:endParaRPr lang="pt-BR" dirty="0">
              <a:latin typeface="Arial" panose="020B0604020202090204" pitchFamily="34" charset="0"/>
            </a:endParaRPr>
          </a:p>
          <a:p>
            <a:pPr lvl="1" eaLnBrk="1" hangingPunct="1">
              <a:defRPr/>
            </a:pPr>
            <a:r>
              <a:rPr lang="pt-BR" dirty="0">
                <a:latin typeface="Arial" panose="020B0604020202090204" pitchFamily="34" charset="0"/>
              </a:rPr>
              <a:t>Insatisfação do cliente</a:t>
            </a:r>
            <a:endParaRPr lang="pt-BR" dirty="0">
              <a:latin typeface="Arial" panose="020B0604020202090204" pitchFamily="34" charset="0"/>
            </a:endParaRPr>
          </a:p>
          <a:p>
            <a:pPr lvl="1" eaLnBrk="1" hangingPunct="1">
              <a:defRPr/>
            </a:pPr>
            <a:r>
              <a:rPr lang="pt-BR" dirty="0">
                <a:latin typeface="Arial" panose="020B0604020202090204" pitchFamily="34" charset="0"/>
              </a:rPr>
              <a:t>Insatisfação do pessoal de manutenção</a:t>
            </a:r>
            <a:endParaRPr 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err="1">
                <a:latin typeface="Garamond" charset="0"/>
                <a:cs typeface="+mj-cs"/>
              </a:rPr>
              <a:t>Custo</a:t>
            </a:r>
            <a:r>
              <a:rPr lang="en-US" b="1" dirty="0">
                <a:latin typeface="Garamond" charset="0"/>
                <a:cs typeface="+mj-cs"/>
              </a:rPr>
              <a:t> de </a:t>
            </a:r>
            <a:r>
              <a:rPr lang="en-US" b="1" dirty="0" err="1">
                <a:latin typeface="Garamond" charset="0"/>
                <a:cs typeface="+mj-cs"/>
              </a:rPr>
              <a:t>Manutenção</a:t>
            </a:r>
            <a:endParaRPr lang="en-US" b="1" dirty="0">
              <a:latin typeface="Garamond" charset="0"/>
              <a:cs typeface="+mj-cs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latin typeface="Arial" panose="020B0604020202090204" pitchFamily="34" charset="0"/>
                <a:cs typeface="+mn-cs"/>
              </a:rPr>
              <a:t>O </a:t>
            </a:r>
            <a:r>
              <a:rPr lang="en-US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Custo</a:t>
            </a:r>
            <a:r>
              <a:rPr lang="en-US">
                <a:latin typeface="Arial" panose="020B0604020202090204" pitchFamily="34" charset="0"/>
                <a:cs typeface="+mn-cs"/>
              </a:rPr>
              <a:t> </a:t>
            </a:r>
            <a:r>
              <a:rPr lang="en-US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Operacional</a:t>
            </a:r>
            <a:r>
              <a:rPr lang="en-US">
                <a:latin typeface="Arial" panose="020B0604020202090204" pitchFamily="34" charset="0"/>
                <a:cs typeface="+mn-cs"/>
              </a:rPr>
              <a:t> de</a:t>
            </a:r>
            <a:r>
              <a:rPr lang="pt-BR">
                <a:latin typeface="Arial" panose="020B0604020202090204" pitchFamily="34" charset="0"/>
                <a:cs typeface="+mn-cs"/>
              </a:rPr>
              <a:t> manutenção pode ser dividido em:</a:t>
            </a:r>
            <a:endParaRPr lang="pt-BR">
              <a:latin typeface="Arial" panose="020B0604020202090204" pitchFamily="34" charset="0"/>
              <a:cs typeface="+mn-cs"/>
            </a:endParaRPr>
          </a:p>
          <a:p>
            <a:pPr lvl="1" eaLnBrk="1" hangingPunct="1">
              <a:defRPr/>
            </a:pPr>
            <a:r>
              <a:rPr lang="pt-BR">
                <a:latin typeface="Arial" panose="020B0604020202090204" pitchFamily="34" charset="0"/>
              </a:rPr>
              <a:t>tentar entender o que o software faz</a:t>
            </a:r>
            <a:endParaRPr lang="pt-BR">
              <a:latin typeface="Arial" panose="020B0604020202090204" pitchFamily="34" charset="0"/>
            </a:endParaRPr>
          </a:p>
          <a:p>
            <a:pPr lvl="1" eaLnBrk="1" hangingPunct="1">
              <a:defRPr/>
            </a:pPr>
            <a:r>
              <a:rPr lang="pt-BR">
                <a:latin typeface="Arial" panose="020B0604020202090204" pitchFamily="34" charset="0"/>
              </a:rPr>
              <a:t>interpretar as estruturas de dados, as características de interface e limites de desempenho</a:t>
            </a:r>
            <a:endParaRPr lang="pt-BR">
              <a:latin typeface="Arial" panose="020B0604020202090204" pitchFamily="34" charset="0"/>
            </a:endParaRPr>
          </a:p>
          <a:p>
            <a:pPr lvl="1" eaLnBrk="1" hangingPunct="1">
              <a:defRPr/>
            </a:pPr>
            <a:r>
              <a:rPr lang="pt-BR">
                <a:latin typeface="Arial" panose="020B0604020202090204" pitchFamily="34" charset="0"/>
              </a:rPr>
              <a:t>analisar, avaliar, projetar, codificar e testar as modificações</a:t>
            </a:r>
            <a:endParaRPr lang="pt-BR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13995"/>
            <a:ext cx="6390005" cy="571500"/>
          </a:xfrm>
        </p:spPr>
        <p:txBody>
          <a:bodyPr/>
          <a:lstStyle/>
          <a:p>
            <a:pPr eaLnBrk="1" hangingPunct="1">
              <a:defRPr/>
            </a:pPr>
            <a:r>
              <a:rPr lang="pt-BR" b="1" dirty="0">
                <a:latin typeface="Garamond" charset="0"/>
                <a:cs typeface="+mj-cs"/>
              </a:rPr>
              <a:t>Problemas da Manutenção</a:t>
            </a:r>
            <a:endParaRPr lang="en-US" b="1" dirty="0">
              <a:solidFill>
                <a:schemeClr val="tx1"/>
              </a:solidFill>
              <a:effectLst/>
              <a:latin typeface="Garamond" charset="0"/>
              <a:cs typeface="+mj-cs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>
                <a:latin typeface="Arial" panose="020B0604020202090204" pitchFamily="34" charset="0"/>
                <a:cs typeface="+mn-cs"/>
              </a:rPr>
              <a:t>A maioria dos 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problemas</a:t>
            </a:r>
            <a:r>
              <a:rPr lang="pt-BR">
                <a:latin typeface="Arial" panose="020B0604020202090204" pitchFamily="34" charset="0"/>
                <a:cs typeface="+mn-cs"/>
              </a:rPr>
              <a:t> com a manutenção do software é causada por 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deficiências</a:t>
            </a:r>
            <a:r>
              <a:rPr lang="pt-BR">
                <a:latin typeface="Arial" panose="020B0604020202090204" pitchFamily="34" charset="0"/>
                <a:cs typeface="+mn-cs"/>
              </a:rPr>
              <a:t> na maneira como o software foi 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planejado</a:t>
            </a:r>
            <a:r>
              <a:rPr lang="pt-BR">
                <a:latin typeface="Arial" panose="020B0604020202090204" pitchFamily="34" charset="0"/>
                <a:cs typeface="+mn-cs"/>
              </a:rPr>
              <a:t> e 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desenvolvido</a:t>
            </a:r>
            <a:endParaRPr lang="pt-BR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endParaRPr lang="en-US"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052736"/>
            <a:ext cx="8229600" cy="5453062"/>
          </a:xfrm>
        </p:spPr>
        <p:txBody>
          <a:bodyPr/>
          <a:lstStyle/>
          <a:p>
            <a:pPr algn="ctr" eaLnBrk="1" hangingPunct="1">
              <a:buFont typeface="Wingdings" panose="05000000000000000000" charset="0"/>
              <a:buNone/>
              <a:defRPr/>
            </a:pPr>
            <a:r>
              <a:rPr lang="pt-BR" sz="2600" b="1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PROBLEMAS CLÁSSICOS</a:t>
            </a:r>
            <a:endParaRPr lang="pt-BR" sz="2600" dirty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pt-BR" sz="2600" dirty="0">
                <a:latin typeface="Arial" panose="020B0604020202090204" pitchFamily="34" charset="0"/>
                <a:cs typeface="+mn-cs"/>
              </a:rPr>
              <a:t>É difícil ou impossível traçar a </a:t>
            </a:r>
            <a:r>
              <a:rPr lang="pt-BR" sz="2600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evolução</a:t>
            </a:r>
            <a:r>
              <a:rPr lang="pt-BR" sz="2600" dirty="0">
                <a:latin typeface="Arial" panose="020B0604020202090204" pitchFamily="34" charset="0"/>
                <a:cs typeface="+mn-cs"/>
              </a:rPr>
              <a:t> do software  através das várias versões.  </a:t>
            </a:r>
            <a:endParaRPr lang="pt-BR" sz="2600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pt-BR" sz="2600" dirty="0">
                <a:latin typeface="Arial" panose="020B0604020202090204" pitchFamily="34" charset="0"/>
                <a:cs typeface="+mn-cs"/>
              </a:rPr>
              <a:t>As alterações não são adequadamente </a:t>
            </a:r>
            <a:r>
              <a:rPr lang="pt-BR" sz="2600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documentadas</a:t>
            </a:r>
            <a:endParaRPr lang="pt-BR" sz="2600" u="sng" dirty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pt-BR" sz="2600" dirty="0">
                <a:latin typeface="Arial" panose="020B0604020202090204" pitchFamily="34" charset="0"/>
                <a:cs typeface="+mn-cs"/>
              </a:rPr>
              <a:t>É difícil ou impossível traçar o </a:t>
            </a:r>
            <a:r>
              <a:rPr lang="pt-BR" sz="2600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processo</a:t>
            </a:r>
            <a:r>
              <a:rPr lang="pt-BR" sz="2600" dirty="0">
                <a:latin typeface="Arial" panose="020B0604020202090204" pitchFamily="34" charset="0"/>
                <a:cs typeface="+mn-cs"/>
              </a:rPr>
              <a:t> através do qual o software foi criado.</a:t>
            </a:r>
            <a:endParaRPr lang="pt-BR" sz="2600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pt-BR" sz="2600" dirty="0">
                <a:latin typeface="Arial" panose="020B0604020202090204" pitchFamily="34" charset="0"/>
                <a:cs typeface="+mn-cs"/>
              </a:rPr>
              <a:t>É muito difícil entender programas "de outras pessoas". </a:t>
            </a:r>
            <a:endParaRPr lang="pt-BR" sz="2600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pt-BR" sz="2600" dirty="0">
                <a:latin typeface="Arial" panose="020B0604020202090204" pitchFamily="34" charset="0"/>
                <a:cs typeface="+mn-cs"/>
              </a:rPr>
              <a:t>"As outras pessoas" </a:t>
            </a:r>
            <a:r>
              <a:rPr lang="pt-BR" sz="2600" dirty="0" err="1">
                <a:latin typeface="Arial" panose="020B0604020202090204" pitchFamily="34" charset="0"/>
                <a:cs typeface="+mn-cs"/>
              </a:rPr>
              <a:t>freqüentemente</a:t>
            </a:r>
            <a:r>
              <a:rPr lang="pt-BR" sz="2600" dirty="0">
                <a:latin typeface="Arial" panose="020B0604020202090204" pitchFamily="34" charset="0"/>
                <a:cs typeface="+mn-cs"/>
              </a:rPr>
              <a:t> não estão presentes para explicar.</a:t>
            </a:r>
            <a:endParaRPr lang="pt-BR" sz="2600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endParaRPr lang="pt-BR" sz="260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870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13995"/>
            <a:ext cx="6390005" cy="571500"/>
          </a:xfrm>
        </p:spPr>
        <p:txBody>
          <a:bodyPr/>
          <a:p>
            <a:pPr eaLnBrk="1" hangingPunct="1">
              <a:defRPr/>
            </a:pPr>
            <a:r>
              <a:rPr lang="pt-BR" b="1" dirty="0">
                <a:latin typeface="Garamond" charset="0"/>
                <a:cs typeface="+mj-cs"/>
              </a:rPr>
              <a:t>Problemas da Manutenção</a:t>
            </a:r>
            <a:endParaRPr lang="en-US" b="1" dirty="0">
              <a:solidFill>
                <a:schemeClr val="tx1"/>
              </a:solidFill>
              <a:effectLst/>
              <a:latin typeface="Garamond" charset="0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lnSpc>
                <a:spcPct val="90000"/>
              </a:lnSpc>
              <a:buFont typeface="Wingdings" panose="05000000000000000000" charset="0"/>
              <a:buNone/>
              <a:defRPr/>
            </a:pPr>
            <a:r>
              <a:rPr lang="pt-BR" sz="2000" b="1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PROBLEMAS CLÁSSICOS (cont.)</a:t>
            </a:r>
            <a:endParaRPr lang="pt-BR" sz="2000" b="1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algn="ctr" eaLnBrk="1" hangingPunct="1">
              <a:lnSpc>
                <a:spcPct val="90000"/>
              </a:lnSpc>
              <a:buFont typeface="Wingdings" panose="05000000000000000000" charset="0"/>
              <a:buNone/>
              <a:defRPr/>
            </a:pPr>
            <a:endParaRPr lang="pt-BR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pt-BR">
                <a:latin typeface="Arial" panose="020B0604020202090204" pitchFamily="34" charset="0"/>
                <a:cs typeface="+mn-cs"/>
              </a:rPr>
              <a:t>A 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documentação</a:t>
            </a:r>
            <a:r>
              <a:rPr lang="pt-BR">
                <a:latin typeface="Arial" panose="020B0604020202090204" pitchFamily="34" charset="0"/>
                <a:cs typeface="+mn-cs"/>
              </a:rPr>
              <a:t> não existe, é incompreensível ou está desatualizada.</a:t>
            </a:r>
            <a:endParaRPr lang="pt-BR">
              <a:latin typeface="Arial" panose="020B0604020202090204" pitchFamily="34" charset="0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pt-BR">
                <a:latin typeface="Arial" panose="020B0604020202090204" pitchFamily="34" charset="0"/>
                <a:cs typeface="+mn-cs"/>
              </a:rPr>
              <a:t>A maioria dos processos de construção de softwares não foi projetado para 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suportar</a:t>
            </a:r>
            <a:r>
              <a:rPr lang="pt-BR">
                <a:latin typeface="Arial" panose="020B0604020202090204" pitchFamily="34" charset="0"/>
                <a:cs typeface="+mn-cs"/>
              </a:rPr>
              <a:t> alterações.</a:t>
            </a:r>
            <a:endParaRPr lang="pt-BR">
              <a:latin typeface="Arial" panose="020B0604020202090204" pitchFamily="34" charset="0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pt-BR">
                <a:latin typeface="Arial" panose="020B0604020202090204" pitchFamily="34" charset="0"/>
                <a:cs typeface="+mn-cs"/>
              </a:rPr>
              <a:t> A manutenção não é vista como um 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trabalho </a:t>
            </a:r>
            <a:r>
              <a:rPr lang="ja-JP" alt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“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glamouroso</a:t>
            </a:r>
            <a:r>
              <a:rPr lang="ja-JP" alt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”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.</a:t>
            </a:r>
            <a:endParaRPr lang="pt-BR" u="sng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870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13995"/>
            <a:ext cx="6390005" cy="571500"/>
          </a:xfrm>
        </p:spPr>
        <p:txBody>
          <a:bodyPr/>
          <a:lstStyle/>
          <a:p>
            <a:pPr eaLnBrk="1" hangingPunct="1">
              <a:defRPr/>
            </a:pPr>
            <a:r>
              <a:rPr lang="pt-BR" b="1" dirty="0">
                <a:latin typeface="Garamond" charset="0"/>
                <a:cs typeface="+mj-cs"/>
              </a:rPr>
              <a:t>Problemas da Manutenção</a:t>
            </a:r>
            <a:endParaRPr lang="en-US" b="1" dirty="0">
              <a:solidFill>
                <a:schemeClr val="tx1"/>
              </a:solidFill>
              <a:effectLst/>
              <a:latin typeface="Garamond" charset="0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 smtClean="0">
                <a:ea typeface="+mj-ea"/>
                <a:cs typeface="+mj-cs"/>
              </a:rPr>
              <a:t>Manutenibilidade</a:t>
            </a:r>
            <a:endParaRPr lang="en-US" b="0" dirty="0" smtClean="0">
              <a:solidFill>
                <a:schemeClr val="tx1"/>
              </a:solidFill>
              <a:effectLst/>
              <a:ea typeface="+mj-ea"/>
              <a:cs typeface="+mj-cs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82700"/>
            <a:ext cx="8229600" cy="4943475"/>
          </a:xfrm>
        </p:spPr>
        <p:txBody>
          <a:bodyPr/>
          <a:lstStyle/>
          <a:p>
            <a:pPr eaLnBrk="1" hangingPunct="1">
              <a:defRPr/>
            </a:pPr>
            <a:r>
              <a:rPr lang="pt-BR" sz="2800">
                <a:latin typeface="Arial" panose="020B0604020202090204" pitchFamily="34" charset="0"/>
                <a:cs typeface="+mn-cs"/>
              </a:rPr>
              <a:t>A </a:t>
            </a:r>
            <a:r>
              <a:rPr lang="pt-BR" sz="2800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Manutenibilidade</a:t>
            </a:r>
            <a:r>
              <a:rPr lang="pt-BR" sz="2800">
                <a:latin typeface="Arial" panose="020B0604020202090204" pitchFamily="34" charset="0"/>
                <a:cs typeface="+mn-cs"/>
              </a:rPr>
              <a:t> pode ser definida qualitativamente como a </a:t>
            </a:r>
            <a:r>
              <a:rPr lang="pt-BR" sz="2800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facilidade</a:t>
            </a:r>
            <a:r>
              <a:rPr lang="pt-BR" sz="2800">
                <a:latin typeface="Arial" panose="020B0604020202090204" pitchFamily="34" charset="0"/>
                <a:cs typeface="+mn-cs"/>
              </a:rPr>
              <a:t> com que o software pode ser entendido, corrigido, adaptado e ou melhorado</a:t>
            </a:r>
            <a:endParaRPr lang="pt-BR" sz="2800"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pt-BR" sz="2800">
                <a:latin typeface="Arial" panose="020B0604020202090204" pitchFamily="34" charset="0"/>
                <a:cs typeface="+mn-cs"/>
              </a:rPr>
              <a:t>A manutenibilidade é </a:t>
            </a:r>
            <a:r>
              <a:rPr lang="pt-BR" sz="2800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afetada</a:t>
            </a:r>
            <a:r>
              <a:rPr lang="pt-BR" sz="2800">
                <a:latin typeface="Arial" panose="020B0604020202090204" pitchFamily="34" charset="0"/>
                <a:cs typeface="+mn-cs"/>
              </a:rPr>
              <a:t> por muitos fatores:</a:t>
            </a:r>
            <a:endParaRPr lang="pt-BR" sz="2800">
              <a:latin typeface="Arial" panose="020B0604020202090204" pitchFamily="34" charset="0"/>
              <a:cs typeface="+mn-cs"/>
            </a:endParaRPr>
          </a:p>
          <a:p>
            <a:pPr lvl="1" eaLnBrk="1" hangingPunct="1">
              <a:defRPr/>
            </a:pPr>
            <a:r>
              <a:rPr lang="pt-BR" sz="2800" i="1">
                <a:latin typeface="Arial" panose="020B0604020202090204" pitchFamily="34" charset="0"/>
              </a:rPr>
              <a:t>cuidado inadequado com o projeto, codificação e teste</a:t>
            </a:r>
            <a:endParaRPr lang="pt-BR" sz="2800" i="1">
              <a:latin typeface="Arial" panose="020B0604020202090204" pitchFamily="34" charset="0"/>
            </a:endParaRPr>
          </a:p>
          <a:p>
            <a:pPr lvl="1" eaLnBrk="1" hangingPunct="1">
              <a:defRPr/>
            </a:pPr>
            <a:r>
              <a:rPr lang="pt-BR" sz="2800" i="1">
                <a:latin typeface="Arial" panose="020B0604020202090204" pitchFamily="34" charset="0"/>
              </a:rPr>
              <a:t>disponibilidade de pessoal qualificado de software </a:t>
            </a:r>
            <a:endParaRPr lang="en-US" sz="2800" i="1">
              <a:latin typeface="Arial" panose="020B0604020202090204" pitchFamily="34" charset="0"/>
            </a:endParaRPr>
          </a:p>
          <a:p>
            <a:pPr eaLnBrk="1" hangingPunct="1">
              <a:defRPr/>
            </a:pPr>
            <a:endParaRPr lang="en-US" sz="2800"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 smtClean="0">
                <a:ea typeface="+mj-ea"/>
                <a:cs typeface="+mj-cs"/>
              </a:rPr>
              <a:t>Manutenibilidade</a:t>
            </a:r>
            <a:endParaRPr lang="en-US" dirty="0" smtClean="0">
              <a:ea typeface="+mj-ea"/>
              <a:cs typeface="+mj-cs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BR">
                <a:latin typeface="Arial" panose="020B0604020202090204" pitchFamily="34" charset="0"/>
                <a:cs typeface="+mn-cs"/>
              </a:rPr>
              <a:t>A manutenibilidade é </a:t>
            </a:r>
            <a:r>
              <a:rPr lang="pt-BR" u="sng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afetada</a:t>
            </a:r>
            <a:r>
              <a:rPr lang="pt-BR">
                <a:latin typeface="Arial" panose="020B0604020202090204" pitchFamily="34" charset="0"/>
                <a:cs typeface="+mn-cs"/>
              </a:rPr>
              <a:t> por muitos fatores: (cont)</a:t>
            </a:r>
            <a:endParaRPr lang="pt-BR">
              <a:latin typeface="Arial" panose="020B0604020202090204" pitchFamily="34" charset="0"/>
              <a:cs typeface="+mn-cs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pt-BR" i="1">
                <a:latin typeface="Arial" panose="020B0604020202090204" pitchFamily="34" charset="0"/>
              </a:rPr>
              <a:t>disponibilidade de um computador próprio para a manutenção</a:t>
            </a:r>
            <a:endParaRPr lang="pt-BR" i="1">
              <a:latin typeface="Arial" panose="020B0604020202090204" pitchFamily="34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pt-BR" i="1">
                <a:latin typeface="Arial" panose="020B0604020202090204" pitchFamily="34" charset="0"/>
              </a:rPr>
              <a:t>disponibilidade da pessoa ou grupo que desenvolveu o software</a:t>
            </a:r>
            <a:endParaRPr lang="pt-BR" i="1">
              <a:latin typeface="Arial" panose="020B0604020202090204" pitchFamily="34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pt-BR" i="1">
                <a:solidFill>
                  <a:schemeClr val="hlink"/>
                </a:solidFill>
                <a:latin typeface="Arial" panose="020B0604020202090204" pitchFamily="34" charset="0"/>
              </a:rPr>
              <a:t> o planejamento para manutenibilidade </a:t>
            </a:r>
            <a:endParaRPr lang="pt-BR" i="1">
              <a:solidFill>
                <a:schemeClr val="hlink"/>
              </a:solidFill>
              <a:latin typeface="Arial" panose="020B0604020202090204" pitchFamily="34" charset="0"/>
            </a:endParaRPr>
          </a:p>
          <a:p>
            <a:pPr lvl="1" algn="ctr" eaLnBrk="1" hangingPunct="1">
              <a:lnSpc>
                <a:spcPct val="90000"/>
              </a:lnSpc>
              <a:buFont typeface="Wingdings" panose="05000000000000000000" charset="0"/>
              <a:buNone/>
              <a:defRPr/>
            </a:pPr>
            <a:r>
              <a:rPr lang="pt-BR" i="1">
                <a:latin typeface="Arial" panose="020B0604020202090204" pitchFamily="34" charset="0"/>
              </a:rPr>
              <a:t>  (fator mais importante que afeta a manutenibilidade)</a:t>
            </a:r>
            <a:endParaRPr lang="pt-BR" i="1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b="1" dirty="0">
                <a:latin typeface="Garamond" charset="0"/>
                <a:cs typeface="+mj-cs"/>
              </a:rPr>
              <a:t>Tarefas de Manutenção</a:t>
            </a:r>
            <a:endParaRPr lang="en-US" b="1" dirty="0">
              <a:latin typeface="Garamond" charset="0"/>
              <a:cs typeface="+mj-cs"/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588" y="1052736"/>
            <a:ext cx="7543800" cy="4587875"/>
          </a:xfrm>
        </p:spPr>
        <p:txBody>
          <a:bodyPr/>
          <a:lstStyle/>
          <a:p>
            <a:pPr marL="476250" indent="-476250" eaLnBrk="1" hangingPunct="1">
              <a:buFont typeface="Wingdings" panose="05000000000000000000" charset="0"/>
              <a:buAutoNum type="arabicParenR"/>
              <a:defRPr/>
            </a:pPr>
            <a:endParaRPr lang="pt-BR" sz="2000" dirty="0"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None/>
              <a:defRPr/>
            </a:pPr>
            <a:r>
              <a:rPr lang="pt-BR" sz="2000" dirty="0">
                <a:latin typeface="Arial" panose="020B0604020202090204" pitchFamily="34" charset="0"/>
                <a:cs typeface="+mn-cs"/>
              </a:rPr>
              <a:t>1) Descrever procedimentos de </a:t>
            </a:r>
            <a:r>
              <a:rPr lang="pt-BR" sz="2000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avaliação</a:t>
            </a:r>
            <a:r>
              <a:rPr lang="pt-BR" sz="2000" dirty="0">
                <a:latin typeface="Arial" panose="020B0604020202090204" pitchFamily="34" charset="0"/>
                <a:cs typeface="+mn-cs"/>
              </a:rPr>
              <a:t> e de </a:t>
            </a:r>
            <a:r>
              <a:rPr lang="pt-BR" sz="2000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comunicação</a:t>
            </a:r>
            <a:endParaRPr lang="pt-BR" sz="2000" dirty="0"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AutoNum type="arabicParenR"/>
              <a:defRPr/>
            </a:pPr>
            <a:endParaRPr lang="pt-BR" sz="2000" dirty="0"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None/>
              <a:defRPr/>
            </a:pPr>
            <a:r>
              <a:rPr lang="pt-BR" sz="2000" dirty="0">
                <a:latin typeface="Arial" panose="020B0604020202090204" pitchFamily="34" charset="0"/>
                <a:cs typeface="+mn-cs"/>
              </a:rPr>
              <a:t>2) Estabelecer uma organização para a manutenção  (</a:t>
            </a:r>
            <a:r>
              <a:rPr lang="ja-JP" altLang="pt-BR" sz="2000" dirty="0">
                <a:latin typeface="Arial" panose="020B0604020202090204" pitchFamily="34" charset="0"/>
                <a:cs typeface="+mn-cs"/>
              </a:rPr>
              <a:t>“</a:t>
            </a:r>
            <a:r>
              <a:rPr lang="pt-BR" sz="2000" dirty="0">
                <a:latin typeface="Arial" panose="020B0604020202090204" pitchFamily="34" charset="0"/>
                <a:cs typeface="+mn-cs"/>
              </a:rPr>
              <a:t>de fato" ou </a:t>
            </a:r>
            <a:r>
              <a:rPr lang="pt-BR" sz="2000" dirty="0" smtClean="0">
                <a:latin typeface="Arial" panose="020B0604020202090204" pitchFamily="34" charset="0"/>
                <a:cs typeface="+mn-cs"/>
              </a:rPr>
              <a:t>formal)</a:t>
            </a:r>
            <a:endParaRPr lang="pt-BR" sz="2000" dirty="0"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None/>
              <a:defRPr/>
            </a:pPr>
            <a:endParaRPr lang="pt-BR" sz="2000" u="sng" dirty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None/>
              <a:defRPr/>
            </a:pPr>
            <a:r>
              <a:rPr lang="pt-BR" sz="2000" dirty="0">
                <a:latin typeface="Arial" panose="020B0604020202090204" pitchFamily="34" charset="0"/>
                <a:cs typeface="+mn-cs"/>
              </a:rPr>
              <a:t>3) Definir </a:t>
            </a:r>
            <a:r>
              <a:rPr lang="pt-BR" sz="2000" u="sng" dirty="0" smtClean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sequências </a:t>
            </a:r>
            <a:r>
              <a:rPr lang="pt-BR" sz="2000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padronizadas</a:t>
            </a:r>
            <a:r>
              <a:rPr lang="pt-BR" sz="2000" dirty="0">
                <a:latin typeface="Arial" panose="020B0604020202090204" pitchFamily="34" charset="0"/>
                <a:cs typeface="+mn-cs"/>
              </a:rPr>
              <a:t> de eventos (para os pedidos de manutenção)</a:t>
            </a:r>
            <a:endParaRPr lang="pt-BR" sz="2000" dirty="0"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None/>
              <a:defRPr/>
            </a:pPr>
            <a:endParaRPr lang="pt-BR" sz="2000" dirty="0"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None/>
              <a:defRPr/>
            </a:pPr>
            <a:r>
              <a:rPr lang="pt-BR" sz="2000" dirty="0">
                <a:latin typeface="Arial" panose="020B0604020202090204" pitchFamily="34" charset="0"/>
                <a:cs typeface="+mn-cs"/>
              </a:rPr>
              <a:t>4) Estabelecer procedimentos para registrar a </a:t>
            </a:r>
            <a:r>
              <a:rPr lang="pt-BR" sz="2000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história</a:t>
            </a:r>
            <a:r>
              <a:rPr lang="pt-BR" sz="2000" u="sng" dirty="0">
                <a:solidFill>
                  <a:srgbClr val="224568"/>
                </a:solidFill>
                <a:latin typeface="Arial" panose="020B0604020202090204" pitchFamily="34" charset="0"/>
                <a:cs typeface="+mn-cs"/>
              </a:rPr>
              <a:t> </a:t>
            </a:r>
            <a:r>
              <a:rPr lang="pt-BR" sz="2000" dirty="0">
                <a:latin typeface="Arial" panose="020B0604020202090204" pitchFamily="34" charset="0"/>
                <a:cs typeface="+mn-cs"/>
              </a:rPr>
              <a:t>das atividades de manutenção</a:t>
            </a:r>
            <a:endParaRPr lang="pt-BR" sz="2000" dirty="0"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None/>
              <a:defRPr/>
            </a:pPr>
            <a:endParaRPr lang="pt-BR" sz="2000" dirty="0"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None/>
              <a:defRPr/>
            </a:pPr>
            <a:r>
              <a:rPr lang="pt-BR" sz="2000" dirty="0">
                <a:latin typeface="Arial" panose="020B0604020202090204" pitchFamily="34" charset="0"/>
                <a:cs typeface="+mn-cs"/>
              </a:rPr>
              <a:t>5) Definir critérios de </a:t>
            </a:r>
            <a:r>
              <a:rPr lang="pt-BR" sz="2000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revisão</a:t>
            </a:r>
            <a:r>
              <a:rPr lang="pt-BR" sz="2000" u="sng" dirty="0">
                <a:latin typeface="Arial" panose="020B0604020202090204" pitchFamily="34" charset="0"/>
                <a:cs typeface="+mn-cs"/>
              </a:rPr>
              <a:t> </a:t>
            </a:r>
            <a:r>
              <a:rPr lang="pt-BR" sz="2000" dirty="0">
                <a:latin typeface="Arial" panose="020B0604020202090204" pitchFamily="34" charset="0"/>
                <a:cs typeface="+mn-cs"/>
              </a:rPr>
              <a:t>e </a:t>
            </a:r>
            <a:r>
              <a:rPr lang="pt-BR" sz="2000" u="sng" dirty="0">
                <a:solidFill>
                  <a:schemeClr val="hlink"/>
                </a:solidFill>
                <a:latin typeface="Arial" panose="020B0604020202090204" pitchFamily="34" charset="0"/>
                <a:cs typeface="+mn-cs"/>
              </a:rPr>
              <a:t>avaliação</a:t>
            </a:r>
            <a:endParaRPr lang="pt-BR" sz="2000" u="sng" dirty="0">
              <a:solidFill>
                <a:schemeClr val="hlink"/>
              </a:solidFill>
              <a:latin typeface="Arial" panose="020B0604020202090204" pitchFamily="34" charset="0"/>
              <a:cs typeface="+mn-cs"/>
            </a:endParaRPr>
          </a:p>
          <a:p>
            <a:pPr marL="476250" indent="-476250" eaLnBrk="1" hangingPunct="1">
              <a:buFont typeface="Wingdings" panose="05000000000000000000" charset="0"/>
              <a:buAutoNum type="arabicParenR"/>
              <a:defRPr/>
            </a:pPr>
            <a:endParaRPr lang="pt-BR" sz="2000" dirty="0">
              <a:latin typeface="Arial" panose="020B0604020202090204" pitchFamily="34" charset="0"/>
              <a:cs typeface="+mn-cs"/>
            </a:endParaRPr>
          </a:p>
          <a:p>
            <a:pPr marL="1123950" lvl="1" indent="-457200" eaLnBrk="1" hangingPunct="1">
              <a:defRPr/>
            </a:pPr>
            <a:endParaRPr lang="en-US" sz="20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42155" y="-99392"/>
            <a:ext cx="9142413" cy="1143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pt-BR" sz="2800" b="1" dirty="0">
                <a:solidFill>
                  <a:schemeClr val="tx1"/>
                </a:solidFill>
                <a:latin typeface="Arial" panose="020B0604020202090204" pitchFamily="34" charset="0"/>
                <a:cs typeface="+mj-cs"/>
              </a:rPr>
              <a:t>Atividades Típicas do Mantenedor</a:t>
            </a:r>
            <a:endParaRPr lang="pt-BR" sz="2800" b="1" dirty="0">
              <a:solidFill>
                <a:schemeClr val="tx1"/>
              </a:solidFill>
              <a:latin typeface="Arial" panose="020B0604020202090204" pitchFamily="34" charset="0"/>
              <a:cs typeface="+mj-cs"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340768"/>
            <a:ext cx="8307387" cy="4419600"/>
          </a:xfrm>
        </p:spPr>
        <p:txBody>
          <a:bodyPr lIns="92075" tIns="46038" rIns="92075" bIns="46038"/>
          <a:lstStyle/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Estudar especificações e projetos do sistema;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Interagir com os usuários;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Examinar programas e sua documentação;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Descobrir erros e deficiências nos programas fontes;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Projetar uma alteração em programa;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Modificar um programa;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Revalidar um programa;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Atualizar a documentação do programa.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228600" y="6399213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 anchor="ctr"/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Manutenção de Software</a:t>
            </a:r>
            <a:endParaRPr lang="pt-BR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09128" y="-162272"/>
            <a:ext cx="6539136" cy="1143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j-cs"/>
              </a:rPr>
              <a:t>Funções Básicas na Alteração de </a:t>
            </a:r>
            <a:r>
              <a:rPr lang="pt-BR" sz="2800" dirty="0" smtClean="0">
                <a:solidFill>
                  <a:srgbClr val="000000"/>
                </a:solidFill>
                <a:latin typeface="Arial" panose="020B0604020202090204" pitchFamily="34" charset="0"/>
                <a:cs typeface="+mj-cs"/>
              </a:rPr>
              <a:t>Software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j-cs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268760"/>
            <a:ext cx="7793038" cy="3678237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  <a:buFont typeface="Wingdings" panose="05000000000000000000" charset="0"/>
              <a:buNone/>
              <a:defRPr/>
            </a:pPr>
            <a:r>
              <a:rPr lang="pt-BR" sz="2800" b="1" dirty="0">
                <a:latin typeface="Arial" panose="020B0604020202090204" pitchFamily="34" charset="0"/>
                <a:cs typeface="+mn-cs"/>
              </a:rPr>
              <a:t>a) Entender o software e a mudança a ser    feita (50%);</a:t>
            </a:r>
            <a:endParaRPr lang="pt-BR" sz="2800" b="1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lnSpc>
                <a:spcPct val="140000"/>
              </a:lnSpc>
              <a:buFont typeface="Wingdings" panose="05000000000000000000" charset="0"/>
              <a:buNone/>
              <a:defRPr/>
            </a:pPr>
            <a:r>
              <a:rPr lang="pt-BR" sz="2800" b="1" dirty="0" err="1">
                <a:latin typeface="Arial" panose="020B0604020202090204" pitchFamily="34" charset="0"/>
                <a:cs typeface="+mn-cs"/>
              </a:rPr>
              <a:t>b</a:t>
            </a:r>
            <a:r>
              <a:rPr lang="pt-BR" sz="2800" b="1" dirty="0">
                <a:latin typeface="Arial" panose="020B0604020202090204" pitchFamily="34" charset="0"/>
                <a:cs typeface="+mn-cs"/>
              </a:rPr>
              <a:t>) Modificar o software para incorporar a mudança (25%);</a:t>
            </a:r>
            <a:endParaRPr lang="pt-BR" sz="2800" b="1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lnSpc>
                <a:spcPct val="140000"/>
              </a:lnSpc>
              <a:buFont typeface="Wingdings" panose="05000000000000000000" charset="0"/>
              <a:buNone/>
              <a:defRPr/>
            </a:pPr>
            <a:r>
              <a:rPr lang="pt-BR" sz="2800" b="1" dirty="0" err="1">
                <a:latin typeface="Arial" panose="020B0604020202090204" pitchFamily="34" charset="0"/>
                <a:cs typeface="+mn-cs"/>
              </a:rPr>
              <a:t>c</a:t>
            </a:r>
            <a:r>
              <a:rPr lang="pt-BR" sz="2800" b="1" dirty="0">
                <a:latin typeface="Arial" panose="020B0604020202090204" pitchFamily="34" charset="0"/>
                <a:cs typeface="+mn-cs"/>
              </a:rPr>
              <a:t>) Revalidar o software (25%).</a:t>
            </a:r>
            <a:endParaRPr lang="pt-BR" sz="2800" b="1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28600" y="6399213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 anchor="ctr"/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Manutenção de Software</a:t>
            </a:r>
            <a:endParaRPr lang="pt-BR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9973" y="-90264"/>
            <a:ext cx="6264275" cy="1143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defRPr/>
            </a:pPr>
            <a:r>
              <a:rPr lang="pt-BR" sz="2800" b="0" dirty="0">
                <a:solidFill>
                  <a:srgbClr val="000000"/>
                </a:solidFill>
                <a:latin typeface="Arial" panose="020B0604020202090204" pitchFamily="34" charset="0"/>
                <a:cs typeface="+mj-cs"/>
              </a:rPr>
              <a:t>Custos do Software</a:t>
            </a:r>
            <a:endParaRPr lang="pt-BR" sz="2800" b="0" dirty="0">
              <a:solidFill>
                <a:srgbClr val="000000"/>
              </a:solidFill>
              <a:latin typeface="Arial" panose="020B0604020202090204" pitchFamily="34" charset="0"/>
              <a:cs typeface="+mj-cs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628800"/>
            <a:ext cx="8839200" cy="2971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7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Desenvolvimento ................   30 - 40 %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lnSpc>
                <a:spcPct val="17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8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Manutenção ........................   70 - 60 %</a:t>
            </a:r>
            <a:endParaRPr lang="pt-BR" sz="28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228600" y="6399213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 anchor="ctr"/>
          <a:lstStyle/>
          <a:p>
            <a:pPr algn="l"/>
            <a:r>
              <a:rPr lang="pt-BR" sz="1600" b="1">
                <a:solidFill>
                  <a:schemeClr val="bg1"/>
                </a:solidFill>
              </a:rPr>
              <a:t>Manutenção de Software</a:t>
            </a:r>
            <a:endParaRPr lang="pt-BR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11981" y="-171400"/>
            <a:ext cx="6264275" cy="1143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defRPr/>
            </a:pPr>
            <a:r>
              <a:rPr lang="pt-BR" sz="2800" b="0" dirty="0">
                <a:solidFill>
                  <a:srgbClr val="000000"/>
                </a:solidFill>
                <a:latin typeface="Arial" panose="020B0604020202090204" pitchFamily="34" charset="0"/>
                <a:cs typeface="+mj-cs"/>
              </a:rPr>
              <a:t>Alternativas para Reduzir a Manutenção de Software</a:t>
            </a:r>
            <a:endParaRPr lang="pt-BR" sz="2800" b="0" dirty="0">
              <a:solidFill>
                <a:srgbClr val="000000"/>
              </a:solidFill>
              <a:latin typeface="Arial" panose="020B0604020202090204" pitchFamily="34" charset="0"/>
              <a:cs typeface="+mj-cs"/>
            </a:endParaRP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268760"/>
            <a:ext cx="8297862" cy="4554538"/>
          </a:xfrm>
        </p:spPr>
        <p:txBody>
          <a:bodyPr lIns="92075" tIns="46038" rIns="92075" bIns="46038"/>
          <a:lstStyle/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400" b="1" dirty="0">
                <a:latin typeface="Arial" panose="020B0604020202090204" pitchFamily="34" charset="0"/>
                <a:cs typeface="+mn-cs"/>
              </a:rPr>
              <a:t>Não fazer nada.  Apenas continuar como está;</a:t>
            </a:r>
            <a:endParaRPr lang="pt-BR" sz="2400" b="1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400" b="1" dirty="0">
                <a:latin typeface="Arial" panose="020B0604020202090204" pitchFamily="34" charset="0"/>
                <a:cs typeface="+mn-cs"/>
              </a:rPr>
              <a:t>Adicionar mais pessoal para o desenvolvimento e manutenção;</a:t>
            </a:r>
            <a:endParaRPr lang="pt-BR" sz="2400" b="1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400" b="1" dirty="0">
                <a:latin typeface="Arial" panose="020B0604020202090204" pitchFamily="34" charset="0"/>
                <a:cs typeface="+mn-cs"/>
              </a:rPr>
              <a:t>Planejar a manutenção de software focalizando novas tecnologias para construir sistemas mais fáceis de se manter e gradativamente substituir os atuais;</a:t>
            </a:r>
            <a:endParaRPr lang="pt-BR" sz="2400" b="1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400" b="1" dirty="0">
                <a:latin typeface="Arial" panose="020B0604020202090204" pitchFamily="34" charset="0"/>
                <a:cs typeface="+mn-cs"/>
              </a:rPr>
              <a:t>Adotar um plano agressivo para reescrever sistemas atuais o quanto possível;</a:t>
            </a:r>
            <a:endParaRPr lang="pt-BR" sz="2400" b="1" dirty="0">
              <a:latin typeface="Arial" panose="020B0604020202090204" pitchFamily="34" charset="0"/>
              <a:cs typeface="+mn-cs"/>
            </a:endParaRPr>
          </a:p>
          <a:p>
            <a:pPr eaLnBrk="1" hangingPunct="1"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400" b="1" dirty="0">
                <a:latin typeface="Arial" panose="020B0604020202090204" pitchFamily="34" charset="0"/>
                <a:cs typeface="+mn-cs"/>
              </a:rPr>
              <a:t>Adotar ferramentas automatizadas para melhorar a manutenção e tecnologia dos sistemas atuais.</a:t>
            </a:r>
            <a:endParaRPr lang="pt-BR" sz="2400" b="1" dirty="0"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16632"/>
            <a:ext cx="5829312" cy="571504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 smtClean="0">
                <a:ea typeface="+mj-ea"/>
                <a:cs typeface="+mj-cs"/>
              </a:rPr>
              <a:t>Engenharia Reversa</a:t>
            </a:r>
            <a:endParaRPr lang="en-US" dirty="0" smtClean="0">
              <a:ea typeface="+mj-ea"/>
              <a:cs typeface="+mj-cs"/>
            </a:endParaRP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760"/>
            <a:ext cx="8229600" cy="4525962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P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rocesso </a:t>
            </a:r>
            <a:r>
              <a:rPr lang="pt-BR" sz="24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de análise de um software, partindo-se inicialmente da implementação para um nível mais alto de 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abstração</a:t>
            </a:r>
            <a:endParaRPr lang="pt-BR" sz="2400" dirty="0" smtClean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pt-BR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É o processo de analisar o software para reconstruir uma descrição de seus componentes e seus relacionamentos.  Uma descrição de alto nível do programa é obtida a partir do programa físico.  </a:t>
            </a:r>
            <a:endParaRPr lang="pt-BR" sz="24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pt-BR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O propósito é redocumentar o sistema e descobrir informações do projeto com o auxílio na melhoria da compreensão do programa.</a:t>
            </a:r>
            <a:endParaRPr lang="pt-BR" sz="24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endParaRPr lang="en-US" sz="24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mtClean="0">
                <a:ea typeface="+mj-ea"/>
                <a:cs typeface="+mj-cs"/>
              </a:rPr>
              <a:t>Reengenharia</a:t>
            </a:r>
            <a:endParaRPr lang="en-US" smtClean="0">
              <a:ea typeface="+mj-ea"/>
              <a:cs typeface="+mj-cs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268760"/>
            <a:ext cx="8229600" cy="4525962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I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mplica </a:t>
            </a:r>
            <a:r>
              <a:rPr lang="pt-BR" sz="2400" dirty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no exame e na alteração do software para reconstruí-lo em uma nova forma</a:t>
            </a:r>
            <a:r>
              <a:rPr lang="pt-BR" sz="2400" dirty="0" smtClean="0">
                <a:solidFill>
                  <a:srgbClr val="000000"/>
                </a:solidFill>
                <a:latin typeface="Arial" panose="020B0604020202090204" pitchFamily="34" charset="0"/>
                <a:cs typeface="+mn-cs"/>
              </a:rPr>
              <a:t>.</a:t>
            </a:r>
            <a:endParaRPr lang="pt-BR" sz="2400" dirty="0" smtClean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  <a:p>
            <a:pPr algn="ctr">
              <a:lnSpc>
                <a:spcPct val="130000"/>
              </a:lnSpc>
              <a:buFontTx/>
              <a:buNone/>
              <a:defRPr/>
            </a:pPr>
            <a:r>
              <a:rPr lang="ja-JP" altLang="pt-BR" sz="24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cs typeface="+mn-cs"/>
              </a:rPr>
              <a:t>“</a:t>
            </a:r>
            <a:r>
              <a:rPr lang="pt-BR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Reengenharia é o processo de examinar software existente e/ou modificá-lo com ajuda de ferramentas automatizadas para:</a:t>
            </a:r>
            <a:endParaRPr lang="pt-BR" sz="24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 lvl="1">
              <a:lnSpc>
                <a:spcPct val="130000"/>
              </a:lnSpc>
              <a:buClr>
                <a:srgbClr val="0033CC"/>
              </a:buClr>
              <a:buFont typeface="Monotype Sorts" charset="0"/>
              <a:buChar char="n"/>
              <a:defRPr/>
            </a:pPr>
            <a:r>
              <a:rPr lang="pt-BR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</a:rPr>
              <a:t>Melhorar sua futura manutenção; </a:t>
            </a:r>
            <a:endParaRPr lang="pt-BR" sz="24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</a:endParaRPr>
          </a:p>
          <a:p>
            <a:pPr lvl="1">
              <a:lnSpc>
                <a:spcPct val="130000"/>
              </a:lnSpc>
              <a:buClr>
                <a:srgbClr val="0033CC"/>
              </a:buClr>
              <a:buFont typeface="Monotype Sorts" charset="0"/>
              <a:buChar char="n"/>
              <a:defRPr/>
            </a:pPr>
            <a:r>
              <a:rPr lang="pt-BR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</a:rPr>
              <a:t>Atualizar sua tecnologia;</a:t>
            </a:r>
            <a:endParaRPr lang="pt-BR" sz="24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</a:endParaRPr>
          </a:p>
          <a:p>
            <a:pPr lvl="1">
              <a:lnSpc>
                <a:spcPct val="130000"/>
              </a:lnSpc>
              <a:buClr>
                <a:srgbClr val="0033CC"/>
              </a:buClr>
              <a:buFont typeface="Monotype Sorts" charset="0"/>
              <a:buChar char="n"/>
              <a:defRPr/>
            </a:pPr>
            <a:r>
              <a:rPr lang="pt-BR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</a:rPr>
              <a:t>Estender sua expectativa de vida;</a:t>
            </a:r>
            <a:endParaRPr lang="pt-BR" sz="24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</a:endParaRPr>
          </a:p>
          <a:p>
            <a:pPr lvl="1">
              <a:lnSpc>
                <a:spcPct val="130000"/>
              </a:lnSpc>
              <a:buClr>
                <a:srgbClr val="0033CC"/>
              </a:buClr>
              <a:buFont typeface="Monotype Sorts" charset="0"/>
              <a:buChar char="n"/>
              <a:defRPr/>
            </a:pPr>
            <a:r>
              <a:rPr lang="pt-BR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</a:rPr>
              <a:t>Aumentar a produtividade da manutenção.</a:t>
            </a:r>
            <a:endParaRPr lang="pt-BR" sz="24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</a:endParaRPr>
          </a:p>
          <a:p>
            <a:pPr eaLnBrk="1" hangingPunct="1">
              <a:defRPr/>
            </a:pPr>
            <a:endParaRPr lang="pt-BR" sz="240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93200"/>
            <a:ext cx="5829312" cy="571504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 smtClean="0">
                <a:ea typeface="+mj-ea"/>
                <a:cs typeface="+mj-cs"/>
              </a:rPr>
              <a:t>Objetivos da Reengenharia</a:t>
            </a:r>
            <a:endParaRPr lang="en-US" dirty="0" smtClean="0">
              <a:ea typeface="+mj-ea"/>
              <a:cs typeface="+mj-cs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584" y="969963"/>
            <a:ext cx="9144000" cy="4525962"/>
          </a:xfrm>
        </p:spPr>
        <p:txBody>
          <a:bodyPr/>
          <a:lstStyle/>
          <a:p>
            <a:pPr>
              <a:lnSpc>
                <a:spcPct val="13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Criar um inventário dos sistemas existentes;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3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Fornecer assistência automatizada para a manutenção;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3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Reduzir custos e erros de manutenção;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3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Tornar o sistema mais fácil de compreender, modificar e testar.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2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Facilitar a conversão e migração do sistema;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2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Reforçar a aderência a padrões;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2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Melhorar a resposta às solicitações de manutenção;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2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Melhorar o ânimo do pessoal de manutenção;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2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Proteger e estender a vida do sistema;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3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Utilizar CASE para suportar sistemas atuais;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3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Reutilizar componentes de sistemas existentes.</a:t>
            </a:r>
            <a:endParaRPr lang="pt-BR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3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endParaRPr lang="pt-BR" sz="2000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 smtClean="0">
                <a:ea typeface="+mj-ea"/>
                <a:cs typeface="+mj-cs"/>
              </a:rPr>
              <a:t>Razões para Reengenharia</a:t>
            </a:r>
            <a:endParaRPr lang="en-US" dirty="0" smtClean="0">
              <a:ea typeface="+mj-ea"/>
              <a:cs typeface="+mj-cs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568" y="987425"/>
            <a:ext cx="9144000" cy="4525963"/>
          </a:xfrm>
        </p:spPr>
        <p:txBody>
          <a:bodyPr/>
          <a:lstStyle/>
          <a:p>
            <a:pPr>
              <a:lnSpc>
                <a:spcPct val="11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Frequentes falhas de produção;</a:t>
            </a:r>
            <a:endParaRPr lang="pt-BR" b="1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1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 Problemas de desempenho;</a:t>
            </a:r>
            <a:endParaRPr lang="pt-BR" b="1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1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 Tecnologia obsoleta;</a:t>
            </a:r>
            <a:endParaRPr lang="pt-BR" b="1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1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 Problemas de integração de sistemas;</a:t>
            </a:r>
            <a:endParaRPr lang="pt-BR" b="1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1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 Qualidade técnica ruim;</a:t>
            </a:r>
            <a:endParaRPr lang="pt-BR" b="1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1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 Dificuldades para testar e caro para manter;</a:t>
            </a:r>
            <a:endParaRPr lang="pt-BR" b="1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1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r>
              <a:rPr lang="pt-BR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anose="020B0604020202090204" pitchFamily="34" charset="0"/>
                <a:cs typeface="+mn-cs"/>
              </a:rPr>
              <a:t> Problemas crescentes no sistema.</a:t>
            </a:r>
            <a:endParaRPr lang="pt-BR" dirty="0" smtClean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  <a:p>
            <a:pPr>
              <a:lnSpc>
                <a:spcPct val="130000"/>
              </a:lnSpc>
              <a:buClr>
                <a:srgbClr val="9966FF"/>
              </a:buClr>
              <a:buSzPct val="75000"/>
              <a:buFont typeface="Monotype Sorts" charset="0"/>
              <a:buChar char="n"/>
              <a:defRPr/>
            </a:pPr>
            <a:endParaRPr lang="pt-BR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panose="020B0604020202090204" pitchFamily="34" charset="0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42888" y="116632"/>
            <a:ext cx="5829312" cy="571504"/>
          </a:xfrm>
        </p:spPr>
        <p:txBody>
          <a:bodyPr/>
          <a:lstStyle/>
          <a:p>
            <a:pPr eaLnBrk="1" hangingPunct="1">
              <a:defRPr/>
            </a:pPr>
            <a:r>
              <a:rPr lang="pt-BR" sz="2800" dirty="0" smtClean="0">
                <a:ea typeface="+mj-ea"/>
                <a:cs typeface="+mj-cs"/>
              </a:rPr>
              <a:t>Engenharia Reversa e Reengenharia</a:t>
            </a:r>
            <a:endParaRPr lang="en-US" sz="2800" dirty="0" smtClean="0">
              <a:ea typeface="+mj-ea"/>
              <a:cs typeface="+mj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268760"/>
            <a:ext cx="7888287" cy="4579938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6412</Words>
  <Application>WPS Spreadsheets</Application>
  <PresentationFormat>On-screen Show (4:3)</PresentationFormat>
  <Paragraphs>226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SimSun</vt:lpstr>
      <vt:lpstr>Wingdings</vt:lpstr>
      <vt:lpstr>MS PGothic</vt:lpstr>
      <vt:lpstr>Hiragino Maru Gothic ProN</vt:lpstr>
      <vt:lpstr>Calibri</vt:lpstr>
      <vt:lpstr>Helvetica Neue</vt:lpstr>
      <vt:lpstr>Arial Black</vt:lpstr>
      <vt:lpstr>Garamond</vt:lpstr>
      <vt:lpstr/>
      <vt:lpstr>Wingdings</vt:lpstr>
      <vt:lpstr>Monotype Sorts</vt:lpstr>
      <vt:lpstr>微软雅黑</vt:lpstr>
      <vt:lpstr>汉仪旗黑</vt:lpstr>
      <vt:lpstr>Arial Unicode MS</vt:lpstr>
      <vt:lpstr>宋体-简</vt:lpstr>
      <vt:lpstr>Tema do Office</vt:lpstr>
      <vt:lpstr>Manutenção de Software</vt:lpstr>
      <vt:lpstr>Conceito</vt:lpstr>
      <vt:lpstr>Ciclo de Vida de Software</vt:lpstr>
      <vt:lpstr>Sinônimos de Manutenção</vt:lpstr>
      <vt:lpstr>Categorias de Manutenção</vt:lpstr>
      <vt:lpstr>Categorias de Manutenção</vt:lpstr>
      <vt:lpstr>Categorias de Manutenção</vt:lpstr>
      <vt:lpstr>Distribuição do Esforço</vt:lpstr>
      <vt:lpstr>A Fase de Manutenção de Software</vt:lpstr>
      <vt:lpstr>A Fase de Manutenção de Software</vt:lpstr>
      <vt:lpstr>Custo de Manutenção</vt:lpstr>
      <vt:lpstr>Custo de Manutenção</vt:lpstr>
      <vt:lpstr>Problemas da Manutenção</vt:lpstr>
      <vt:lpstr>Problemas da Manutenção</vt:lpstr>
      <vt:lpstr>Problemas da Manutenção</vt:lpstr>
      <vt:lpstr>Manutenibilidade</vt:lpstr>
      <vt:lpstr>Manutenibilidade</vt:lpstr>
      <vt:lpstr>Tarefas de Manutenção</vt:lpstr>
      <vt:lpstr>Atividades Típicas do Mantenedor</vt:lpstr>
      <vt:lpstr>Funções Básicas na Alteração de Software</vt:lpstr>
      <vt:lpstr>Custos do Software</vt:lpstr>
      <vt:lpstr>Alternativas para Reduzir a Manutenção de Software</vt:lpstr>
      <vt:lpstr>Engenharia Reversa</vt:lpstr>
      <vt:lpstr>Reengenharia</vt:lpstr>
      <vt:lpstr>Objetivos da Reengenharia</vt:lpstr>
      <vt:lpstr>Razões para Reengenharia</vt:lpstr>
      <vt:lpstr>Engenharia Reversa e Reengenharia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sandrobezerra</cp:lastModifiedBy>
  <cp:revision>77</cp:revision>
  <dcterms:created xsi:type="dcterms:W3CDTF">2024-10-17T12:42:46Z</dcterms:created>
  <dcterms:modified xsi:type="dcterms:W3CDTF">2024-10-17T12:42:46Z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1033-3.2.0.6370</vt:lpwstr>
  </property>
</Properties>
</file>