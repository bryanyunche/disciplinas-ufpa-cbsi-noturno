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024f8dec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024f8dec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024f8dec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024f8dec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024f8dec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024f8dec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024f8dec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b024f8dec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024f8dec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b024f8dec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024f8dec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024f8dec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024f8dec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b024f8dec1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024f8dec1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024f8dec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024f8dec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024f8dec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024f8dec1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024f8dec1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024f8dec1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024f8dec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024f8dec1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024f8dec1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024f8dec1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024f8dec1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024f8dec1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024f8dec1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024f8dec1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024f8dec1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024f8dec1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b024f8dec1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024f8dec1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b024f8dec1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b024f8dec1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b024f8dec1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024f8dec1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b024f8dec1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024f8dec1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b024f8dec1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024f8dec1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b024f8dec1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b024f8dec1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b024f8dec1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b024f8dec1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b024f8dec1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024f8dec1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b024f8dec1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b024f8dec1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b024f8dec1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b024f8dec1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b024f8dec1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b024f8dec1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b024f8dec1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b024f8dec1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b024f8dec1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cs.google.com/presentation/d/1xOHa1rWZV2z5iCIsY_2vT7fthSYyzzBi/edit?usp=sharing&amp;ouid=106518696571208942024&amp;rtpof=true&amp;sd=true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docs.google.com/presentation/d/12U6TsfFXrnkOw8bpBbSR8QZhWkPPrenN/edit?usp=sharing&amp;ouid=106518696571208942024&amp;rtpof=true&amp;sd=true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docs.google.com/presentation/d/14xNaWOMo90EZ9Q9wsGVgjGI9wX2h-DjF/edit?usp=sharing&amp;ouid=106518696571208942024&amp;rtpof=true&amp;sd=true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docs.google.com/presentation/d/12U6TsfFXrnkOw8bpBbSR8QZhWkPPrenN/edit?usp=sharing&amp;ouid=106518696571208942024&amp;rtpof=true&amp;sd=true" TargetMode="External"/><Relationship Id="rId4" Type="http://schemas.openxmlformats.org/officeDocument/2006/relationships/hyperlink" Target="https://archive.ics.uci.edu/dataset/53/iris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docs.google.com/presentation/d/1NUvear1JqbXl5niNBt-0W4WOHuchj0YG/edit?usp=sharing&amp;ouid=106518696571208942024&amp;rtpof=true&amp;sd=true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275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Expected values, Surprise, Entropy, Cross-entropy loss, Softmax e True labels (one-hot encoded)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231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Instruções (requisitos) 3-1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863550"/>
            <a:ext cx="8520600" cy="39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/>
              <a:t>Fazer cada atividade no Jupyter (Collab). Poste apenas os links.</a:t>
            </a:r>
            <a:endParaRPr sz="25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500"/>
              <a:t>Crie um novo repositório para a segunda avaliação. Coloque no repositório esta atividade e a Atividade 2.1. O repositório deve ser privado. Coloque-me como colaborador.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500"/>
              <a:t>Para cada parte da atividade, colocar como figuras os slides do comando do problema antes de cada solução.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231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Instruções (requisitos) 3-2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863550"/>
            <a:ext cx="8520600" cy="39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Quando eu falar “faça a análise os resultados”, a análise deve estar em um célula de texto. Sem a análise detalhada, a tarefa não será avaliada. Na verdade, eu não preciso falar nada: cada parte da atividade sempre tem de ter análises de resultados e conclusão.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231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Instruções (requisitos) 3-3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863550"/>
            <a:ext cx="8520600" cy="39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Caso algum requisito esteja faltando, sua tarefa não será analisada.</a:t>
            </a:r>
            <a:endParaRPr sz="3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2150850"/>
            <a:ext cx="8520600" cy="162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- surpresa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Parte 4 - Surprise.pptx</a:t>
            </a:r>
            <a:r>
              <a:rPr lang="pt-BR"/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311700" y="-29925"/>
            <a:ext cx="8520600" cy="27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Simule três moedas:</a:t>
            </a:r>
            <a:endParaRPr sz="3000"/>
          </a:p>
          <a:p>
            <a:pPr indent="-419100" lvl="0" marL="457200" rtl="0" algn="just">
              <a:spcBef>
                <a:spcPts val="1200"/>
              </a:spcBef>
              <a:spcAft>
                <a:spcPts val="0"/>
              </a:spcAft>
              <a:buSzPts val="3000"/>
              <a:buChar char="-"/>
            </a:pPr>
            <a:r>
              <a:rPr lang="pt-BR" sz="3000"/>
              <a:t>Uma moeda justa</a:t>
            </a:r>
            <a:endParaRPr sz="3000"/>
          </a:p>
          <a:p>
            <a:pPr indent="-419100" lvl="0" marL="457200" rtl="0" algn="just">
              <a:spcBef>
                <a:spcPts val="0"/>
              </a:spcBef>
              <a:spcAft>
                <a:spcPts val="0"/>
              </a:spcAft>
              <a:buSzPts val="3000"/>
              <a:buChar char="-"/>
            </a:pPr>
            <a:r>
              <a:rPr lang="pt-BR" sz="3000"/>
              <a:t>Uma moeda 90/10</a:t>
            </a:r>
            <a:endParaRPr sz="3000"/>
          </a:p>
          <a:p>
            <a:pPr indent="-419100" lvl="0" marL="457200" rtl="0" algn="just">
              <a:spcBef>
                <a:spcPts val="0"/>
              </a:spcBef>
              <a:spcAft>
                <a:spcPts val="0"/>
              </a:spcAft>
              <a:buSzPts val="3000"/>
              <a:buChar char="-"/>
            </a:pPr>
            <a:r>
              <a:rPr lang="pt-BR" sz="3000"/>
              <a:t>A moeda do slide a seguir</a:t>
            </a:r>
            <a:endParaRPr sz="3000"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000"/>
          </a:p>
        </p:txBody>
      </p:sp>
      <p:pic>
        <p:nvPicPr>
          <p:cNvPr id="83" name="Google Shape;8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950" y="2424725"/>
            <a:ext cx="8060099" cy="179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ptura de Tela (32538).png" id="88" name="Google Shape;8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>
            <p:ph idx="1" type="body"/>
          </p:nvPr>
        </p:nvSpPr>
        <p:spPr>
          <a:xfrm>
            <a:off x="197975" y="-29925"/>
            <a:ext cx="86343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Para cada moeda:</a:t>
            </a:r>
            <a:endParaRPr sz="3000"/>
          </a:p>
          <a:p>
            <a:pPr indent="-404813" lvl="0" marL="457200" rtl="0" algn="just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pt-BR" sz="3000"/>
              <a:t>Execute a simulação 10, 100 e 1000 vezes</a:t>
            </a:r>
            <a:endParaRPr sz="3000"/>
          </a:p>
          <a:p>
            <a:pPr indent="-404813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 sz="3000"/>
              <a:t>Calcule a surpresa média</a:t>
            </a:r>
            <a:endParaRPr sz="3000"/>
          </a:p>
          <a:p>
            <a:pPr indent="-404813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t-BR" sz="3000"/>
              <a:t>Calcule usando a fórmula </a:t>
            </a:r>
            <a:endParaRPr sz="3000"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3000"/>
              <a:t>Em um único gráfico de barras, coloque os valores teóricos, e os valores obtidos das simulações para todos os valores de repetição e para todas as moedas. Veja a melhor estratégia de exposição dos resultados. Analise os resultados.</a:t>
            </a:r>
            <a:endParaRPr sz="3000"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 - entropia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/>
          <p:nvPr>
            <p:ph idx="1" type="body"/>
          </p:nvPr>
        </p:nvSpPr>
        <p:spPr>
          <a:xfrm>
            <a:off x="311700" y="-29925"/>
            <a:ext cx="8520600" cy="27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/>
              <a:t>Considere o cenário hipotético no qual as features e os parâmetros da rede neural não são apresentados, mas apenas a sua saída na forma de </a:t>
            </a:r>
            <a:r>
              <a:rPr i="1" lang="pt-BR" sz="3000">
                <a:latin typeface="Georgia"/>
                <a:ea typeface="Georgia"/>
                <a:cs typeface="Georgia"/>
                <a:sym typeface="Georgia"/>
              </a:rPr>
              <a:t>raw logits</a:t>
            </a:r>
            <a:r>
              <a:rPr lang="pt-BR" sz="3000"/>
              <a:t> para um </a:t>
            </a:r>
            <a:r>
              <a:rPr i="1" lang="pt-BR" sz="3000">
                <a:latin typeface="Georgia"/>
                <a:ea typeface="Georgia"/>
                <a:cs typeface="Georgia"/>
                <a:sym typeface="Georgia"/>
              </a:rPr>
              <a:t>3-class classification problem</a:t>
            </a:r>
            <a:r>
              <a:rPr lang="pt-BR" sz="3000"/>
              <a:t>, como no exemplo abaixo:</a:t>
            </a:r>
            <a:endParaRPr sz="3000"/>
          </a:p>
        </p:txBody>
      </p:sp>
      <p:pic>
        <p:nvPicPr>
          <p:cNvPr id="104" name="Google Shape;10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8375" y="2837000"/>
            <a:ext cx="4177225" cy="211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3"/>
          <p:cNvSpPr txBox="1"/>
          <p:nvPr>
            <p:ph idx="1" type="body"/>
          </p:nvPr>
        </p:nvSpPr>
        <p:spPr>
          <a:xfrm>
            <a:off x="311700" y="122475"/>
            <a:ext cx="8520600" cy="24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/>
              <a:t>São usadas apenas três amostradas para treinar a rede. A primeira amostra da Classe 1 (1 0 0), a segunda da Classe 2 (0 1 0) e a terceira da Classe 3 (0 0 1)</a:t>
            </a:r>
            <a:endParaRPr sz="3000"/>
          </a:p>
        </p:txBody>
      </p:sp>
      <p:pic>
        <p:nvPicPr>
          <p:cNvPr id="110" name="Google Shape;11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7225" y="2962000"/>
            <a:ext cx="2844676" cy="218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446225" y="2328700"/>
            <a:ext cx="75267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/>
              <a:t>True labels (one-hot encoded): </a:t>
            </a:r>
            <a:endParaRPr sz="3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4"/>
          <p:cNvSpPr txBox="1"/>
          <p:nvPr>
            <p:ph idx="1" type="body"/>
          </p:nvPr>
        </p:nvSpPr>
        <p:spPr>
          <a:xfrm>
            <a:off x="132675" y="0"/>
            <a:ext cx="8733300" cy="27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/>
              <a:t>No seu programa será simulada iterativamente apenas a saída da rede na forma </a:t>
            </a:r>
            <a:r>
              <a:rPr i="1" lang="pt-BR" sz="3000">
                <a:latin typeface="Georgia"/>
                <a:ea typeface="Georgia"/>
                <a:cs typeface="Georgia"/>
                <a:sym typeface="Georgia"/>
              </a:rPr>
              <a:t>raw logits</a:t>
            </a:r>
            <a:r>
              <a:rPr lang="pt-BR" sz="3000"/>
              <a:t>, sem considerar os seus parâmetros e as features. A primeira saída será aleatória no formato mostrado abaixo, com valores entre 0.1 a 3.0:</a:t>
            </a:r>
            <a:endParaRPr sz="3000"/>
          </a:p>
        </p:txBody>
      </p:sp>
      <p:pic>
        <p:nvPicPr>
          <p:cNvPr id="117" name="Google Shape;11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3375" y="2872725"/>
            <a:ext cx="4177225" cy="211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4"/>
          <p:cNvSpPr txBox="1"/>
          <p:nvPr>
            <p:ph idx="1" type="body"/>
          </p:nvPr>
        </p:nvSpPr>
        <p:spPr>
          <a:xfrm>
            <a:off x="6240600" y="2911121"/>
            <a:ext cx="2740200" cy="13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/>
              <a:t>Use a semente gerada a partir do relógio do sistema </a:t>
            </a:r>
            <a:endParaRPr sz="2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5"/>
          <p:cNvSpPr txBox="1"/>
          <p:nvPr>
            <p:ph idx="1" type="body"/>
          </p:nvPr>
        </p:nvSpPr>
        <p:spPr>
          <a:xfrm>
            <a:off x="311700" y="122475"/>
            <a:ext cx="8520600" cy="13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/>
              <a:t>A partir desta saída, aplique a função softmax para gerar probabilidades</a:t>
            </a:r>
            <a:endParaRPr sz="3000"/>
          </a:p>
        </p:txBody>
      </p:sp>
      <p:pic>
        <p:nvPicPr>
          <p:cNvPr id="124" name="Google Shape;12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075" y="1801175"/>
            <a:ext cx="2186825" cy="110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8275" y="1888125"/>
            <a:ext cx="3009900" cy="933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" name="Google Shape;126;p25"/>
          <p:cNvCxnSpPr>
            <a:endCxn id="125" idx="1"/>
          </p:cNvCxnSpPr>
          <p:nvPr/>
        </p:nvCxnSpPr>
        <p:spPr>
          <a:xfrm>
            <a:off x="2767975" y="2354850"/>
            <a:ext cx="11703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27" name="Google Shape;127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17730" y="3168100"/>
            <a:ext cx="5216696" cy="9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5"/>
          <p:cNvSpPr txBox="1"/>
          <p:nvPr>
            <p:ph idx="1" type="body"/>
          </p:nvPr>
        </p:nvSpPr>
        <p:spPr>
          <a:xfrm>
            <a:off x="132675" y="3168101"/>
            <a:ext cx="2893200" cy="175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/>
              <a:t>Inclua no trabalho alguns slides sobre a função softmax e a versão que você usar da função softmax</a:t>
            </a:r>
            <a:endParaRPr sz="2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>
            <p:ph idx="1" type="body"/>
          </p:nvPr>
        </p:nvSpPr>
        <p:spPr>
          <a:xfrm>
            <a:off x="311700" y="122475"/>
            <a:ext cx="8520600" cy="12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/>
              <a:t>Nota: veja que cada linha na matriz se refere a uma das três amostras, e cada coluna a uma das classes</a:t>
            </a:r>
            <a:endParaRPr sz="3000"/>
          </a:p>
        </p:txBody>
      </p:sp>
      <p:pic>
        <p:nvPicPr>
          <p:cNvPr id="134" name="Google Shape;13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150" y="1322475"/>
            <a:ext cx="2186825" cy="1107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" name="Google Shape;135;p26"/>
          <p:cNvCxnSpPr/>
          <p:nvPr/>
        </p:nvCxnSpPr>
        <p:spPr>
          <a:xfrm>
            <a:off x="2857300" y="1754775"/>
            <a:ext cx="11703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36" name="Google Shape;13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6925" y="1276075"/>
            <a:ext cx="3886200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6"/>
          <p:cNvSpPr txBox="1"/>
          <p:nvPr>
            <p:ph idx="1" type="body"/>
          </p:nvPr>
        </p:nvSpPr>
        <p:spPr>
          <a:xfrm>
            <a:off x="231925" y="2476225"/>
            <a:ext cx="8520600" cy="13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/>
              <a:t>A partir das probabilidades geradas, calcule a </a:t>
            </a:r>
            <a:r>
              <a:rPr i="1" lang="pt-BR" sz="3000">
                <a:latin typeface="Georgia"/>
                <a:ea typeface="Georgia"/>
                <a:cs typeface="Georgia"/>
                <a:sym typeface="Georgia"/>
              </a:rPr>
              <a:t>cross-entropy loss</a:t>
            </a:r>
            <a:endParaRPr i="1" sz="30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38" name="Google Shape;138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8438" y="3621863"/>
            <a:ext cx="7705725" cy="14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idx="1" type="body"/>
          </p:nvPr>
        </p:nvSpPr>
        <p:spPr>
          <a:xfrm>
            <a:off x="106925" y="154500"/>
            <a:ext cx="8520600" cy="13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/>
              <a:t>A partir das probabilidades geradas, calcule a </a:t>
            </a:r>
            <a:r>
              <a:rPr i="1" lang="pt-BR" sz="3000">
                <a:latin typeface="Georgia"/>
                <a:ea typeface="Georgia"/>
                <a:cs typeface="Georgia"/>
                <a:sym typeface="Georgia"/>
              </a:rPr>
              <a:t>cross-entropy loss</a:t>
            </a:r>
            <a:endParaRPr i="1" sz="30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44" name="Google Shape;14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125" y="1493988"/>
            <a:ext cx="7705725" cy="14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7"/>
          <p:cNvSpPr txBox="1"/>
          <p:nvPr>
            <p:ph idx="1" type="body"/>
          </p:nvPr>
        </p:nvSpPr>
        <p:spPr>
          <a:xfrm>
            <a:off x="106925" y="2712050"/>
            <a:ext cx="8520600" cy="7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/>
              <a:t>usando the true labels (one-hot encoded): </a:t>
            </a:r>
            <a:endParaRPr sz="3000"/>
          </a:p>
        </p:txBody>
      </p:sp>
      <p:pic>
        <p:nvPicPr>
          <p:cNvPr id="146" name="Google Shape;14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3725" y="3354925"/>
            <a:ext cx="2201000" cy="168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idx="1" type="body"/>
          </p:nvPr>
        </p:nvSpPr>
        <p:spPr>
          <a:xfrm>
            <a:off x="311700" y="0"/>
            <a:ext cx="7232700" cy="5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600"/>
              <a:t>Agora começa o processo iterativo:</a:t>
            </a:r>
            <a:endParaRPr sz="2600"/>
          </a:p>
        </p:txBody>
      </p:sp>
      <p:pic>
        <p:nvPicPr>
          <p:cNvPr id="152" name="Google Shape;15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650" y="2215450"/>
            <a:ext cx="2186825" cy="1107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" name="Google Shape;153;p28"/>
          <p:cNvGrpSpPr/>
          <p:nvPr/>
        </p:nvGrpSpPr>
        <p:grpSpPr>
          <a:xfrm>
            <a:off x="2321473" y="1132817"/>
            <a:ext cx="2401165" cy="3686890"/>
            <a:chOff x="2821575" y="1051050"/>
            <a:chExt cx="3318360" cy="4092452"/>
          </a:xfrm>
        </p:grpSpPr>
        <p:cxnSp>
          <p:nvCxnSpPr>
            <p:cNvPr id="154" name="Google Shape;154;p28"/>
            <p:cNvCxnSpPr/>
            <p:nvPr/>
          </p:nvCxnSpPr>
          <p:spPr>
            <a:xfrm flipH="1" rot="10800000">
              <a:off x="2821575" y="1533463"/>
              <a:ext cx="1525800" cy="12714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5" name="Google Shape;155;p28"/>
            <p:cNvCxnSpPr/>
            <p:nvPr/>
          </p:nvCxnSpPr>
          <p:spPr>
            <a:xfrm flipH="1" rot="10800000">
              <a:off x="2821575" y="2640763"/>
              <a:ext cx="2400900" cy="1641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6" name="Google Shape;156;p28"/>
            <p:cNvCxnSpPr>
              <a:endCxn id="157" idx="1"/>
            </p:cNvCxnSpPr>
            <p:nvPr/>
          </p:nvCxnSpPr>
          <p:spPr>
            <a:xfrm>
              <a:off x="2821675" y="2804726"/>
              <a:ext cx="2090700" cy="9522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8" name="Google Shape;158;p28"/>
            <p:cNvCxnSpPr/>
            <p:nvPr/>
          </p:nvCxnSpPr>
          <p:spPr>
            <a:xfrm>
              <a:off x="2821575" y="2804863"/>
              <a:ext cx="1368000" cy="19041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9" name="Google Shape;159;p28"/>
            <p:cNvSpPr/>
            <p:nvPr/>
          </p:nvSpPr>
          <p:spPr>
            <a:xfrm>
              <a:off x="4465875" y="1051050"/>
              <a:ext cx="917460" cy="893052"/>
            </a:xfrm>
            <a:prstGeom prst="flowChartDocumen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28"/>
            <p:cNvSpPr/>
            <p:nvPr/>
          </p:nvSpPr>
          <p:spPr>
            <a:xfrm>
              <a:off x="5222475" y="2180725"/>
              <a:ext cx="917460" cy="893052"/>
            </a:xfrm>
            <a:prstGeom prst="flowChartDocumen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8"/>
            <p:cNvSpPr/>
            <p:nvPr/>
          </p:nvSpPr>
          <p:spPr>
            <a:xfrm>
              <a:off x="4912375" y="3310400"/>
              <a:ext cx="917460" cy="893052"/>
            </a:xfrm>
            <a:prstGeom prst="flowChartDocumen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8"/>
            <p:cNvSpPr/>
            <p:nvPr/>
          </p:nvSpPr>
          <p:spPr>
            <a:xfrm>
              <a:off x="4305025" y="4250450"/>
              <a:ext cx="917460" cy="893052"/>
            </a:xfrm>
            <a:prstGeom prst="flowChartDocumen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2" name="Google Shape;162;p28"/>
          <p:cNvSpPr txBox="1"/>
          <p:nvPr>
            <p:ph idx="1" type="body"/>
          </p:nvPr>
        </p:nvSpPr>
        <p:spPr>
          <a:xfrm>
            <a:off x="4936850" y="606300"/>
            <a:ext cx="4099800" cy="440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800"/>
              <a:t>Usando uma distribuição Gaussiana cuja a média é cada um dos </a:t>
            </a:r>
            <a:r>
              <a:rPr i="1" lang="pt-BR" sz="2800">
                <a:latin typeface="Georgia"/>
                <a:ea typeface="Georgia"/>
                <a:cs typeface="Georgia"/>
                <a:sym typeface="Georgia"/>
              </a:rPr>
              <a:t>raw logits</a:t>
            </a:r>
            <a:r>
              <a:rPr lang="pt-BR" sz="2800"/>
              <a:t> originais e com o desvio padrão sendo um hiperparâmetro, gere outras quatro sequências.</a:t>
            </a:r>
            <a:endParaRPr sz="2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idx="1" type="body"/>
          </p:nvPr>
        </p:nvSpPr>
        <p:spPr>
          <a:xfrm>
            <a:off x="311700" y="122475"/>
            <a:ext cx="8520600" cy="39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/>
              <a:t>Em cada uma delas aplique novamente a softmax e calcule a </a:t>
            </a:r>
            <a:r>
              <a:rPr i="1" lang="pt-BR" sz="3000">
                <a:latin typeface="Georgia"/>
                <a:ea typeface="Georgia"/>
                <a:cs typeface="Georgia"/>
                <a:sym typeface="Georgia"/>
              </a:rPr>
              <a:t>cross-entropy loss</a:t>
            </a:r>
            <a:r>
              <a:rPr lang="pt-BR" sz="3000"/>
              <a:t>.  Ordene as sequências, incluindo a original, de acordo com a entropia média, e descarte as quatro piores. Repita o processo 30 vezes. Mostre a evolução da entropia com o número de iterações.</a:t>
            </a:r>
            <a:endParaRPr sz="3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 - Naive Bayes and Spam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>
            <p:ph idx="1" type="body"/>
          </p:nvPr>
        </p:nvSpPr>
        <p:spPr>
          <a:xfrm>
            <a:off x="311700" y="-29925"/>
            <a:ext cx="8520600" cy="27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/>
              <a:t>Transforme o exemplo que inicia no slide 55 em código, plotando os histogramas, os cálculos de probabilidades e o resultado da classificação. Organize as probabilidades em tabelas usando Pandas.</a:t>
            </a:r>
            <a:endParaRPr sz="3000"/>
          </a:p>
        </p:txBody>
      </p:sp>
      <p:sp>
        <p:nvSpPr>
          <p:cNvPr id="178" name="Google Shape;178;p31"/>
          <p:cNvSpPr txBox="1"/>
          <p:nvPr/>
        </p:nvSpPr>
        <p:spPr>
          <a:xfrm>
            <a:off x="1133225" y="2738175"/>
            <a:ext cx="6633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u="sng">
                <a:solidFill>
                  <a:schemeClr val="hlink"/>
                </a:solidFill>
                <a:hlinkClick r:id="rId3"/>
              </a:rPr>
              <a:t>Naive Bayes.pptx</a:t>
            </a:r>
            <a:r>
              <a:rPr lang="pt-BR" sz="3000"/>
              <a:t> </a:t>
            </a:r>
            <a:endParaRPr sz="3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idx="1" type="body"/>
          </p:nvPr>
        </p:nvSpPr>
        <p:spPr>
          <a:xfrm>
            <a:off x="311700" y="0"/>
            <a:ext cx="8520600" cy="19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/>
              <a:t>Ao final, crie uma função na qual seja dada uma sequência como mostrada abaixo e ela retorne o resultado da classificação.</a:t>
            </a:r>
            <a:endParaRPr sz="3000"/>
          </a:p>
        </p:txBody>
      </p:sp>
      <p:pic>
        <p:nvPicPr>
          <p:cNvPr id="184" name="Google Shape;18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2525" y="2156838"/>
            <a:ext cx="6698950" cy="82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 - Gauss Naive Bayes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4"/>
          <p:cNvSpPr txBox="1"/>
          <p:nvPr>
            <p:ph idx="1" type="body"/>
          </p:nvPr>
        </p:nvSpPr>
        <p:spPr>
          <a:xfrm>
            <a:off x="311700" y="-29925"/>
            <a:ext cx="8520600" cy="27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/>
              <a:t>Transforme o exemplo que inicia no slide 7 em código. Crie as tabelas para as três features a partir das distribuições reais usando médias e os desvios padrão dados nos slides. Plote essas distribuições em gráficos. No entanto, use os likelihoods dados nos exemplos para exemplificar em código a classificação.</a:t>
            </a:r>
            <a:endParaRPr sz="3000"/>
          </a:p>
        </p:txBody>
      </p:sp>
      <p:sp>
        <p:nvSpPr>
          <p:cNvPr id="195" name="Google Shape;195;p34"/>
          <p:cNvSpPr txBox="1"/>
          <p:nvPr/>
        </p:nvSpPr>
        <p:spPr>
          <a:xfrm>
            <a:off x="1143375" y="3509675"/>
            <a:ext cx="5079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 u="sng">
                <a:solidFill>
                  <a:schemeClr val="hlink"/>
                </a:solidFill>
                <a:hlinkClick r:id="rId3"/>
              </a:rPr>
              <a:t>Gaussian Naive Bayes.pptx</a:t>
            </a:r>
            <a:r>
              <a:rPr lang="pt-BR" sz="2500"/>
              <a:t> </a:t>
            </a:r>
            <a:endParaRPr sz="25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5"/>
          <p:cNvSpPr txBox="1"/>
          <p:nvPr>
            <p:ph idx="1" type="body"/>
          </p:nvPr>
        </p:nvSpPr>
        <p:spPr>
          <a:xfrm>
            <a:off x="311700" y="0"/>
            <a:ext cx="8520600" cy="19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/>
              <a:t>Ao final, crie uma função na qual seja dada uma valores como na figura e ela retorne a classificação.</a:t>
            </a:r>
            <a:endParaRPr sz="3000"/>
          </a:p>
        </p:txBody>
      </p:sp>
      <p:pic>
        <p:nvPicPr>
          <p:cNvPr id="201" name="Google Shape;20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4925" y="2025100"/>
            <a:ext cx="3557239" cy="291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 - Naive Bayes and Iris dataset/Acurácia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7"/>
          <p:cNvSpPr txBox="1"/>
          <p:nvPr/>
        </p:nvSpPr>
        <p:spPr>
          <a:xfrm>
            <a:off x="0" y="0"/>
            <a:ext cx="9008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/>
              <a:t>Apply Naive Bayes to the Iris Dataset</a:t>
            </a:r>
            <a:endParaRPr sz="4000"/>
          </a:p>
        </p:txBody>
      </p:sp>
      <p:sp>
        <p:nvSpPr>
          <p:cNvPr id="212" name="Google Shape;212;p37"/>
          <p:cNvSpPr txBox="1"/>
          <p:nvPr>
            <p:ph idx="4294967295" type="body"/>
          </p:nvPr>
        </p:nvSpPr>
        <p:spPr>
          <a:xfrm>
            <a:off x="244050" y="982275"/>
            <a:ext cx="8520600" cy="19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/>
              <a:t>Da mesma forma que foi exemplificado no slide 208, aplique Naives Bayes para o dataset Iris: from sklearn.datasets import load_iris. Pesquise sobre a métrica de avaliação acurácia.</a:t>
            </a:r>
            <a:endParaRPr sz="3000"/>
          </a:p>
        </p:txBody>
      </p:sp>
      <p:sp>
        <p:nvSpPr>
          <p:cNvPr id="213" name="Google Shape;213;p37"/>
          <p:cNvSpPr txBox="1"/>
          <p:nvPr/>
        </p:nvSpPr>
        <p:spPr>
          <a:xfrm>
            <a:off x="914700" y="3139675"/>
            <a:ext cx="6633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u="sng">
                <a:solidFill>
                  <a:schemeClr val="hlink"/>
                </a:solidFill>
                <a:hlinkClick r:id="rId3"/>
              </a:rPr>
              <a:t>Naive Bayes.pptx</a:t>
            </a:r>
            <a:r>
              <a:rPr lang="pt-BR" sz="3000"/>
              <a:t> </a:t>
            </a:r>
            <a:endParaRPr sz="3000"/>
          </a:p>
        </p:txBody>
      </p:sp>
      <p:sp>
        <p:nvSpPr>
          <p:cNvPr id="214" name="Google Shape;214;p37"/>
          <p:cNvSpPr txBox="1"/>
          <p:nvPr/>
        </p:nvSpPr>
        <p:spPr>
          <a:xfrm>
            <a:off x="579150" y="3786175"/>
            <a:ext cx="7304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u="sng">
                <a:solidFill>
                  <a:schemeClr val="hlink"/>
                </a:solidFill>
                <a:hlinkClick r:id="rId4"/>
              </a:rPr>
              <a:t>Iris - UCI Machine Learning Repository</a:t>
            </a:r>
            <a:r>
              <a:rPr lang="pt-BR" sz="3000"/>
              <a:t> </a:t>
            </a:r>
            <a:endParaRPr sz="3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8"/>
          <p:cNvSpPr txBox="1"/>
          <p:nvPr/>
        </p:nvSpPr>
        <p:spPr>
          <a:xfrm>
            <a:off x="112200" y="783125"/>
            <a:ext cx="8919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AF00DB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pt-BR" sz="200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sklearn.metrics </a:t>
            </a:r>
            <a:r>
              <a:rPr lang="pt-BR" sz="2000">
                <a:solidFill>
                  <a:srgbClr val="AF00DB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pt-BR" sz="2000">
                <a:solidFill>
                  <a:schemeClr val="dk1"/>
                </a:solidFill>
                <a:highlight>
                  <a:srgbClr val="F7F7F7"/>
                </a:highlight>
                <a:latin typeface="Courier New"/>
                <a:ea typeface="Courier New"/>
                <a:cs typeface="Courier New"/>
                <a:sym typeface="Courier New"/>
              </a:rPr>
              <a:t> classification_report</a:t>
            </a:r>
            <a:endParaRPr sz="2000">
              <a:solidFill>
                <a:schemeClr val="dk1"/>
              </a:solidFill>
              <a:highlight>
                <a:srgbClr val="F7F7F7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0" name="Google Shape;220;p38"/>
          <p:cNvSpPr txBox="1"/>
          <p:nvPr>
            <p:ph idx="4294967295" type="body"/>
          </p:nvPr>
        </p:nvSpPr>
        <p:spPr>
          <a:xfrm>
            <a:off x="89300" y="214325"/>
            <a:ext cx="8520600" cy="5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/>
              <a:t>Use o </a:t>
            </a:r>
            <a:endParaRPr sz="3000"/>
          </a:p>
        </p:txBody>
      </p:sp>
      <p:sp>
        <p:nvSpPr>
          <p:cNvPr id="221" name="Google Shape;221;p38"/>
          <p:cNvSpPr txBox="1"/>
          <p:nvPr>
            <p:ph idx="4294967295" type="body"/>
          </p:nvPr>
        </p:nvSpPr>
        <p:spPr>
          <a:xfrm>
            <a:off x="206000" y="1366850"/>
            <a:ext cx="8520600" cy="5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000"/>
              <a:t>na análise dos resultados. </a:t>
            </a:r>
            <a:endParaRPr sz="3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 - Simule os slides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Parte 3 - Expected Values.pptx</a:t>
            </a:r>
            <a:r>
              <a:rPr lang="pt-BR"/>
              <a:t> 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0"/>
          <p:cNvSpPr txBox="1"/>
          <p:nvPr/>
        </p:nvSpPr>
        <p:spPr>
          <a:xfrm>
            <a:off x="0" y="0"/>
            <a:ext cx="9008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/>
              <a:t>Valores esperados</a:t>
            </a:r>
            <a:endParaRPr sz="4000"/>
          </a:p>
        </p:txBody>
      </p:sp>
      <p:sp>
        <p:nvSpPr>
          <p:cNvPr id="232" name="Google Shape;232;p40"/>
          <p:cNvSpPr txBox="1"/>
          <p:nvPr>
            <p:ph idx="4294967295" type="body"/>
          </p:nvPr>
        </p:nvSpPr>
        <p:spPr>
          <a:xfrm>
            <a:off x="244050" y="982275"/>
            <a:ext cx="8520600" cy="407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Crie uma função que eu entre com os dados da tabela do slide 26 e os outcomes do slide 51, e o retorno da função seja o valor esperado.</a:t>
            </a:r>
            <a:endParaRPr sz="3000"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3000"/>
              <a:t>Faça a simulação deste experimento e compare com os valores esperados teóricos. Faça o experimento para 10, 100, 1000 e 10000 repetições. </a:t>
            </a:r>
            <a:endParaRPr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