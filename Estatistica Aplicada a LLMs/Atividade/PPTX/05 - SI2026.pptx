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fa1bd3fb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fa1bd3fb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fa1bd3fb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fa1bd3fb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801a4da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801a4da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fa1bd3fbd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fa1bd3fb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801a4da4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801a4da4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801a4da4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801a4da4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801a4da4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801a4da4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801a4da4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801a4da4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801a4da4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801a4da4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801a4da4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801a4da4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801a4da41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801a4da4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801a4da4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801a4da4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801a4da4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801a4da4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801a4da41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801a4da4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801a4da41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801a4da4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801a4da41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801a4da41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801a4da41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801a4da41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801a4da41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801a4da41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801a4da41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801a4da41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801a4da41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801a4da41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801a4da41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6801a4da41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801a4da41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801a4da41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801a4da41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801a4da41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801a4da41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801a4da41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fa1bd3fb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fa1bd3fb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fa1bd3f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fa1bd3f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fa1bd3fb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fa1bd3fb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fa1bd3fb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bfa1bd3fbd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fa1bd3fbd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fa1bd3fbd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fa1bd3fb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bfa1bd3fbd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fa1bd3fb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bfa1bd3fbd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fa1bd3fbd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fa1bd3fbd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fa1bd3fb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bfa1bd3fbd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fa1bd3fb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bfa1bd3fbd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fa1bd3fbd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fa1bd3fbd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fa1bd3fb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fa1bd3fb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fa1bd3fb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fa1bd3fb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fa1bd3fb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bfa1bd3fb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fa1bd3fbd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fa1bd3fbd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fa1bd3fb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bfa1bd3fb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fa1bd3fb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fa1bd3fb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fa1bd3fbd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fa1bd3fbd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fa1bd3fb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bfa1bd3fb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fa1bd3fb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bfa1bd3fb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fa1bd3fb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bfa1bd3fb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torch.nn" TargetMode="External"/><Relationship Id="rId4" Type="http://schemas.openxmlformats.org/officeDocument/2006/relationships/hyperlink" Target="https://colab.research.google.com/drive/1ONSEFePhUsXewX4ccHEvTj0O4AA7aEcO?usp=shar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hyperlink" Target="https://colab.research.google.com/drive/1ONSEFePhUsXewX4ccHEvTj0O4AA7aEcO?usp=sharing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hyperlink" Target="https://colab.research.google.com/drive/1XBBbstwUluSV_tzBalVSmypfFzIj700Q?usp=sharing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google.com/presentation/d/1x4k4c_8HuL8V8XAyddGNX-v5Jka7UE9TzXxXz6gDalo/edit?usp=sharing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google.com/presentation/d/1OiAzeJ9C43NQ2LZ668gnFVcp0DlHeWQqBwsi6kh5n-A/edit?usp=sharing" TargetMode="External"/><Relationship Id="rId4" Type="http://schemas.openxmlformats.org/officeDocument/2006/relationships/hyperlink" Target="https://pytorch.org/" TargetMode="External"/><Relationship Id="rId5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google.com/presentation/d/1GLZN15NWZg6QTwa6YRiByqrYg1_MSEVBq0G3QeKDOcs/edit?usp=sharing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pytorch.org/" TargetMode="External"/><Relationship Id="rId4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ocs.google.com/presentation/d/1GJ3G2k66vL6kJfCPk9M97PMTkteSfd_p/edit?usp=sharing&amp;ouid=106518696571208942024&amp;rtpof=true&amp;sd=true" TargetMode="External"/><Relationship Id="rId4" Type="http://schemas.openxmlformats.org/officeDocument/2006/relationships/hyperlink" Target="https://docs.google.com/presentation/d/1Jg3qDhmM5lO2di0Gg97jYOvT9TAHNLn5LklKaXUGYxQ/edit?usp=sharing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ocs.google.com/presentation/d/1z8RVtptxJxpNMbeQ_Gq3Byf06qdkS4NM/edit?usp=sharing&amp;ouid=106518696571208942024&amp;rtpof=true&amp;sd=true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ocs.google.com/presentation/d/1VUWUlHU68E-0hc0Q7z9J0RBWU4Ja8AXyd5dv6bJAnYg/edit?usp=sharing" TargetMode="External"/><Relationship Id="rId4" Type="http://schemas.openxmlformats.org/officeDocument/2006/relationships/hyperlink" Target="https://colab.research.google.com/drive/1MWa29xw_hvcRw7WjT3E7rMvnejwJKcXL?usp=sharing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rive.google.com/drive/folders/1-JBw27yTwb81W09mJDI5QHfQzrfpVpHh?usp=sharing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27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3.1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11700" y="744575"/>
            <a:ext cx="8520600" cy="27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Multiplicação de matrizes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neurais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700" y="1127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Siga o mesmo procedimento de entrega das atividades anteriores.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3000"/>
              <a:t>Coloque em Jupyters diferentes a Parte 1 e a Parte 2 no mesmo repositório.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88938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dk1"/>
                </a:solidFill>
              </a:rPr>
              <a:t>Implemente uma rede neural totalmente conectada com </a:t>
            </a:r>
            <a:r>
              <a:rPr b="1" lang="pt-BR" sz="2500">
                <a:solidFill>
                  <a:schemeClr val="dk1"/>
                </a:solidFill>
              </a:rPr>
              <a:t>duas camadas ocultas</a:t>
            </a:r>
            <a:r>
              <a:rPr lang="pt-BR" sz="2500">
                <a:solidFill>
                  <a:schemeClr val="dk1"/>
                </a:solidFill>
              </a:rPr>
              <a:t> e </a:t>
            </a:r>
            <a:r>
              <a:rPr b="1" lang="pt-BR" sz="2500">
                <a:solidFill>
                  <a:schemeClr val="dk1"/>
                </a:solidFill>
              </a:rPr>
              <a:t>uma camada de saída</a:t>
            </a:r>
            <a:r>
              <a:rPr lang="pt-BR" sz="2500">
                <a:solidFill>
                  <a:schemeClr val="dk1"/>
                </a:solidFill>
              </a:rPr>
              <a:t>, utilizando PyTorch. Cada camada oculta deve ser representada por uma </a:t>
            </a:r>
            <a:r>
              <a:rPr b="1" lang="pt-BR" sz="2500">
                <a:solidFill>
                  <a:schemeClr val="dk1"/>
                </a:solidFill>
              </a:rPr>
              <a:t>matriz 4×4</a:t>
            </a:r>
            <a:r>
              <a:rPr lang="pt-BR" sz="2500">
                <a:solidFill>
                  <a:schemeClr val="dk1"/>
                </a:solidFill>
              </a:rPr>
              <a:t>, e a camada de saída por uma </a:t>
            </a:r>
            <a:r>
              <a:rPr b="1" lang="pt-BR" sz="2500">
                <a:solidFill>
                  <a:schemeClr val="dk1"/>
                </a:solidFill>
              </a:rPr>
              <a:t>matriz 4×1</a:t>
            </a:r>
            <a:r>
              <a:rPr lang="pt-BR" sz="2500">
                <a:solidFill>
                  <a:schemeClr val="dk1"/>
                </a:solidFill>
              </a:rPr>
              <a:t>. Utilize a função de ativação </a:t>
            </a:r>
            <a:r>
              <a:rPr b="1" lang="pt-BR" sz="2500">
                <a:solidFill>
                  <a:schemeClr val="dk1"/>
                </a:solidFill>
              </a:rPr>
              <a:t>softplus</a:t>
            </a:r>
            <a:r>
              <a:rPr lang="pt-BR" sz="2500">
                <a:solidFill>
                  <a:schemeClr val="dk1"/>
                </a:solidFill>
              </a:rPr>
              <a:t> entre as camadas.</a:t>
            </a:r>
            <a:endParaRPr sz="2500"/>
          </a:p>
        </p:txBody>
      </p:sp>
      <p:sp>
        <p:nvSpPr>
          <p:cNvPr id="80" name="Google Shape;80;p18"/>
          <p:cNvSpPr txBox="1"/>
          <p:nvPr/>
        </p:nvSpPr>
        <p:spPr>
          <a:xfrm>
            <a:off x="520850" y="2395950"/>
            <a:ext cx="7526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dk1"/>
                </a:solidFill>
              </a:rPr>
              <a:t>A rede deve ser treinada com o </a:t>
            </a:r>
            <a:r>
              <a:rPr b="1" lang="pt-BR" sz="2500">
                <a:solidFill>
                  <a:schemeClr val="dk1"/>
                </a:solidFill>
              </a:rPr>
              <a:t>conjunto de dados Iris</a:t>
            </a:r>
            <a:r>
              <a:rPr lang="pt-BR" sz="2500">
                <a:solidFill>
                  <a:schemeClr val="dk1"/>
                </a:solidFill>
              </a:rPr>
              <a:t>, utilizando apenas os atributos </a:t>
            </a:r>
            <a:r>
              <a:rPr b="1" lang="pt-BR" sz="2500">
                <a:solidFill>
                  <a:schemeClr val="dk1"/>
                </a:solidFill>
              </a:rPr>
              <a:t>sepal</a:t>
            </a:r>
            <a:r>
              <a:rPr lang="pt-BR" sz="2500">
                <a:solidFill>
                  <a:schemeClr val="dk1"/>
                </a:solidFill>
              </a:rPr>
              <a:t> e </a:t>
            </a:r>
            <a:r>
              <a:rPr b="1" lang="pt-BR" sz="2500">
                <a:solidFill>
                  <a:schemeClr val="dk1"/>
                </a:solidFill>
              </a:rPr>
              <a:t>petal length</a:t>
            </a:r>
            <a:r>
              <a:rPr lang="pt-BR" sz="2500">
                <a:solidFill>
                  <a:schemeClr val="dk1"/>
                </a:solidFill>
              </a:rPr>
              <a:t> como entradas, e apenas duas classes: </a:t>
            </a:r>
            <a:r>
              <a:rPr b="1" lang="pt-BR" sz="2500">
                <a:solidFill>
                  <a:schemeClr val="dk1"/>
                </a:solidFill>
              </a:rPr>
              <a:t>Setosa</a:t>
            </a:r>
            <a:r>
              <a:rPr lang="pt-BR" sz="2500">
                <a:solidFill>
                  <a:schemeClr val="dk1"/>
                </a:solidFill>
              </a:rPr>
              <a:t> e </a:t>
            </a:r>
            <a:r>
              <a:rPr b="1" lang="pt-BR" sz="2500">
                <a:solidFill>
                  <a:schemeClr val="dk1"/>
                </a:solidFill>
              </a:rPr>
              <a:t>Versicolor</a:t>
            </a:r>
            <a:r>
              <a:rPr lang="pt-BR" sz="2500">
                <a:solidFill>
                  <a:schemeClr val="dk1"/>
                </a:solidFill>
              </a:rPr>
              <a:t>.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/>
        </p:nvSpPr>
        <p:spPr>
          <a:xfrm>
            <a:off x="0" y="0"/>
            <a:ext cx="88938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pt-BR" sz="2500">
                <a:solidFill>
                  <a:schemeClr val="dk1"/>
                </a:solidFill>
              </a:rPr>
              <a:t>Normalize os dados de entrada.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pt-BR" sz="2500">
                <a:solidFill>
                  <a:schemeClr val="dk1"/>
                </a:solidFill>
              </a:rPr>
              <a:t>Use partição simples da base.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pt-BR" sz="2500">
                <a:solidFill>
                  <a:schemeClr val="dk1"/>
                </a:solidFill>
              </a:rPr>
              <a:t>Inicialize três matrizes de pesos conforme explicado em sala.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pt-BR" sz="2500">
                <a:solidFill>
                  <a:schemeClr val="dk1"/>
                </a:solidFill>
              </a:rPr>
              <a:t>Realize a propagação direta (forward pass) usando apenas torch.matmul e </a:t>
            </a:r>
            <a:r>
              <a:rPr lang="pt-BR" sz="2500" u="sng">
                <a:solidFill>
                  <a:schemeClr val="hlink"/>
                </a:solidFill>
                <a:hlinkClick r:id="rId3"/>
              </a:rPr>
              <a:t>torch.nn</a:t>
            </a:r>
            <a:r>
              <a:rPr lang="pt-BR" sz="2500">
                <a:solidFill>
                  <a:schemeClr val="dk1"/>
                </a:solidFill>
              </a:rPr>
              <a:t>.functional.softplus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pt-BR" sz="2500">
                <a:solidFill>
                  <a:schemeClr val="dk1"/>
                </a:solidFill>
              </a:rPr>
              <a:t>Utilize o erro quadrático médio com função de perda e SDG como otimizador.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pt-BR" sz="2500">
                <a:solidFill>
                  <a:schemeClr val="dk1"/>
                </a:solidFill>
              </a:rPr>
              <a:t>Compare os resultados com </a:t>
            </a:r>
            <a:r>
              <a:rPr lang="pt-BR" sz="2500" u="sng">
                <a:solidFill>
                  <a:schemeClr val="hlink"/>
                </a:solidFill>
                <a:hlinkClick r:id="rId4"/>
              </a:rPr>
              <a:t>ch02.ipynb</a:t>
            </a:r>
            <a:r>
              <a:rPr lang="pt-BR" sz="2500">
                <a:solidFill>
                  <a:schemeClr val="dk1"/>
                </a:solidFill>
              </a:rPr>
              <a:t> 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/>
        </p:nvSpPr>
        <p:spPr>
          <a:xfrm>
            <a:off x="0" y="0"/>
            <a:ext cx="8893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</a:rPr>
              <a:t>Neste exercício, você continuará utilizando a mesma arquitetura de rede neural e configuração do conjunto de dados do Problema 1: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pt-BR" sz="2500">
                <a:solidFill>
                  <a:schemeClr val="dk1"/>
                </a:solidFill>
              </a:rPr>
              <a:t>Duas características de entrada: comprimento da sépala e comprimento da pétala;</a:t>
            </a:r>
            <a:endParaRPr sz="2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pt-BR" sz="2500">
                <a:solidFill>
                  <a:schemeClr val="dk1"/>
                </a:solidFill>
              </a:rPr>
              <a:t>Duas classes de saída: setosa e versicolor;</a:t>
            </a:r>
            <a:endParaRPr sz="2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/>
        </p:nvSpPr>
        <p:spPr>
          <a:xfrm>
            <a:off x="0" y="0"/>
            <a:ext cx="8893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pt-BR" sz="2500">
                <a:solidFill>
                  <a:schemeClr val="dk1"/>
                </a:solidFill>
              </a:rPr>
              <a:t>Duas camadas ocultas. Cada camada oculta deve ser representada por uma </a:t>
            </a:r>
            <a:r>
              <a:rPr b="1" lang="pt-BR" sz="2500">
                <a:solidFill>
                  <a:schemeClr val="dk1"/>
                </a:solidFill>
              </a:rPr>
              <a:t>matriz 4×4</a:t>
            </a:r>
            <a:r>
              <a:rPr lang="pt-BR" sz="2500">
                <a:solidFill>
                  <a:schemeClr val="dk1"/>
                </a:solidFill>
              </a:rPr>
              <a:t>, e a camada de saída por uma </a:t>
            </a:r>
            <a:r>
              <a:rPr b="1" lang="pt-BR" sz="2500">
                <a:solidFill>
                  <a:schemeClr val="dk1"/>
                </a:solidFill>
              </a:rPr>
              <a:t>matriz 4×1</a:t>
            </a:r>
            <a:r>
              <a:rPr lang="pt-BR" sz="2500">
                <a:solidFill>
                  <a:schemeClr val="dk1"/>
                </a:solidFill>
              </a:rPr>
              <a:t>. Utilize a função de ativação </a:t>
            </a:r>
            <a:r>
              <a:rPr b="1" lang="pt-BR" sz="2500">
                <a:solidFill>
                  <a:schemeClr val="dk1"/>
                </a:solidFill>
              </a:rPr>
              <a:t>softplus</a:t>
            </a:r>
            <a:r>
              <a:rPr lang="pt-BR" sz="2500">
                <a:solidFill>
                  <a:schemeClr val="dk1"/>
                </a:solidFill>
              </a:rPr>
              <a:t> entre as camadas;</a:t>
            </a:r>
            <a:endParaRPr sz="2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pt-BR" sz="2500">
                <a:solidFill>
                  <a:schemeClr val="dk1"/>
                </a:solidFill>
              </a:rPr>
              <a:t>Função de perda: MSELoss.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/>
        </p:nvSpPr>
        <p:spPr>
          <a:xfrm>
            <a:off x="0" y="0"/>
            <a:ext cx="88938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dk1"/>
                </a:solidFill>
              </a:rPr>
              <a:t>Seu objetivo é treinar a rede utilizando mini-batches, em vez de alimentar a rede com todo o conjunto de dados de uma vez (full batch)</a:t>
            </a:r>
            <a:r>
              <a:rPr lang="pt-BR" sz="2500">
                <a:solidFill>
                  <a:schemeClr val="dk1"/>
                </a:solidFill>
              </a:rPr>
              <a:t>: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pt-BR" sz="2500">
                <a:solidFill>
                  <a:schemeClr val="dk1"/>
                </a:solidFill>
              </a:rPr>
              <a:t>Divida o conjunto de dados em 4 lotes (batches).</a:t>
            </a:r>
            <a:endParaRPr sz="2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pt-BR" sz="2500">
                <a:solidFill>
                  <a:schemeClr val="dk1"/>
                </a:solidFill>
              </a:rPr>
              <a:t>Treine a rede com as operações necessárias incluindo backward() e step() para atualizar os pesos.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875" y="694700"/>
            <a:ext cx="4349450" cy="432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5"/>
          <p:cNvSpPr txBox="1"/>
          <p:nvPr/>
        </p:nvSpPr>
        <p:spPr>
          <a:xfrm>
            <a:off x="130825" y="82750"/>
            <a:ext cx="85206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Entender o código até esta figura:</a:t>
            </a:r>
            <a:endParaRPr sz="3000">
              <a:solidFill>
                <a:srgbClr val="595959"/>
              </a:solidFill>
            </a:endParaRPr>
          </a:p>
        </p:txBody>
      </p:sp>
      <p:sp>
        <p:nvSpPr>
          <p:cNvPr id="117" name="Google Shape;117;p25"/>
          <p:cNvSpPr txBox="1"/>
          <p:nvPr/>
        </p:nvSpPr>
        <p:spPr>
          <a:xfrm>
            <a:off x="508950" y="1098600"/>
            <a:ext cx="28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u="sng">
                <a:solidFill>
                  <a:schemeClr val="hlink"/>
                </a:solidFill>
                <a:hlinkClick r:id="rId4"/>
              </a:rPr>
              <a:t>ch02.ipynb</a:t>
            </a:r>
            <a:r>
              <a:rPr lang="pt-BR" sz="3000"/>
              <a:t> </a:t>
            </a:r>
            <a:endParaRPr sz="3000"/>
          </a:p>
        </p:txBody>
      </p:sp>
      <p:sp>
        <p:nvSpPr>
          <p:cNvPr id="118" name="Google Shape;118;p25"/>
          <p:cNvSpPr txBox="1"/>
          <p:nvPr/>
        </p:nvSpPr>
        <p:spPr>
          <a:xfrm>
            <a:off x="93750" y="2172450"/>
            <a:ext cx="37224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Será pedido para ser explicado em sala.</a:t>
            </a:r>
            <a:endParaRPr sz="3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50" y="2039550"/>
            <a:ext cx="8839201" cy="22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/>
          <p:nvPr/>
        </p:nvSpPr>
        <p:spPr>
          <a:xfrm>
            <a:off x="223850" y="1393050"/>
            <a:ext cx="447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u="sng">
                <a:solidFill>
                  <a:schemeClr val="hlink"/>
                </a:solidFill>
                <a:hlinkClick r:id="rId4"/>
              </a:rPr>
              <a:t>Linearly separable.ipynb</a:t>
            </a:r>
            <a:r>
              <a:rPr lang="pt-BR" sz="3000"/>
              <a:t> </a:t>
            </a:r>
            <a:endParaRPr sz="3000"/>
          </a:p>
        </p:txBody>
      </p:sp>
      <p:sp>
        <p:nvSpPr>
          <p:cNvPr id="130" name="Google Shape;130;p27"/>
          <p:cNvSpPr txBox="1"/>
          <p:nvPr/>
        </p:nvSpPr>
        <p:spPr>
          <a:xfrm>
            <a:off x="130825" y="82750"/>
            <a:ext cx="8520600" cy="14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Adapte o código anterior para ser executado para os dados sintéticos abaixo:</a:t>
            </a:r>
            <a:endParaRPr sz="3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E1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/>
          <p:nvPr/>
        </p:nvSpPr>
        <p:spPr>
          <a:xfrm>
            <a:off x="96750" y="833700"/>
            <a:ext cx="8520600" cy="4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Transforme em código Python o procedimento do slide 301 ao slide 325. O código deve rodar até o final, ou seja, até a condição de parada.</a:t>
            </a:r>
            <a:endParaRPr sz="3000">
              <a:solidFill>
                <a:srgbClr val="595959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Após finalizado o código acima e extraídos seus resultados, adapte o código para ele rodar como o Gradiente Descendente Estocástico. Compare os resultados.</a:t>
            </a:r>
            <a:endParaRPr sz="3000">
              <a:solidFill>
                <a:srgbClr val="595959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solidFill>
                <a:srgbClr val="595959"/>
              </a:solidFill>
            </a:endParaRPr>
          </a:p>
        </p:txBody>
      </p:sp>
      <p:sp>
        <p:nvSpPr>
          <p:cNvPr id="141" name="Google Shape;141;p29"/>
          <p:cNvSpPr txBox="1"/>
          <p:nvPr/>
        </p:nvSpPr>
        <p:spPr>
          <a:xfrm>
            <a:off x="215975" y="145125"/>
            <a:ext cx="631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u="sng">
                <a:solidFill>
                  <a:schemeClr val="hlink"/>
                </a:solidFill>
                <a:hlinkClick r:id="rId3"/>
              </a:rPr>
              <a:t>Gradient Descent, Step-by-Step</a:t>
            </a:r>
            <a:r>
              <a:rPr lang="pt-BR" sz="3000"/>
              <a:t> </a:t>
            </a:r>
            <a:endParaRPr sz="3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/>
          <p:nvPr/>
        </p:nvSpPr>
        <p:spPr>
          <a:xfrm>
            <a:off x="77250" y="118475"/>
            <a:ext cx="88065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u="sng">
                <a:solidFill>
                  <a:schemeClr val="hlink"/>
                </a:solidFill>
                <a:hlinkClick r:id="rId3"/>
              </a:rPr>
              <a:t>Neural Networks by StatQuest - Backpropagation Main Ideas</a:t>
            </a:r>
            <a:r>
              <a:rPr lang="pt-BR" sz="3000">
                <a:solidFill>
                  <a:srgbClr val="595959"/>
                </a:solidFill>
              </a:rPr>
              <a:t> </a:t>
            </a:r>
            <a:endParaRPr sz="3000">
              <a:solidFill>
                <a:srgbClr val="595959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Duas formas de resolver essa atividade. Escolha uma delas.</a:t>
            </a:r>
            <a:endParaRPr sz="3000">
              <a:solidFill>
                <a:srgbClr val="595959"/>
              </a:solidFill>
            </a:endParaRPr>
          </a:p>
        </p:txBody>
      </p:sp>
      <p:sp>
        <p:nvSpPr>
          <p:cNvPr id="152" name="Google Shape;152;p31"/>
          <p:cNvSpPr txBox="1"/>
          <p:nvPr/>
        </p:nvSpPr>
        <p:spPr>
          <a:xfrm>
            <a:off x="168750" y="1967525"/>
            <a:ext cx="8806500" cy="28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A primeira é usar o </a:t>
            </a:r>
            <a:r>
              <a:rPr lang="pt-BR" sz="3000" u="sng">
                <a:solidFill>
                  <a:schemeClr val="hlink"/>
                </a:solidFill>
                <a:hlinkClick r:id="rId4"/>
              </a:rPr>
              <a:t>PyTorch</a:t>
            </a:r>
            <a:r>
              <a:rPr lang="pt-BR" sz="3000">
                <a:solidFill>
                  <a:srgbClr val="595959"/>
                </a:solidFill>
              </a:rPr>
              <a:t> e resolver a rede do slide 77. </a:t>
            </a:r>
            <a:endParaRPr sz="3000">
              <a:solidFill>
                <a:srgbClr val="595959"/>
              </a:solidFill>
            </a:endParaRPr>
          </a:p>
        </p:txBody>
      </p:sp>
      <p:pic>
        <p:nvPicPr>
          <p:cNvPr id="153" name="Google Shape;15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2520" y="2879650"/>
            <a:ext cx="3674299" cy="21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/>
        </p:nvSpPr>
        <p:spPr>
          <a:xfrm>
            <a:off x="77250" y="118475"/>
            <a:ext cx="88065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pt-BR" sz="3000">
                <a:solidFill>
                  <a:schemeClr val="dk2"/>
                </a:solidFill>
              </a:rPr>
              <a:t>A segunda é converter para código em uma apresentação no Jupyter o slide 235 até o slide 280. Ser bastante didático. Não precisa ser um linha de código por slide.</a:t>
            </a:r>
            <a:endParaRPr sz="3000">
              <a:solidFill>
                <a:srgbClr val="595959"/>
              </a:solidFill>
            </a:endParaRPr>
          </a:p>
        </p:txBody>
      </p:sp>
      <p:pic>
        <p:nvPicPr>
          <p:cNvPr id="159" name="Google Shape;1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25" y="2059550"/>
            <a:ext cx="4419600" cy="1929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1725" y="2779151"/>
            <a:ext cx="3781600" cy="203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G1</a:t>
            </a:r>
            <a:endParaRPr/>
          </a:p>
        </p:txBody>
      </p:sp>
      <p:sp>
        <p:nvSpPr>
          <p:cNvPr id="166" name="Google Shape;166;p33"/>
          <p:cNvSpPr txBox="1"/>
          <p:nvPr/>
        </p:nvSpPr>
        <p:spPr>
          <a:xfrm>
            <a:off x="3328875" y="3954625"/>
            <a:ext cx="584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hlinkClick r:id="rId3"/>
              </a:rPr>
              <a:t>Backpropagation Details Pt. 2: Going bonkers with The Chain Rule</a:t>
            </a:r>
            <a:r>
              <a:rPr lang="pt-B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/>
          <p:nvPr/>
        </p:nvSpPr>
        <p:spPr>
          <a:xfrm>
            <a:off x="77250" y="118475"/>
            <a:ext cx="88065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Resolva a rede do slide 176 com código em Python que deve seguir o procedimento a partir deste slide para o backpropagation. </a:t>
            </a:r>
            <a:r>
              <a:rPr lang="pt-BR" sz="3000">
                <a:solidFill>
                  <a:schemeClr val="dk2"/>
                </a:solidFill>
              </a:rPr>
              <a:t>Seja bastante didático.</a:t>
            </a:r>
            <a:endParaRPr sz="3000">
              <a:solidFill>
                <a:srgbClr val="595959"/>
              </a:solidFill>
            </a:endParaRPr>
          </a:p>
        </p:txBody>
      </p:sp>
      <p:sp>
        <p:nvSpPr>
          <p:cNvPr id="172" name="Google Shape;172;p34"/>
          <p:cNvSpPr txBox="1"/>
          <p:nvPr/>
        </p:nvSpPr>
        <p:spPr>
          <a:xfrm>
            <a:off x="168750" y="1815125"/>
            <a:ext cx="8806500" cy="28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Resolva </a:t>
            </a:r>
            <a:r>
              <a:rPr lang="pt-BR" sz="3000">
                <a:solidFill>
                  <a:srgbClr val="FF0000"/>
                </a:solidFill>
              </a:rPr>
              <a:t>também </a:t>
            </a:r>
            <a:r>
              <a:rPr lang="pt-BR" sz="3000">
                <a:solidFill>
                  <a:srgbClr val="595959"/>
                </a:solidFill>
              </a:rPr>
              <a:t>a mesma rede com </a:t>
            </a:r>
            <a:r>
              <a:rPr lang="pt-BR" sz="3000" u="sng">
                <a:solidFill>
                  <a:schemeClr val="hlink"/>
                </a:solidFill>
                <a:hlinkClick r:id="rId3"/>
              </a:rPr>
              <a:t>PyTorch</a:t>
            </a:r>
            <a:r>
              <a:rPr lang="pt-BR" sz="3000">
                <a:solidFill>
                  <a:srgbClr val="595959"/>
                </a:solidFill>
              </a:rPr>
              <a:t>.</a:t>
            </a:r>
            <a:endParaRPr sz="3000">
              <a:solidFill>
                <a:srgbClr val="595959"/>
              </a:solidFill>
            </a:endParaRPr>
          </a:p>
        </p:txBody>
      </p:sp>
      <p:pic>
        <p:nvPicPr>
          <p:cNvPr id="173" name="Google Shape;173;p34"/>
          <p:cNvPicPr preferRelativeResize="0"/>
          <p:nvPr/>
        </p:nvPicPr>
        <p:blipFill rotWithShape="1">
          <a:blip r:embed="rId4">
            <a:alphaModFix/>
          </a:blip>
          <a:srcRect b="0" l="0" r="0" t="5980"/>
          <a:stretch/>
        </p:blipFill>
        <p:spPr>
          <a:xfrm>
            <a:off x="1117700" y="2616100"/>
            <a:ext cx="6564325" cy="224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/>
        </p:nvSpPr>
        <p:spPr>
          <a:xfrm>
            <a:off x="77250" y="118475"/>
            <a:ext cx="88065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Mostre o procedimento de inicialização de forma explícita e funcional para o primeiro caso.</a:t>
            </a:r>
            <a:endParaRPr sz="3000">
              <a:solidFill>
                <a:srgbClr val="595959"/>
              </a:solidFill>
            </a:endParaRPr>
          </a:p>
        </p:txBody>
      </p:sp>
      <p:pic>
        <p:nvPicPr>
          <p:cNvPr id="179" name="Google Shape;1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975" y="1376698"/>
            <a:ext cx="6252251" cy="31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75" y="1489375"/>
            <a:ext cx="83820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6"/>
          <p:cNvSpPr txBox="1"/>
          <p:nvPr/>
        </p:nvSpPr>
        <p:spPr>
          <a:xfrm>
            <a:off x="77250" y="118475"/>
            <a:ext cx="88065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Simule o procedimento até ele convergir. </a:t>
            </a:r>
            <a:endParaRPr sz="3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2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>
            <p:ph type="ctrTitle"/>
          </p:nvPr>
        </p:nvSpPr>
        <p:spPr>
          <a:xfrm>
            <a:off x="311700" y="744575"/>
            <a:ext cx="8520600" cy="30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Explorando redes neurais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CNN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RNN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Exploring word embeddings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8"/>
          <p:cNvSpPr txBox="1"/>
          <p:nvPr/>
        </p:nvSpPr>
        <p:spPr>
          <a:xfrm>
            <a:off x="234000" y="3945550"/>
            <a:ext cx="436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Neural Networks Pt. 3: ReLU In Action.pptx</a:t>
            </a:r>
            <a:r>
              <a:rPr lang="pt-BR"/>
              <a:t> </a:t>
            </a:r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156300" y="4475975"/>
            <a:ext cx="451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Neural Networks Pt. 4: Multiple Inputs and Outputs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A2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ptura de Tela (1121).png" id="207" name="Google Shape;20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150" y="1576425"/>
            <a:ext cx="6341477" cy="35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0"/>
          <p:cNvSpPr txBox="1"/>
          <p:nvPr/>
        </p:nvSpPr>
        <p:spPr>
          <a:xfrm>
            <a:off x="116075" y="50375"/>
            <a:ext cx="88065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Treine essa rede no PyTorch considerando os dados mostrados nos slides. </a:t>
            </a:r>
            <a:r>
              <a:rPr lang="pt-BR" sz="3000">
                <a:solidFill>
                  <a:schemeClr val="dk2"/>
                </a:solidFill>
              </a:rPr>
              <a:t>Mostre a saída para três valores depois do treinamento. Compare a rede obtida simulando a rede do slide no PyTorch.</a:t>
            </a:r>
            <a:r>
              <a:rPr lang="pt-BR" sz="3000">
                <a:solidFill>
                  <a:srgbClr val="595959"/>
                </a:solidFill>
              </a:rPr>
              <a:t> </a:t>
            </a:r>
            <a:endParaRPr sz="3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B2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2"/>
          <p:cNvSpPr txBox="1"/>
          <p:nvPr/>
        </p:nvSpPr>
        <p:spPr>
          <a:xfrm>
            <a:off x="116075" y="50375"/>
            <a:ext cx="8806500" cy="3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Simule a rede mostrada no próximo slide no PyTorch. Obtenha a saída para cinco valores de cada feature. Retire do dataset da Iris. Em seguida aplique as funções argmax e softmax, e interprete os resultados. Calcule a cross entropy.</a:t>
            </a:r>
            <a:endParaRPr sz="3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ptura de Tela (1291).png" id="223" name="Google Shape;22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C2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5"/>
          <p:cNvSpPr txBox="1"/>
          <p:nvPr/>
        </p:nvSpPr>
        <p:spPr>
          <a:xfrm>
            <a:off x="116075" y="50375"/>
            <a:ext cx="8806500" cy="29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Reproduza com código os slides 311 a 375. Não use PyTorch. Diferente da apresentação, continue gerando steps do gradiente e continue o processo de otimização de b3 (slide 369) até que ele convirja.</a:t>
            </a:r>
            <a:endParaRPr sz="3000">
              <a:solidFill>
                <a:srgbClr val="595959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solidFill>
                <a:srgbClr val="595959"/>
              </a:solidFill>
            </a:endParaRPr>
          </a:p>
        </p:txBody>
      </p:sp>
      <p:sp>
        <p:nvSpPr>
          <p:cNvPr id="234" name="Google Shape;234;p45"/>
          <p:cNvSpPr txBox="1"/>
          <p:nvPr/>
        </p:nvSpPr>
        <p:spPr>
          <a:xfrm>
            <a:off x="572950" y="3034000"/>
            <a:ext cx="70707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Neural Networks Part 7: Cross Entropy Derivatives and Backpropagation.pptx</a:t>
            </a:r>
            <a:r>
              <a:rPr lang="pt-BR" sz="3000">
                <a:solidFill>
                  <a:schemeClr val="dk2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ptura de Tela (2949).png" id="239" name="Google Shape;2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D2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8"/>
          <p:cNvSpPr txBox="1"/>
          <p:nvPr/>
        </p:nvSpPr>
        <p:spPr>
          <a:xfrm>
            <a:off x="0" y="0"/>
            <a:ext cx="8107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u="sng">
                <a:solidFill>
                  <a:schemeClr val="hlink"/>
                </a:solidFill>
                <a:hlinkClick r:id="rId3"/>
              </a:rPr>
              <a:t>Chapter 2 - Gradient descent, how neural networks learn</a:t>
            </a:r>
            <a:r>
              <a:rPr lang="pt-BR" sz="3000"/>
              <a:t> </a:t>
            </a:r>
            <a:endParaRPr sz="3000"/>
          </a:p>
        </p:txBody>
      </p:sp>
      <p:sp>
        <p:nvSpPr>
          <p:cNvPr id="250" name="Google Shape;250;p48"/>
          <p:cNvSpPr txBox="1"/>
          <p:nvPr/>
        </p:nvSpPr>
        <p:spPr>
          <a:xfrm>
            <a:off x="47925" y="1219525"/>
            <a:ext cx="8806500" cy="3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Conforme o procedimento do slide 23 em diante, treine no PyTorch a rede dada no slide seguinte, com três padrões em uma figura com 3x3 pixels. Vocês devem definir os padrões a serem aprendidos. </a:t>
            </a:r>
            <a:endParaRPr sz="3000">
              <a:solidFill>
                <a:srgbClr val="595959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95959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3000" u="sng">
                <a:solidFill>
                  <a:schemeClr val="hlink"/>
                </a:solidFill>
                <a:hlinkClick r:id="rId4"/>
              </a:rPr>
              <a:t>Simple NN for Activity.ipynb</a:t>
            </a:r>
            <a:r>
              <a:rPr lang="pt-BR" sz="3000">
                <a:solidFill>
                  <a:srgbClr val="595959"/>
                </a:solidFill>
              </a:rPr>
              <a:t> </a:t>
            </a:r>
            <a:endParaRPr sz="3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6074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Recurrent Neural Networks and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word embeddings</a:t>
            </a:r>
            <a:endParaRPr/>
          </a:p>
        </p:txBody>
      </p:sp>
      <p:sp>
        <p:nvSpPr>
          <p:cNvPr id="261" name="Google Shape;261;p50"/>
          <p:cNvSpPr txBox="1"/>
          <p:nvPr/>
        </p:nvSpPr>
        <p:spPr>
          <a:xfrm>
            <a:off x="3665900" y="33169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u="sng">
                <a:solidFill>
                  <a:schemeClr val="hlink"/>
                </a:solidFill>
                <a:hlinkClick r:id="rId3"/>
              </a:rPr>
              <a:t>Transformers</a:t>
            </a:r>
            <a:endParaRPr sz="3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E2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2"/>
          <p:cNvSpPr txBox="1"/>
          <p:nvPr/>
        </p:nvSpPr>
        <p:spPr>
          <a:xfrm>
            <a:off x="77250" y="118475"/>
            <a:ext cx="88065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Working with the unrolled neural network in slide 189, create code that simulates this process</a:t>
            </a:r>
            <a:endParaRPr sz="3000">
              <a:solidFill>
                <a:srgbClr val="595959"/>
              </a:solidFill>
            </a:endParaRPr>
          </a:p>
        </p:txBody>
      </p:sp>
      <p:pic>
        <p:nvPicPr>
          <p:cNvPr id="272" name="Google Shape;27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750" y="1419950"/>
            <a:ext cx="5526979" cy="310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3"/>
          <p:cNvSpPr txBox="1"/>
          <p:nvPr/>
        </p:nvSpPr>
        <p:spPr>
          <a:xfrm>
            <a:off x="77250" y="118475"/>
            <a:ext cx="88065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Explain the main issues with recurrent neural networks in at least three slides.</a:t>
            </a:r>
            <a:endParaRPr sz="3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F2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55"/>
          <p:cNvSpPr txBox="1"/>
          <p:nvPr/>
        </p:nvSpPr>
        <p:spPr>
          <a:xfrm>
            <a:off x="77250" y="1182825"/>
            <a:ext cx="8806500" cy="16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Exploring word embeddings: Training Neural Networks with Different Embedding Dimensions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6"/>
          <p:cNvSpPr txBox="1"/>
          <p:nvPr/>
        </p:nvSpPr>
        <p:spPr>
          <a:xfrm>
            <a:off x="77250" y="118475"/>
            <a:ext cx="8806500" cy="48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rgbClr val="595959"/>
                </a:solidFill>
              </a:rPr>
              <a:t>Construct two phrases as training data, each containing three words (tokens). Train two neural networks in PyTorch: the first with an embedding dimension of 2 and the second with an </a:t>
            </a:r>
            <a:r>
              <a:rPr lang="pt-BR" sz="3000">
                <a:solidFill>
                  <a:schemeClr val="dk2"/>
                </a:solidFill>
              </a:rPr>
              <a:t>embedding dimension of 4. 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7"/>
          <p:cNvSpPr txBox="1"/>
          <p:nvPr/>
        </p:nvSpPr>
        <p:spPr>
          <a:xfrm>
            <a:off x="77250" y="118475"/>
            <a:ext cx="8806500" cy="48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2"/>
                </a:solidFill>
              </a:rPr>
              <a:t>Explain each model step-by-step and compare how the choice of embedding size affects the learned representations of words. For the 2D case, plot the embeddings before and after training.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2"/>
                </a:solidFill>
              </a:rPr>
              <a:t>Model 1</a:t>
            </a:r>
            <a:r>
              <a:rPr lang="pt-BR" sz="3000">
                <a:solidFill>
                  <a:schemeClr val="dk2"/>
                </a:solidFill>
              </a:rPr>
              <a:t>: Uses an embedding dimension of 2 (meaning each word will be mapped to a 2D vector).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3000">
                <a:solidFill>
                  <a:schemeClr val="dk2"/>
                </a:solidFill>
              </a:rPr>
              <a:t>Model 2</a:t>
            </a:r>
            <a:r>
              <a:rPr lang="pt-BR" sz="3000">
                <a:solidFill>
                  <a:schemeClr val="dk2"/>
                </a:solidFill>
              </a:rPr>
              <a:t>: Uses an embedding dimension of 4 (each word will be mapped to a 4D vector).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