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cae5b51a6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acae5b51a6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acae5b51a6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acae5b51a6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cae5b51a6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cae5b51a6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cae5b51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cae5b51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cae5b51a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acae5b51a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cae5b51a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cae5b51a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cae5b51a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cae5b51a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cae5b51a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cae5b51a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cae5b51a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cae5b51a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cae5b51a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cae5b51a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cae5b51a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cae5b51a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cae5b51a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cae5b51a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cae5b51a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cae5b51a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cae5b51a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cae5b51a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cae5b51a6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cae5b51a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cae5b51a6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3acae5b51a6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cae5b51a6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g3acae5b51a6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cae5b51a6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g3acae5b51a6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cae5b51a6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3acae5b51a6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cae5b51a6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g3acae5b51a6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cae5b51a6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acae5b51a6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cae5b51a6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g3acae5b51a6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cae5b51a6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g3acae5b51a6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cae5b51a6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g3acae5b51a6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cae5b51a6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g3acae5b51a6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cae5b51a6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cae5b51a6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cae5b51a6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acae5b51a6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cae5b51a6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cae5b51a6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cae5b51a6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cae5b51a6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cae5b51a6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cae5b51a6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cae5b51a6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acae5b51a6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cae5b51a6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acae5b51a6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presentation/d/1aiUErgazjXrGG-CLd1InOdm9IqImEjMB9Zztvf16INA/edit?usp=drive_link" TargetMode="External"/><Relationship Id="rId4" Type="http://schemas.openxmlformats.org/officeDocument/2006/relationships/hyperlink" Target="https://docs.google.com/presentation/d/1OG0Npb8iWfM8NvaGPRV2gQBB0J5OF1Qb/edit?usp=drive_link&amp;ouid=106518696571208942024&amp;rtpof=true&amp;sd=true" TargetMode="External"/><Relationship Id="rId5" Type="http://schemas.openxmlformats.org/officeDocument/2006/relationships/hyperlink" Target="https://docs.google.com/presentation/d/1eLZH1P6vo5OnxDNT8FyKJs7Sqra8rSOd/edit?usp=drive_link&amp;ouid=106518696571208942024&amp;rtpof=true&amp;sd=true" TargetMode="External"/><Relationship Id="rId6" Type="http://schemas.openxmlformats.org/officeDocument/2006/relationships/hyperlink" Target="https://docs.google.com/presentation/d/1rUf4f0BJs36Kl7uMTJQiY_LukzDKhBPx/edit?usp=drive_link&amp;ouid=106518696571208942024&amp;rtpof=true&amp;sd=tru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docs.google.com/presentation/d/1wsU_IalwtGaX4QzEU8qxg_7B527ECt0M/edit?usp=sharing&amp;ouid=106518696571208942024&amp;rtpof=true&amp;sd=true" TargetMode="External"/><Relationship Id="rId4" Type="http://schemas.openxmlformats.org/officeDocument/2006/relationships/hyperlink" Target="https://docs.google.com/presentation/d/1lPW5wO2I-WFa26XDFy_iEy8UGAFDyVzh/edit?usp=drive_link&amp;ouid=106518696571208942024&amp;rtpof=true&amp;sd=true"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docs.google.com/presentation/d/1wlAcXFmmWiyTWcF-j47sbIKSaU4n3EjA/edit?usp=drive_link&amp;ouid=106518696571208942024&amp;rtpof=true&amp;sd=true"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docs.google.com/presentation/d/1EBJiNUFcArXBPJu9AgSH6RxAD3PUsil8/edit?usp=drive_link&amp;ouid=106518696571208942024&amp;rtpof=true&amp;sd=true" TargetMode="External"/><Relationship Id="rId4" Type="http://schemas.openxmlformats.org/officeDocument/2006/relationships/hyperlink" Target="https://docs.google.com/presentation/d/1ajw7-n8htrXh9UsHXCmB7pHvFZaRZFdRMgyXOw79BTs/edit?usp=drive_link" TargetMode="External"/><Relationship Id="rId5"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docs.google.com/presentation/d/1EBJiNUFcArXBPJu9AgSH6RxAD3PUsil8/edit?usp=drive_link&amp;ouid=106518696571208942024&amp;rtpof=true&amp;sd=true" TargetMode="External"/><Relationship Id="rId4" Type="http://schemas.openxmlformats.org/officeDocument/2006/relationships/hyperlink" Target="https://docs.google.com/presentation/d/1ajw7-n8htrXh9UsHXCmB7pHvFZaRZFdRMgyXOw79BTs/edit?usp=drive_link" TargetMode="External"/><Relationship Id="rId5"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55850" y="1282100"/>
            <a:ext cx="8832300" cy="319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pt-BR" sz="5000"/>
              <a:t>Z-score e Binomial Distribution</a:t>
            </a:r>
            <a:br>
              <a:rPr lang="pt-BR" sz="5000"/>
            </a:br>
            <a:r>
              <a:rPr lang="pt-BR" sz="5000"/>
              <a:t>Sample distribution and sampling distribution TLC p-value</a:t>
            </a:r>
            <a:endParaRPr sz="5000"/>
          </a:p>
          <a:p>
            <a:pPr indent="0" lvl="0" marL="0" rtl="0" algn="l">
              <a:spcBef>
                <a:spcPts val="0"/>
              </a:spcBef>
              <a:spcAft>
                <a:spcPts val="0"/>
              </a:spcAft>
              <a:buNone/>
            </a:pPr>
            <a:r>
              <a:t/>
            </a:r>
            <a:endParaRPr sz="5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Jupyter e git</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Fazer cada atividade no Jupyter (Collab) e use o Git para gerenciar o seu projeto. Sem esse requisito sua tarefa não será avaliada. Poste apenas os links. </a:t>
            </a:r>
            <a:endParaRPr/>
          </a:p>
          <a:p>
            <a:pPr indent="0" lvl="0" marL="0" rtl="0" algn="l">
              <a:spcBef>
                <a:spcPts val="1200"/>
              </a:spcBef>
              <a:spcAft>
                <a:spcPts val="0"/>
              </a:spcAft>
              <a:buNone/>
            </a:pPr>
            <a:r>
              <a:rPr lang="pt-BR"/>
              <a:t>Organize seu Jupyter de acordo com essa apresentação. Se a organização estiver confusa, a atividade perderá pontos.</a:t>
            </a:r>
            <a:endParaRPr/>
          </a:p>
          <a:p>
            <a:pPr indent="0" lvl="0" marL="0" rtl="0" algn="l">
              <a:spcBef>
                <a:spcPts val="1200"/>
              </a:spcBef>
              <a:spcAft>
                <a:spcPts val="0"/>
              </a:spcAft>
              <a:buNone/>
            </a:pPr>
            <a:r>
              <a:rPr lang="pt-BR"/>
              <a:t>Para cada parte da atividade, colocar o comando do problema e fazer uma introdução com figuras, equações e texto contextualizando o problema.</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a:t>Parte 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ctrTitle"/>
          </p:nvPr>
        </p:nvSpPr>
        <p:spPr>
          <a:xfrm>
            <a:off x="311700" y="744575"/>
            <a:ext cx="88323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pt-BR" sz="5000"/>
              <a:t>Z-score e Binomial Distribution</a:t>
            </a:r>
            <a:endParaRPr sz="5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Material</a:t>
            </a:r>
            <a:endParaRPr/>
          </a:p>
        </p:txBody>
      </p:sp>
      <p:sp>
        <p:nvSpPr>
          <p:cNvPr id="76" name="Google Shape;76;p17"/>
          <p:cNvSpPr txBox="1"/>
          <p:nvPr/>
        </p:nvSpPr>
        <p:spPr>
          <a:xfrm>
            <a:off x="661300" y="11126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chemeClr val="hlink"/>
                </a:solidFill>
                <a:hlinkClick r:id="rId3"/>
              </a:rPr>
              <a:t>Part 1 - Histograms</a:t>
            </a:r>
            <a:r>
              <a:rPr lang="pt-BR"/>
              <a:t> </a:t>
            </a:r>
            <a:endParaRPr/>
          </a:p>
        </p:txBody>
      </p:sp>
      <p:sp>
        <p:nvSpPr>
          <p:cNvPr id="77" name="Google Shape;77;p17"/>
          <p:cNvSpPr txBox="1"/>
          <p:nvPr/>
        </p:nvSpPr>
        <p:spPr>
          <a:xfrm>
            <a:off x="535325" y="15128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chemeClr val="hlink"/>
                </a:solidFill>
                <a:hlinkClick r:id="rId4"/>
              </a:rPr>
              <a:t>Part 2 - The Main Ideas behind Probability Distributions.pptx</a:t>
            </a:r>
            <a:r>
              <a:rPr lang="pt-BR"/>
              <a:t> </a:t>
            </a:r>
            <a:endParaRPr/>
          </a:p>
        </p:txBody>
      </p:sp>
      <p:sp>
        <p:nvSpPr>
          <p:cNvPr id="78" name="Google Shape;78;p17"/>
          <p:cNvSpPr txBox="1"/>
          <p:nvPr/>
        </p:nvSpPr>
        <p:spPr>
          <a:xfrm>
            <a:off x="535325" y="21284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chemeClr val="hlink"/>
                </a:solidFill>
                <a:hlinkClick r:id="rId5"/>
              </a:rPr>
              <a:t>Part 3 - The Normal Distribution.pptx</a:t>
            </a:r>
            <a:r>
              <a:rPr lang="pt-BR"/>
              <a:t> </a:t>
            </a:r>
            <a:endParaRPr/>
          </a:p>
        </p:txBody>
      </p:sp>
      <p:sp>
        <p:nvSpPr>
          <p:cNvPr id="79" name="Google Shape;79;p17"/>
          <p:cNvSpPr txBox="1"/>
          <p:nvPr/>
        </p:nvSpPr>
        <p:spPr>
          <a:xfrm>
            <a:off x="661300" y="27440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chemeClr val="hlink"/>
                </a:solidFill>
                <a:hlinkClick r:id="rId6"/>
              </a:rPr>
              <a:t>Part 3.2 - Binomial distributions.pptx</a:t>
            </a:r>
            <a:r>
              <a:rPr lang="pt-BR"/>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a:t>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idx="1" type="body"/>
          </p:nvPr>
        </p:nvSpPr>
        <p:spPr>
          <a:xfrm>
            <a:off x="311700" y="-29925"/>
            <a:ext cx="8520600" cy="43008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1200"/>
              </a:spcAft>
              <a:buNone/>
            </a:pPr>
            <a:r>
              <a:rPr lang="pt-BR" sz="3000"/>
              <a:t>Busque um dataset e faça histogramas de duas features para cada classe no dataset, conforme procedimento mostrado em sala. Faça dois conjuntos de histogramas com tamanhos de bins diferentes. Discuta os histogramas do ponto de vista de classificação usando aprendizado de máquina e também discuta os tamanhos dos bins usados.</a:t>
            </a:r>
            <a:endParaRPr sz="3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0"/>
          <p:cNvSpPr txBox="1"/>
          <p:nvPr>
            <p:ph idx="1" type="body"/>
          </p:nvPr>
        </p:nvSpPr>
        <p:spPr>
          <a:xfrm>
            <a:off x="311700" y="-29925"/>
            <a:ext cx="8520600" cy="43008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pt-BR" sz="3000"/>
              <a:t>Não esqueça do contexto sobre o dataset usado, com a explicação sobre ele, suas classes e features.</a:t>
            </a:r>
            <a:endParaRPr sz="3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a:t>B</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2"/>
          <p:cNvSpPr txBox="1"/>
          <p:nvPr>
            <p:ph idx="1" type="body"/>
          </p:nvPr>
        </p:nvSpPr>
        <p:spPr>
          <a:xfrm>
            <a:off x="143750" y="0"/>
            <a:ext cx="8520600" cy="52890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1200"/>
              </a:spcAft>
              <a:buNone/>
            </a:pPr>
            <a:r>
              <a:rPr lang="pt-BR" sz="3000"/>
              <a:t>Considerando o primeiro trabalho, defina um experimento em que dados são coletados de uma variável de interesse do seu trabalho. Produza dados artificiais, plote o histograma e a distribuição que aproxime os dados. Em seguida, defina estudos como o exemplo da pizza explicado em sala, sempre partido da versão não padronizada e depois os cálculos na versão padronizada.  Sempre considerando o contexto do seu primeiro trabalho.</a:t>
            </a:r>
            <a:endParaRPr sz="3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3"/>
          <p:cNvSpPr txBox="1"/>
          <p:nvPr>
            <p:ph type="title"/>
          </p:nvPr>
        </p:nvSpPr>
        <p:spPr>
          <a:xfrm>
            <a:off x="311700" y="445025"/>
            <a:ext cx="8520600" cy="131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Use uma função de Python e uma tabela para obter os valores de probabilidade.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a:t>C</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5"/>
          <p:cNvPicPr preferRelativeResize="0"/>
          <p:nvPr/>
        </p:nvPicPr>
        <p:blipFill>
          <a:blip r:embed="rId3">
            <a:alphaModFix/>
          </a:blip>
          <a:stretch>
            <a:fillRect/>
          </a:stretch>
        </p:blipFill>
        <p:spPr>
          <a:xfrm>
            <a:off x="218300" y="152400"/>
            <a:ext cx="8707403" cy="4838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6"/>
          <p:cNvPicPr preferRelativeResize="0"/>
          <p:nvPr/>
        </p:nvPicPr>
        <p:blipFill>
          <a:blip r:embed="rId3">
            <a:alphaModFix/>
          </a:blip>
          <a:stretch>
            <a:fillRect/>
          </a:stretch>
        </p:blipFill>
        <p:spPr>
          <a:xfrm>
            <a:off x="1212600" y="89400"/>
            <a:ext cx="5660367" cy="48387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7"/>
          <p:cNvSpPr txBox="1"/>
          <p:nvPr>
            <p:ph idx="1" type="body"/>
          </p:nvPr>
        </p:nvSpPr>
        <p:spPr>
          <a:xfrm>
            <a:off x="143750" y="0"/>
            <a:ext cx="8520600" cy="49110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pt-BR" sz="3000"/>
              <a:t>Para s = 0.80, reproduza a mesma simulação do slide anterior. Faça o cálculo explicitamente, usando a equação. Compare os resultados. Mostre o histograma também para as 10 primeiras amostras, conforme exemplo dos próximos slides.</a:t>
            </a:r>
            <a:endParaRPr sz="3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Captura de Tela (32538).png" id="134" name="Google Shape;134;p28"/>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Captura de Tela (32539).png" id="139" name="Google Shape;139;p2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descr="Captura de Tela (32540).png" id="144" name="Google Shape;144;p30"/>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Captura de Tela (32543).png" id="149" name="Google Shape;149;p31"/>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descr="Captura de Tela (32544).png" id="154" name="Google Shape;154;p32"/>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Captura de Tela (32547).png" id="159" name="Google Shape;159;p33"/>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descr="Captura de Tela (32548).png" id="164" name="Google Shape;164;p3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Captura de Tela (32549).png" id="169" name="Google Shape;169;p35"/>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descr="Captura de Tela (32550).png" id="174" name="Google Shape;174;p36"/>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descr="Captura de Tela (32551).png" id="179" name="Google Shape;179;p37"/>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a:t>Parte 2</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9"/>
          <p:cNvSpPr txBox="1"/>
          <p:nvPr>
            <p:ph type="ctrTitle"/>
          </p:nvPr>
        </p:nvSpPr>
        <p:spPr>
          <a:xfrm>
            <a:off x="0" y="744575"/>
            <a:ext cx="9013800" cy="3168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sz="3500"/>
              <a:t>Sample distribution and sampling distribution</a:t>
            </a:r>
            <a:endParaRPr sz="3500"/>
          </a:p>
          <a:p>
            <a:pPr indent="0" lvl="0" marL="0" rtl="0" algn="ctr">
              <a:spcBef>
                <a:spcPts val="0"/>
              </a:spcBef>
              <a:spcAft>
                <a:spcPts val="0"/>
              </a:spcAft>
              <a:buNone/>
            </a:pPr>
            <a:r>
              <a:rPr lang="pt-BR" sz="3500"/>
              <a:t>TLC</a:t>
            </a:r>
            <a:endParaRPr sz="3500"/>
          </a:p>
          <a:p>
            <a:pPr indent="0" lvl="0" marL="0" rtl="0" algn="ctr">
              <a:spcBef>
                <a:spcPts val="0"/>
              </a:spcBef>
              <a:spcAft>
                <a:spcPts val="0"/>
              </a:spcAft>
              <a:buNone/>
            </a:pPr>
            <a:r>
              <a:rPr lang="pt-BR" sz="3500"/>
              <a:t>p-value</a:t>
            </a:r>
            <a:endParaRPr sz="35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0"/>
          <p:cNvSpPr txBox="1"/>
          <p:nvPr>
            <p:ph type="ctrTitle"/>
          </p:nvPr>
        </p:nvSpPr>
        <p:spPr>
          <a:xfrm>
            <a:off x="125375" y="187050"/>
            <a:ext cx="8779800" cy="572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sz="2300"/>
              <a:t>A: </a:t>
            </a:r>
            <a:r>
              <a:rPr i="1" lang="pt-BR" sz="2400">
                <a:solidFill>
                  <a:schemeClr val="dk2"/>
                </a:solidFill>
              </a:rPr>
              <a:t>sample distribution</a:t>
            </a:r>
            <a:r>
              <a:rPr lang="pt-BR" sz="2400">
                <a:solidFill>
                  <a:schemeClr val="dk2"/>
                </a:solidFill>
              </a:rPr>
              <a:t> and </a:t>
            </a:r>
            <a:r>
              <a:rPr i="1" lang="pt-BR" sz="2400">
                <a:solidFill>
                  <a:schemeClr val="dk2"/>
                </a:solidFill>
              </a:rPr>
              <a:t>sampling distribution</a:t>
            </a:r>
            <a:endParaRPr sz="2300"/>
          </a:p>
        </p:txBody>
      </p:sp>
      <p:sp>
        <p:nvSpPr>
          <p:cNvPr id="195" name="Google Shape;195;p40"/>
          <p:cNvSpPr txBox="1"/>
          <p:nvPr/>
        </p:nvSpPr>
        <p:spPr>
          <a:xfrm>
            <a:off x="173375" y="803225"/>
            <a:ext cx="8731800" cy="3103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200"/>
              </a:spcAft>
              <a:buNone/>
            </a:pPr>
            <a:r>
              <a:rPr lang="pt-BR" sz="2400">
                <a:solidFill>
                  <a:schemeClr val="dk2"/>
                </a:solidFill>
              </a:rPr>
              <a:t>A partir do que foi feito na Atividade 2 “Considerando o primeiro trabalho, defina um experimento em que dados são coletados de uma variável de interesse do seu trabalho”, crie  uma população artificial dessa variável com uma distribuição Gaussiana e demonstre </a:t>
            </a:r>
            <a:r>
              <a:rPr i="1" lang="pt-BR" sz="2400">
                <a:solidFill>
                  <a:schemeClr val="dk2"/>
                </a:solidFill>
              </a:rPr>
              <a:t>sample distribution</a:t>
            </a:r>
            <a:r>
              <a:rPr lang="pt-BR" sz="2400">
                <a:solidFill>
                  <a:schemeClr val="dk2"/>
                </a:solidFill>
              </a:rPr>
              <a:t> and </a:t>
            </a:r>
            <a:r>
              <a:rPr i="1" lang="pt-BR" sz="2400">
                <a:solidFill>
                  <a:schemeClr val="dk2"/>
                </a:solidFill>
              </a:rPr>
              <a:t>sampling distribution</a:t>
            </a:r>
            <a:r>
              <a:rPr lang="pt-BR" sz="2400">
                <a:solidFill>
                  <a:schemeClr val="dk2"/>
                </a:solidFill>
              </a:rPr>
              <a:t>. Faça avaliações de probabilidade de possíveis eventos.</a:t>
            </a:r>
            <a:endParaRPr sz="2400"/>
          </a:p>
        </p:txBody>
      </p:sp>
      <p:sp>
        <p:nvSpPr>
          <p:cNvPr id="196" name="Google Shape;196;p40"/>
          <p:cNvSpPr txBox="1"/>
          <p:nvPr/>
        </p:nvSpPr>
        <p:spPr>
          <a:xfrm>
            <a:off x="913250" y="4301575"/>
            <a:ext cx="361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chemeClr val="hlink"/>
                </a:solidFill>
                <a:hlinkClick r:id="rId3"/>
              </a:rPr>
              <a:t>Part 9 - Sampling from a Distribution.pptx</a:t>
            </a:r>
            <a:r>
              <a:rPr lang="pt-BR"/>
              <a:t> </a:t>
            </a:r>
            <a:endParaRPr/>
          </a:p>
        </p:txBody>
      </p:sp>
      <p:sp>
        <p:nvSpPr>
          <p:cNvPr id="197" name="Google Shape;197;p40"/>
          <p:cNvSpPr txBox="1"/>
          <p:nvPr/>
        </p:nvSpPr>
        <p:spPr>
          <a:xfrm>
            <a:off x="749775" y="3852350"/>
            <a:ext cx="645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chemeClr val="hlink"/>
                </a:solidFill>
                <a:hlinkClick r:id="rId4"/>
              </a:rPr>
              <a:t>Part 6  - Calculating the Mean, Variance and Standard Deviation.pptx</a:t>
            </a:r>
            <a:r>
              <a:rPr lang="pt-BR"/>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1"/>
          <p:cNvSpPr txBox="1"/>
          <p:nvPr>
            <p:ph type="ctrTitle"/>
          </p:nvPr>
        </p:nvSpPr>
        <p:spPr>
          <a:xfrm>
            <a:off x="125375" y="187050"/>
            <a:ext cx="8779800" cy="572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sz="2300"/>
              <a:t>B: </a:t>
            </a:r>
            <a:r>
              <a:rPr i="1" lang="pt-BR" sz="2400">
                <a:solidFill>
                  <a:schemeClr val="dk2"/>
                </a:solidFill>
              </a:rPr>
              <a:t>TLC</a:t>
            </a:r>
            <a:endParaRPr sz="2300"/>
          </a:p>
        </p:txBody>
      </p:sp>
      <p:sp>
        <p:nvSpPr>
          <p:cNvPr id="203" name="Google Shape;203;p41"/>
          <p:cNvSpPr txBox="1"/>
          <p:nvPr/>
        </p:nvSpPr>
        <p:spPr>
          <a:xfrm>
            <a:off x="173375" y="803225"/>
            <a:ext cx="8731800" cy="978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200"/>
              </a:spcAft>
              <a:buNone/>
            </a:pPr>
            <a:r>
              <a:rPr lang="pt-BR" sz="2400">
                <a:solidFill>
                  <a:schemeClr val="dk2"/>
                </a:solidFill>
              </a:rPr>
              <a:t>Aplique o TLC a função de distribuição gama e avalie quatro diferentes tamanhos de amostra, começando em 10.</a:t>
            </a:r>
            <a:endParaRPr sz="2400"/>
          </a:p>
        </p:txBody>
      </p:sp>
      <p:sp>
        <p:nvSpPr>
          <p:cNvPr id="204" name="Google Shape;204;p41"/>
          <p:cNvSpPr txBox="1"/>
          <p:nvPr/>
        </p:nvSpPr>
        <p:spPr>
          <a:xfrm>
            <a:off x="2718700" y="2171550"/>
            <a:ext cx="4402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chemeClr val="hlink"/>
                </a:solidFill>
                <a:hlinkClick r:id="rId3"/>
              </a:rPr>
              <a:t>Part 4 - The Central Limit Theorem.pptx</a:t>
            </a:r>
            <a:r>
              <a:rPr lang="pt-BR"/>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42"/>
          <p:cNvSpPr txBox="1"/>
          <p:nvPr>
            <p:ph type="ctrTitle"/>
          </p:nvPr>
        </p:nvSpPr>
        <p:spPr>
          <a:xfrm>
            <a:off x="125375" y="187050"/>
            <a:ext cx="8779800" cy="572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sz="2300"/>
              <a:t>C: </a:t>
            </a:r>
            <a:r>
              <a:rPr i="1" lang="pt-BR" sz="2400">
                <a:solidFill>
                  <a:schemeClr val="dk2"/>
                </a:solidFill>
              </a:rPr>
              <a:t>p-value</a:t>
            </a:r>
            <a:endParaRPr sz="2300"/>
          </a:p>
        </p:txBody>
      </p:sp>
      <p:sp>
        <p:nvSpPr>
          <p:cNvPr id="210" name="Google Shape;210;p42"/>
          <p:cNvSpPr txBox="1"/>
          <p:nvPr/>
        </p:nvSpPr>
        <p:spPr>
          <a:xfrm>
            <a:off x="173375" y="803225"/>
            <a:ext cx="8731800" cy="978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200"/>
              </a:spcAft>
              <a:buNone/>
            </a:pPr>
            <a:r>
              <a:rPr lang="pt-BR" sz="2400">
                <a:solidFill>
                  <a:schemeClr val="dk2"/>
                </a:solidFill>
              </a:rPr>
              <a:t>Faça um programa que mostra o passo a passo para calcular o p-value do evento abaixo. Coloque figuras para cada passo.</a:t>
            </a:r>
            <a:endParaRPr sz="2400"/>
          </a:p>
        </p:txBody>
      </p:sp>
      <p:sp>
        <p:nvSpPr>
          <p:cNvPr id="211" name="Google Shape;211;p42"/>
          <p:cNvSpPr txBox="1"/>
          <p:nvPr/>
        </p:nvSpPr>
        <p:spPr>
          <a:xfrm>
            <a:off x="2857825" y="41839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chemeClr val="hlink"/>
                </a:solidFill>
                <a:hlinkClick r:id="rId3"/>
              </a:rPr>
              <a:t>Part 7_1 - What are p-values?.pptx</a:t>
            </a:r>
            <a:r>
              <a:rPr lang="pt-BR"/>
              <a:t> </a:t>
            </a:r>
            <a:endParaRPr/>
          </a:p>
        </p:txBody>
      </p:sp>
      <p:sp>
        <p:nvSpPr>
          <p:cNvPr id="212" name="Google Shape;212;p42"/>
          <p:cNvSpPr txBox="1"/>
          <p:nvPr/>
        </p:nvSpPr>
        <p:spPr>
          <a:xfrm>
            <a:off x="2799025" y="3725550"/>
            <a:ext cx="404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chemeClr val="hlink"/>
                </a:solidFill>
                <a:hlinkClick r:id="rId4"/>
              </a:rPr>
              <a:t>Part 7_2 - How to calculate p-values</a:t>
            </a:r>
            <a:r>
              <a:rPr lang="pt-BR"/>
              <a:t> </a:t>
            </a:r>
            <a:endParaRPr/>
          </a:p>
        </p:txBody>
      </p:sp>
      <p:pic>
        <p:nvPicPr>
          <p:cNvPr descr="Captura de Tela (10306).png" id="213" name="Google Shape;213;p42"/>
          <p:cNvPicPr preferRelativeResize="0"/>
          <p:nvPr/>
        </p:nvPicPr>
        <p:blipFill rotWithShape="1">
          <a:blip r:embed="rId5">
            <a:alphaModFix/>
          </a:blip>
          <a:srcRect b="85210" l="8894" r="52866" t="0"/>
          <a:stretch/>
        </p:blipFill>
        <p:spPr>
          <a:xfrm>
            <a:off x="2316775" y="1945150"/>
            <a:ext cx="3698501" cy="80465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3"/>
          <p:cNvSpPr txBox="1"/>
          <p:nvPr>
            <p:ph type="ctrTitle"/>
          </p:nvPr>
        </p:nvSpPr>
        <p:spPr>
          <a:xfrm>
            <a:off x="125375" y="187050"/>
            <a:ext cx="8779800" cy="572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pt-BR" sz="2300"/>
              <a:t>D: </a:t>
            </a:r>
            <a:r>
              <a:rPr i="1" lang="pt-BR" sz="2400">
                <a:solidFill>
                  <a:schemeClr val="dk2"/>
                </a:solidFill>
              </a:rPr>
              <a:t>p-value</a:t>
            </a:r>
            <a:endParaRPr sz="2300"/>
          </a:p>
        </p:txBody>
      </p:sp>
      <p:sp>
        <p:nvSpPr>
          <p:cNvPr id="219" name="Google Shape;219;p43"/>
          <p:cNvSpPr txBox="1"/>
          <p:nvPr/>
        </p:nvSpPr>
        <p:spPr>
          <a:xfrm>
            <a:off x="173375" y="803225"/>
            <a:ext cx="8731800" cy="2678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200"/>
              </a:spcAft>
              <a:buNone/>
            </a:pPr>
            <a:r>
              <a:rPr lang="pt-BR" sz="2400">
                <a:solidFill>
                  <a:schemeClr val="dk2"/>
                </a:solidFill>
              </a:rPr>
              <a:t>Crie duas Gaussianas como mostrado abaixo (é só variar a média). Sortei 100 sequências de três valores na azul e para cada sequência calcule o p-value a partir da vermelha. Veja a seta vermelha que indica a partir de qual amostra é calculado p-value. Calcule a taxa de falso negativos (p-value acima de 5%).</a:t>
            </a:r>
            <a:endParaRPr sz="2400"/>
          </a:p>
        </p:txBody>
      </p:sp>
      <p:sp>
        <p:nvSpPr>
          <p:cNvPr id="220" name="Google Shape;220;p43"/>
          <p:cNvSpPr txBox="1"/>
          <p:nvPr/>
        </p:nvSpPr>
        <p:spPr>
          <a:xfrm>
            <a:off x="726950" y="44807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chemeClr val="hlink"/>
                </a:solidFill>
                <a:hlinkClick r:id="rId3"/>
              </a:rPr>
              <a:t>Part 7_1 - What are p-values?.pptx</a:t>
            </a:r>
            <a:r>
              <a:rPr lang="pt-BR"/>
              <a:t> </a:t>
            </a:r>
            <a:endParaRPr/>
          </a:p>
        </p:txBody>
      </p:sp>
      <p:sp>
        <p:nvSpPr>
          <p:cNvPr id="221" name="Google Shape;221;p43"/>
          <p:cNvSpPr txBox="1"/>
          <p:nvPr/>
        </p:nvSpPr>
        <p:spPr>
          <a:xfrm>
            <a:off x="2799025" y="3725550"/>
            <a:ext cx="404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u="sng">
                <a:solidFill>
                  <a:schemeClr val="hlink"/>
                </a:solidFill>
                <a:hlinkClick r:id="rId4"/>
              </a:rPr>
              <a:t>Part 7_2 - How to calculate p-values</a:t>
            </a:r>
            <a:r>
              <a:rPr lang="pt-BR"/>
              <a:t> </a:t>
            </a:r>
            <a:endParaRPr/>
          </a:p>
        </p:txBody>
      </p:sp>
      <p:pic>
        <p:nvPicPr>
          <p:cNvPr descr="Captura de Tela (31408).png" id="222" name="Google Shape;222;p43"/>
          <p:cNvPicPr preferRelativeResize="0"/>
          <p:nvPr/>
        </p:nvPicPr>
        <p:blipFill rotWithShape="1">
          <a:blip r:embed="rId5">
            <a:alphaModFix/>
          </a:blip>
          <a:srcRect b="47200" l="25830" r="30553" t="24719"/>
          <a:stretch/>
        </p:blipFill>
        <p:spPr>
          <a:xfrm>
            <a:off x="2604850" y="3056524"/>
            <a:ext cx="3565123" cy="1291124"/>
          </a:xfrm>
          <a:prstGeom prst="rect">
            <a:avLst/>
          </a:prstGeom>
          <a:noFill/>
          <a:ln>
            <a:noFill/>
          </a:ln>
        </p:spPr>
      </p:pic>
      <p:cxnSp>
        <p:nvCxnSpPr>
          <p:cNvPr id="223" name="Google Shape;223;p43"/>
          <p:cNvCxnSpPr/>
          <p:nvPr/>
        </p:nvCxnSpPr>
        <p:spPr>
          <a:xfrm rot="10800000">
            <a:off x="4572000" y="4347650"/>
            <a:ext cx="0" cy="564900"/>
          </a:xfrm>
          <a:prstGeom prst="straightConnector1">
            <a:avLst/>
          </a:prstGeom>
          <a:noFill/>
          <a:ln cap="flat" cmpd="sng" w="28575">
            <a:solidFill>
              <a:srgbClr val="FF0000"/>
            </a:solidFill>
            <a:prstDash val="solid"/>
            <a:round/>
            <a:headEnd len="med" w="med" type="none"/>
            <a:tailEnd len="med" w="med" type="triangle"/>
          </a:ln>
        </p:spPr>
      </p:cxnSp>
      <p:sp>
        <p:nvSpPr>
          <p:cNvPr id="224" name="Google Shape;224;p43"/>
          <p:cNvSpPr txBox="1"/>
          <p:nvPr/>
        </p:nvSpPr>
        <p:spPr>
          <a:xfrm>
            <a:off x="6144000" y="3631950"/>
            <a:ext cx="30000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100">
                <a:solidFill>
                  <a:schemeClr val="dk1"/>
                </a:solidFill>
              </a:rPr>
              <a:t>Taxa de falsos negativos:</a:t>
            </a:r>
            <a:r>
              <a:rPr lang="pt-BR" sz="1100">
                <a:solidFill>
                  <a:schemeClr val="dk1"/>
                </a:solidFill>
              </a:rPr>
              <a:t> </a:t>
            </a:r>
            <a:r>
              <a:rPr b="1" lang="pt-BR" sz="1100">
                <a:solidFill>
                  <a:schemeClr val="dk1"/>
                </a:solidFill>
              </a:rPr>
              <a:t>desde que se adote como hipótese nula a distribuição vermelha</a:t>
            </a:r>
            <a:r>
              <a:rPr lang="pt-BR" sz="1100">
                <a:solidFill>
                  <a:schemeClr val="dk1"/>
                </a:solidFill>
              </a:rPr>
              <a:t> e que a distribuição azul represente uma </a:t>
            </a:r>
            <a:r>
              <a:rPr b="1" lang="pt-BR" sz="1100">
                <a:solidFill>
                  <a:schemeClr val="dk1"/>
                </a:solidFill>
              </a:rPr>
              <a:t>situação alternativa verdadeira</a:t>
            </a:r>
            <a:r>
              <a:rPr lang="pt-BR" sz="1100">
                <a:solidFill>
                  <a:schemeClr val="dk1"/>
                </a:solidFill>
              </a:rPr>
              <a: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44"/>
          <p:cNvPicPr preferRelativeResize="0"/>
          <p:nvPr/>
        </p:nvPicPr>
        <p:blipFill>
          <a:blip r:embed="rId3">
            <a:alphaModFix/>
          </a:blip>
          <a:stretch>
            <a:fillRect/>
          </a:stretch>
        </p:blipFill>
        <p:spPr>
          <a:xfrm>
            <a:off x="152400" y="152400"/>
            <a:ext cx="8839200" cy="3568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