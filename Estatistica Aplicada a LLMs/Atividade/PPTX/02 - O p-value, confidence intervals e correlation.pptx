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Roboto Mon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obotoMono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boldItalic.fntdata"/><Relationship Id="rId30" Type="http://schemas.openxmlformats.org/officeDocument/2006/relationships/font" Target="fonts/RobotoMon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0250b723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0250b723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b3b892b0f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b3b892b0f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3b892b0f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b3b892b0f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3b892b0f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3b892b0f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0250b723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0250b723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0250b723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0250b723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0250b723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0250b723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0250b7238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0250b723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0250b7238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0250b723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0250b7238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0250b7238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0250b7238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0250b7238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0250b7238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b0250b723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0250b7238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0250b7238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0250b7238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b0250b7238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0250b7238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b0250b723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0250b7238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b0250b7238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0250b7238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b0250b7238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b0250b7238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b0250b7238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b0250b7238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b0250b7238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0250b7238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b0250b7238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b0250b7238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b0250b7238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0250b7238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b0250b7238_0_1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docs.google.com/presentation/d/1gMKonLnK3buDUGGJGt1AAS-Ki3jT93LZ/edit?usp=sharing&amp;ouid=106518696571208942024&amp;rtpof=true&amp;sd=true" TargetMode="External"/><Relationship Id="rId4" Type="http://schemas.openxmlformats.org/officeDocument/2006/relationships/hyperlink" Target="https://drive.google.com/drive/folders/1FiGKb2AvA6w361WF9fNH4fpvN58x9fvT?usp=drive_link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colab.research.google.com/drive/13V7IT7XbnNVf4VVehObHO6NZUxaqdl_f?usp=sharing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docs.google.com/presentation/d/1gMKonLnK3buDUGGJGt1AAS-Ki3jT93LZ/edit?usp=sharing&amp;ouid=106518696571208942024&amp;rtpof=true&amp;sd=true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docs.google.com/presentation/d/173YGP2vdLcrlaHM2XCJv1_8vdWRJs-vL/edit?usp=sharing&amp;ouid=106518696571208942024&amp;rtpof=true&amp;sd=true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Programas em Python for p-value, confidence intervals e correlation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692800" y="2949625"/>
            <a:ext cx="496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What are confidence intervals?.pptx</a:t>
            </a:r>
            <a:r>
              <a:rPr lang="pt-BR"/>
              <a:t> 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860750" y="35022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4"/>
              </a:rPr>
              <a:t>Covariance and correlation</a:t>
            </a:r>
            <a:r>
              <a:rPr lang="pt-BR"/>
              <a:t>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231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Instruções (requisitos) 2-1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863550"/>
            <a:ext cx="8520600" cy="39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/>
              <a:t>Fazer cada atividade no Jupyter (Collab). Poste apenas os links.</a:t>
            </a:r>
            <a:endParaRPr sz="25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500"/>
              <a:t>Crie um novo repositório para a segunda avaliação. Coloque no repositório esta atividade e a Atividade 2.1. O repositório deve ser privado. Coloque-me como colaborador.</a:t>
            </a:r>
            <a:endParaRPr sz="2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500"/>
              <a:t>Para cada parte da atividade, colocar como figuras os slides do comando do problema antes de cada solução.</a:t>
            </a:r>
            <a:endParaRPr sz="2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231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Instruções (requisitos) 2-2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863550"/>
            <a:ext cx="8520600" cy="39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Quando eu falar “faça a análise os resultados”, a análise deve estar em um célula de texto. Sem a análise detalhada, a tarefa não será avaliada. Na verdade, eu não preciso falar nada: cada parte da atividade sempre tem de ter análises de resultados e conclusão.</a:t>
            </a:r>
            <a:endParaRPr sz="3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231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Instruções (requisitos) 2-3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863550"/>
            <a:ext cx="8520600" cy="39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Caso algum requisito esteja faltando, sua tarefa não será analisada.</a:t>
            </a:r>
            <a:endParaRPr sz="3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- Correlação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/>
        </p:nvSpPr>
        <p:spPr>
          <a:xfrm>
            <a:off x="163175" y="266375"/>
            <a:ext cx="9048600" cy="43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</a:rPr>
              <a:t>Faça plotes similares as duas figuras mostradas nos dois próximos slides.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</a:rPr>
              <a:t>Cada uma deve ter 9 pontos. A segunda deve ter seus dados gerados aleatoriamente com uma distribuição uniforme no mesmo intervalo da primeira.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</a:rPr>
              <a:t>Use a função linregress para achar um reta que represente os dados e também para calcular o p-value. Interprete os resultados. Pesquise sobre a função linregress. 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</a:rPr>
              <a:t>Calcule a covariância e interprete os resultados.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594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1525" y="95800"/>
            <a:ext cx="5405901" cy="462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B: Estimando um Intervalo de Confiança para a Média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2"/>
          <p:cNvSpPr txBox="1"/>
          <p:nvPr/>
        </p:nvSpPr>
        <p:spPr>
          <a:xfrm>
            <a:off x="95400" y="276875"/>
            <a:ext cx="9048600" cy="44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</a:rPr>
              <a:t>Obtenha um conjunto de dados amostrais (por exemplo, pesos de indivíduos, notas de testes, etc.).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</a:rPr>
              <a:t>Calcule o intervalo de confiança de 95% para a média da população seguindo os passos: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pt-BR" sz="2000">
                <a:solidFill>
                  <a:schemeClr val="dk1"/>
                </a:solidFill>
              </a:rPr>
              <a:t>Calcular a média e o desvio padrão da amostra.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pt-BR" sz="2000">
                <a:solidFill>
                  <a:schemeClr val="dk1"/>
                </a:solidFill>
              </a:rPr>
              <a:t>Usar a fórmula para intervalo de confiança ou a biblioteca </a:t>
            </a:r>
            <a:r>
              <a:rPr lang="pt-BR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scipy.stats</a:t>
            </a:r>
            <a:r>
              <a:rPr lang="pt-BR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</a:rPr>
              <a:t>Desafio: Repetir o processo para diferentes níveis de confiança (por exemplo, 90%, 99%) e comparar os resultados.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</a:rPr>
              <a:t>Visualizar os intervalos de confiança em um gráfico usando matplotlib para mostrar a variabilidade.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C: p-value em um Teste de Hipótese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4"/>
          <p:cNvSpPr txBox="1"/>
          <p:nvPr/>
        </p:nvSpPr>
        <p:spPr>
          <a:xfrm>
            <a:off x="47700" y="1056800"/>
            <a:ext cx="9048600" cy="29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pt-BR" sz="2000">
                <a:solidFill>
                  <a:schemeClr val="dk1"/>
                </a:solidFill>
              </a:rPr>
              <a:t>Forneça dois conjuntos de dados: um para um grupo de controle e outro para um grupo de teste.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pt-BR" sz="2000">
                <a:solidFill>
                  <a:schemeClr val="dk1"/>
                </a:solidFill>
              </a:rPr>
              <a:t>Formule a hipótese nula.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pt-BR" sz="2000">
                <a:solidFill>
                  <a:schemeClr val="dk1"/>
                </a:solidFill>
              </a:rPr>
              <a:t>Realizar um teste t de duas amostras usando scipy.stats.ttest_ind.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00">
                <a:solidFill>
                  <a:schemeClr val="dk1"/>
                </a:solidFill>
              </a:rPr>
              <a:t>Interpretar o p-value resultante e decidir se rejeitam a hipótese nula em um nível de significância dado (por exemplo, 0,05).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15" name="Google Shape;115;p24"/>
          <p:cNvSpPr txBox="1"/>
          <p:nvPr>
            <p:ph type="title"/>
          </p:nvPr>
        </p:nvSpPr>
        <p:spPr>
          <a:xfrm>
            <a:off x="125375" y="187050"/>
            <a:ext cx="877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300"/>
              <a:t>C: p-value em um Teste de Hipótese</a:t>
            </a:r>
            <a:endParaRPr sz="23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D: significance_level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6"/>
          <p:cNvSpPr txBox="1"/>
          <p:nvPr>
            <p:ph type="title"/>
          </p:nvPr>
        </p:nvSpPr>
        <p:spPr>
          <a:xfrm>
            <a:off x="125375" y="187050"/>
            <a:ext cx="877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300"/>
              <a:t>Faça slides explicando o código abaixo e interpretando os resultados</a:t>
            </a:r>
            <a:endParaRPr sz="2300"/>
          </a:p>
        </p:txBody>
      </p:sp>
      <p:sp>
        <p:nvSpPr>
          <p:cNvPr id="126" name="Google Shape;126;p26"/>
          <p:cNvSpPr txBox="1"/>
          <p:nvPr/>
        </p:nvSpPr>
        <p:spPr>
          <a:xfrm>
            <a:off x="2035700" y="1074025"/>
            <a:ext cx="4184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https://colab.research.google.com/drive/13V7IT7XbnNVf4VVehObHO6NZUxaqdl_f?usp=sharing</a:t>
            </a:r>
            <a:r>
              <a:rPr lang="pt-BR"/>
              <a:t> </a:t>
            </a:r>
            <a:endParaRPr/>
          </a:p>
        </p:txBody>
      </p:sp>
      <p:sp>
        <p:nvSpPr>
          <p:cNvPr id="127" name="Google Shape;127;p26"/>
          <p:cNvSpPr txBox="1"/>
          <p:nvPr/>
        </p:nvSpPr>
        <p:spPr>
          <a:xfrm>
            <a:off x="125375" y="1689625"/>
            <a:ext cx="90486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</a:rPr>
              <a:t>Teste com dois valores para </a:t>
            </a:r>
            <a:r>
              <a:rPr lang="pt-BR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significance_level</a:t>
            </a:r>
            <a:endParaRPr>
              <a:solidFill>
                <a:schemeClr val="dk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</a:rPr>
              <a:t>Pelo menos quatro slides com a explicação e interpretação.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E: reproduzindo slides em código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8"/>
          <p:cNvSpPr txBox="1"/>
          <p:nvPr>
            <p:ph type="title"/>
          </p:nvPr>
        </p:nvSpPr>
        <p:spPr>
          <a:xfrm>
            <a:off x="248725" y="885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Reproduza em Python o conteúdo dos slides de 24 a 46.</a:t>
            </a:r>
            <a:endParaRPr/>
          </a:p>
        </p:txBody>
      </p:sp>
      <p:sp>
        <p:nvSpPr>
          <p:cNvPr id="138" name="Google Shape;138;p28"/>
          <p:cNvSpPr txBox="1"/>
          <p:nvPr>
            <p:ph idx="1" type="body"/>
          </p:nvPr>
        </p:nvSpPr>
        <p:spPr>
          <a:xfrm>
            <a:off x="248725" y="134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What are confidence intervals?.pptx</a:t>
            </a:r>
            <a:r>
              <a:rPr lang="pt-BR"/>
              <a:t>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F: Linear regression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0"/>
          <p:cNvSpPr txBox="1"/>
          <p:nvPr/>
        </p:nvSpPr>
        <p:spPr>
          <a:xfrm>
            <a:off x="3023125" y="2907650"/>
            <a:ext cx="500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u="sng">
                <a:solidFill>
                  <a:schemeClr val="hlink"/>
                </a:solidFill>
                <a:hlinkClick r:id="rId3"/>
              </a:rPr>
              <a:t>Part 6  - Linear Regression.pptx</a:t>
            </a:r>
            <a:r>
              <a:rPr lang="pt-BR" sz="1800"/>
              <a:t> </a:t>
            </a:r>
            <a:endParaRPr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aptura de Tela (31156).png" id="153" name="Google Shape;15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175" y="54825"/>
            <a:ext cx="8745499" cy="491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2"/>
          <p:cNvSpPr txBox="1"/>
          <p:nvPr>
            <p:ph type="title"/>
          </p:nvPr>
        </p:nvSpPr>
        <p:spPr>
          <a:xfrm>
            <a:off x="311700" y="445025"/>
            <a:ext cx="8520600" cy="131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Análise também: </a:t>
            </a:r>
            <a:endParaRPr/>
          </a:p>
        </p:txBody>
      </p:sp>
      <p:pic>
        <p:nvPicPr>
          <p:cNvPr id="159" name="Google Shape;15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14425"/>
            <a:ext cx="4486275" cy="203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4189850"/>
            <a:ext cx="1776600" cy="44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3"/>
          <p:cNvSpPr txBox="1"/>
          <p:nvPr>
            <p:ph idx="1" type="body"/>
          </p:nvPr>
        </p:nvSpPr>
        <p:spPr>
          <a:xfrm>
            <a:off x="366000" y="249300"/>
            <a:ext cx="8118900" cy="476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3000"/>
              <a:t>Reproduza o mais próximo possível o exemplo do slide anterior. Em seguida, aplique o </a:t>
            </a:r>
            <a:r>
              <a:rPr i="1" lang="pt-BR" sz="3000"/>
              <a:t>linear regression</a:t>
            </a:r>
            <a:r>
              <a:rPr lang="pt-BR" sz="3000"/>
              <a:t> do scikit-learn. Use a biblioteca import “statsmodels.api as sm” para gerar a estatísticas da regressão linear. A partir do b obtido, use 6 diferentes a’s para plotar diferentes retas, mostrando a variação na rotação e gere também o gráfico a seguir:</a:t>
            </a:r>
            <a:endParaRPr sz="3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aptura de Tela (31148).png" id="170" name="Google Shape;170;p34"/>
          <p:cNvPicPr preferRelativeResize="0"/>
          <p:nvPr/>
        </p:nvPicPr>
        <p:blipFill rotWithShape="1">
          <a:blip r:embed="rId3">
            <a:alphaModFix/>
          </a:blip>
          <a:srcRect b="0" l="0" r="0" t="8576"/>
          <a:stretch/>
        </p:blipFill>
        <p:spPr>
          <a:xfrm>
            <a:off x="1566200" y="0"/>
            <a:ext cx="6011602" cy="3091551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34"/>
          <p:cNvSpPr txBox="1"/>
          <p:nvPr/>
        </p:nvSpPr>
        <p:spPr>
          <a:xfrm>
            <a:off x="1006800" y="3333750"/>
            <a:ext cx="71304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3000">
                <a:solidFill>
                  <a:schemeClr val="dk2"/>
                </a:solidFill>
              </a:rPr>
              <a:t>Calcule o R-Squared para cada ‘a’ e compare com o melhor obtido pelo scikit-learn. </a:t>
            </a:r>
            <a:endParaRPr/>
          </a:p>
        </p:txBody>
      </p:sp>
      <p:cxnSp>
        <p:nvCxnSpPr>
          <p:cNvPr id="172" name="Google Shape;172;p34"/>
          <p:cNvCxnSpPr/>
          <p:nvPr/>
        </p:nvCxnSpPr>
        <p:spPr>
          <a:xfrm rot="10800000">
            <a:off x="6092975" y="2665500"/>
            <a:ext cx="19050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3" name="Google Shape;173;p34"/>
          <p:cNvSpPr txBox="1"/>
          <p:nvPr/>
        </p:nvSpPr>
        <p:spPr>
          <a:xfrm>
            <a:off x="6579800" y="1632150"/>
            <a:ext cx="2352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Usar o valor de “a” aqui ao invés dessas rotações.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