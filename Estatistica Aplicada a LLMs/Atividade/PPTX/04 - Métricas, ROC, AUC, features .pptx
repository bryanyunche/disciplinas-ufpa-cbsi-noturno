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Roboto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Mono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Mono-italic.fntdata"/><Relationship Id="rId14" Type="http://schemas.openxmlformats.org/officeDocument/2006/relationships/slide" Target="slides/slide9.xml"/><Relationship Id="rId36" Type="http://schemas.openxmlformats.org/officeDocument/2006/relationships/font" Target="fonts/RobotoMon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RobotoMon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2b6a360b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2b6a360b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5f819589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5f819589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5f819589e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5f819589e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f819589e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f819589e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fa1ee4641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fa1ee464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5fa1ee464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5fa1ee464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fa1ee4641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fa1ee464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fa1ee4641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fa1ee464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fa1ee4641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fa1ee464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fa1ee4641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fa1ee4641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fa1ee464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fa1ee464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fa1ee464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fa1ee464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fa1ee464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fa1ee464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a1ee464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a1ee464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fa1ee464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fa1ee464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fa1ee464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fa1ee464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5fa1ee4641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5fa1ee464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fa1ee4641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fa1ee4641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f819589e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5f819589e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5f819589e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5f819589e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f819589e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5f819589e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f819589eb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f819589eb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f819589e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5f819589e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f819589eb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f819589eb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819589eb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819589eb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f819589eb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f819589eb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819589eb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819589eb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f819589eb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f819589eb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f819589eb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f819589eb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olab.research.google.com/drive/14GIGVoDpCZPkWRIF0GZSlexCfHIi4EI_?usp=sharing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ocs.google.com/presentation/d/1wiqGVxCGEheh7ucCQVt8sBQ1WAryvOkd/edit?usp=sharing&amp;ouid=106518696571208942024&amp;rtpof=true&amp;sd=tr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744575"/>
            <a:ext cx="91440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Métricas, ROC, AUC, features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231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Instruções (requisitos) 3-1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683275"/>
            <a:ext cx="8520600" cy="43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Fazer cada atividade no Jupyter (Collab). Poste apenas os links.</a:t>
            </a:r>
            <a:endParaRPr sz="25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500"/>
              <a:t>Siga a forma de entrega da atividade anterior.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500"/>
              <a:t>Para cada parte da atividade, colocar como figuras os slides do comando do problema antes de cada solução.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231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Instruções (requisitos) 3-2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863550"/>
            <a:ext cx="8520600" cy="39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Quando eu falar “faça a análise os resultados”, a análise deve estar em um célula de texto. Sem a análise detalhada, a tarefa não será avaliada. Na verdade, eu não preciso falar nada: cada parte da atividade sempre tem de ter análises de resultados e conclusão.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231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Instruções (requisitos) 3-3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863550"/>
            <a:ext cx="8520600" cy="39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Caso algum requisito esteja faltando, sua tarefa não será analisada.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/>
        </p:nvSpPr>
        <p:spPr>
          <a:xfrm>
            <a:off x="77250" y="118475"/>
            <a:ext cx="8806500" cy="16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>
                <a:solidFill>
                  <a:srgbClr val="595959"/>
                </a:solidFill>
              </a:rPr>
              <a:t>P</a:t>
            </a:r>
            <a:r>
              <a:rPr lang="pt-BR" sz="3000">
                <a:solidFill>
                  <a:srgbClr val="595959"/>
                </a:solidFill>
              </a:rPr>
              <a:t>oste no seu Jupyter as figuras a seguir e as explique em detalhes </a:t>
            </a:r>
            <a:r>
              <a:rPr lang="pt-BR" sz="3000" u="sng">
                <a:solidFill>
                  <a:schemeClr val="hlink"/>
                </a:solidFill>
                <a:hlinkClick r:id="rId3"/>
              </a:rPr>
              <a:t>ch01.ipynb</a:t>
            </a:r>
            <a:r>
              <a:rPr lang="pt-BR" sz="3000">
                <a:solidFill>
                  <a:srgbClr val="595959"/>
                </a:solidFill>
              </a:rPr>
              <a:t>:</a:t>
            </a:r>
            <a:endParaRPr sz="3000">
              <a:solidFill>
                <a:srgbClr val="595959"/>
              </a:solidFill>
            </a:endParaRPr>
          </a:p>
        </p:txBody>
      </p:sp>
      <p:pic>
        <p:nvPicPr>
          <p:cNvPr id="83" name="Google Shape;8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750" y="1509725"/>
            <a:ext cx="3574200" cy="27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8350" y="1324388"/>
            <a:ext cx="4273208" cy="3108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225" y="152400"/>
            <a:ext cx="6315904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150" y="8"/>
            <a:ext cx="706971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/>
        </p:nvSpPr>
        <p:spPr>
          <a:xfrm>
            <a:off x="77250" y="118475"/>
            <a:ext cx="8806500" cy="16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>
                <a:solidFill>
                  <a:srgbClr val="595959"/>
                </a:solidFill>
              </a:rPr>
              <a:t>Faça uma apresentação no Jupyter sobre as principais métricas: accuracy, precision, recall e F1-score. </a:t>
            </a:r>
            <a:endParaRPr sz="3000">
              <a:solidFill>
                <a:srgbClr val="595959"/>
              </a:solidFill>
            </a:endParaRPr>
          </a:p>
        </p:txBody>
      </p:sp>
      <p:sp>
        <p:nvSpPr>
          <p:cNvPr id="105" name="Google Shape;105;p22"/>
          <p:cNvSpPr txBox="1"/>
          <p:nvPr/>
        </p:nvSpPr>
        <p:spPr>
          <a:xfrm>
            <a:off x="168750" y="1967525"/>
            <a:ext cx="8806500" cy="28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>
                <a:solidFill>
                  <a:srgbClr val="595959"/>
                </a:solidFill>
              </a:rPr>
              <a:t>Para cada métrica crie células com figuras e textos explicando a métrica. Além disso, para cada uma delas crie, usando Pandas, duas matrizes de confusão e calcule a métrica. Uma dessas matrizes </a:t>
            </a:r>
            <a:r>
              <a:rPr b="1" lang="pt-BR" sz="3000">
                <a:solidFill>
                  <a:srgbClr val="595959"/>
                </a:solidFill>
              </a:rPr>
              <a:t>deve ser tal que demonstre a desvantagem da métrica</a:t>
            </a:r>
            <a:r>
              <a:rPr lang="pt-BR" sz="3000">
                <a:solidFill>
                  <a:srgbClr val="595959"/>
                </a:solidFill>
              </a:rPr>
              <a:t>. Discuta os resultados. Lembre da parte em negrito.</a:t>
            </a:r>
            <a:endParaRPr sz="3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</a:t>
            </a:r>
            <a:endParaRPr/>
          </a:p>
        </p:txBody>
      </p:sp>
      <p:sp>
        <p:nvSpPr>
          <p:cNvPr id="111" name="Google Shape;111;p23"/>
          <p:cNvSpPr txBox="1"/>
          <p:nvPr/>
        </p:nvSpPr>
        <p:spPr>
          <a:xfrm>
            <a:off x="116450" y="3119875"/>
            <a:ext cx="9144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/>
              <a:t>Comparando Naive Bayes e KNN com Estratégias </a:t>
            </a:r>
            <a:r>
              <a:rPr lang="pt-BR" sz="2300">
                <a:solidFill>
                  <a:schemeClr val="dk1"/>
                </a:solidFill>
              </a:rPr>
              <a:t>Diferentes </a:t>
            </a:r>
            <a:r>
              <a:rPr lang="pt-BR" sz="2300"/>
              <a:t>de Normalização usando o Dataset Iris</a:t>
            </a:r>
            <a:endParaRPr sz="2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type="title"/>
          </p:nvPr>
        </p:nvSpPr>
        <p:spPr>
          <a:xfrm>
            <a:off x="311700" y="337725"/>
            <a:ext cx="8520600" cy="44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Você irá trabalhar com o conjunto de dados Iris, que contém 150 amostras de 3 classes de flores (setosa, versicolor, virginica), cada uma descrita por 4 características numéricas, conforme figura do próximo slide.</a:t>
            </a:r>
            <a:endParaRPr sz="25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Sua tarefa é aplicar dois classificadores — </a:t>
            </a:r>
            <a:r>
              <a:rPr i="1" lang="pt-BR" sz="2500"/>
              <a:t>Naive Bayes</a:t>
            </a:r>
            <a:r>
              <a:rPr lang="pt-BR" sz="2500"/>
              <a:t> e </a:t>
            </a:r>
            <a:r>
              <a:rPr i="1" lang="pt-BR" sz="2500"/>
              <a:t>K-Nearest Neighbors</a:t>
            </a:r>
            <a:r>
              <a:rPr lang="pt-BR" sz="2500"/>
              <a:t> (KNN) — sob três diferentes estratégias de pré-processamento, e depois comparar os resultados.</a:t>
            </a:r>
            <a:endParaRPr sz="25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4575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/>
          <p:nvPr>
            <p:ph type="title"/>
          </p:nvPr>
        </p:nvSpPr>
        <p:spPr>
          <a:xfrm>
            <a:off x="311700" y="153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Condições de Pré-processamento</a:t>
            </a:r>
            <a:endParaRPr/>
          </a:p>
        </p:txBody>
      </p:sp>
      <p:sp>
        <p:nvSpPr>
          <p:cNvPr id="127" name="Google Shape;127;p26"/>
          <p:cNvSpPr txBox="1"/>
          <p:nvPr>
            <p:ph idx="1" type="body"/>
          </p:nvPr>
        </p:nvSpPr>
        <p:spPr>
          <a:xfrm>
            <a:off x="81525" y="726600"/>
            <a:ext cx="8928300" cy="43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A</a:t>
            </a:r>
            <a:r>
              <a:rPr lang="pt-BR" sz="2500"/>
              <a:t> - </a:t>
            </a:r>
            <a:r>
              <a:rPr lang="pt-BR" sz="2500"/>
              <a:t>Normalização Min-Max: Escalar todas as variáveis para o intervalo [0, 1].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500"/>
              <a:t>B - </a:t>
            </a:r>
            <a:r>
              <a:rPr lang="pt-BR" sz="2500"/>
              <a:t>Padronização (Z-score): Transformar as variáveis para que tenham média 0 e desvio padrão 1.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500"/>
              <a:t>C - </a:t>
            </a:r>
            <a:r>
              <a:rPr lang="pt-BR" sz="2500"/>
              <a:t>Ambos sequencialmente: Primeiro aplicar padronização (z-score), depois normalização Min-Max.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</a:rPr>
              <a:t> Você pode usar </a:t>
            </a:r>
            <a:r>
              <a:rPr lang="pt-B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MinMaxScaler</a:t>
            </a:r>
            <a:r>
              <a:rPr lang="pt-BR" sz="1600">
                <a:solidFill>
                  <a:schemeClr val="dk1"/>
                </a:solidFill>
              </a:rPr>
              <a:t> e </a:t>
            </a:r>
            <a:r>
              <a:rPr lang="pt-B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StandardScaler</a:t>
            </a:r>
            <a:r>
              <a:rPr lang="pt-BR" sz="1600">
                <a:solidFill>
                  <a:schemeClr val="dk1"/>
                </a:solidFill>
              </a:rPr>
              <a:t> do módulo </a:t>
            </a:r>
            <a:r>
              <a:rPr lang="pt-B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sklearn.preprocessing</a:t>
            </a:r>
            <a:r>
              <a:rPr lang="pt-BR" sz="1600">
                <a:solidFill>
                  <a:schemeClr val="dk1"/>
                </a:solidFill>
              </a:rPr>
              <a:t>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>
            <p:ph idx="1" type="body"/>
          </p:nvPr>
        </p:nvSpPr>
        <p:spPr>
          <a:xfrm>
            <a:off x="81525" y="124225"/>
            <a:ext cx="8928300" cy="49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1 - </a:t>
            </a:r>
            <a:r>
              <a:rPr lang="pt-BR" sz="2500"/>
              <a:t>Utilize validação cruzada (5-fold cross-validation) para avaliar os modelos de forma mais robusta.</a:t>
            </a:r>
            <a:endParaRPr sz="2500"/>
          </a:p>
          <a:p>
            <a:pPr indent="45720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200"/>
              <a:t>Para cada iteração da validação cruzada:</a:t>
            </a:r>
            <a:endParaRPr sz="2200"/>
          </a:p>
          <a:p>
            <a:pPr indent="457200" lvl="0" marL="91440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/>
              <a:t>Ajuste o escalonador (normalizador ou padronizador) somente nos dados de treino do fold atual.</a:t>
            </a:r>
            <a:endParaRPr sz="2000"/>
          </a:p>
          <a:p>
            <a:pPr indent="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/>
              <a:t>  Aplique a transformação nos dados de treino e teste da fold.</a:t>
            </a:r>
            <a:endParaRPr sz="2000"/>
          </a:p>
          <a:p>
            <a:pPr indent="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/>
              <a:t>  </a:t>
            </a:r>
            <a:r>
              <a:rPr lang="pt-BR" sz="2000"/>
              <a:t>T</a:t>
            </a:r>
            <a:r>
              <a:rPr lang="pt-BR" sz="2000"/>
              <a:t>reine e avalie os classificadores com os dados transformados.</a:t>
            </a:r>
            <a:endParaRPr sz="2000"/>
          </a:p>
          <a:p>
            <a:pPr indent="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/>
          <p:nvPr>
            <p:ph idx="1" type="body"/>
          </p:nvPr>
        </p:nvSpPr>
        <p:spPr>
          <a:xfrm>
            <a:off x="81525" y="124225"/>
            <a:ext cx="8928300" cy="49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2</a:t>
            </a:r>
            <a:r>
              <a:rPr lang="pt-BR" sz="2400"/>
              <a:t> - </a:t>
            </a:r>
            <a:r>
              <a:rPr lang="pt-BR" sz="2400"/>
              <a:t>Para cada uma das três estratégias de pré-processamento:</a:t>
            </a:r>
            <a:endParaRPr sz="2400"/>
          </a:p>
          <a:p>
            <a:pPr indent="45720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200"/>
              <a:t>Aplique a validação cruzada nos dois classificadores:</a:t>
            </a:r>
            <a:endParaRPr sz="2200"/>
          </a:p>
          <a:p>
            <a:pPr indent="45720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/>
              <a:t>Naive Bayes (GaussianNB)</a:t>
            </a:r>
            <a:endParaRPr sz="2000"/>
          </a:p>
          <a:p>
            <a:pPr indent="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/>
              <a:t>  	KNN com k = 5</a:t>
            </a:r>
            <a:endParaRPr sz="20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/>
              <a:t>Armazene e calcule as métricas de desempenho.</a:t>
            </a:r>
            <a:endParaRPr sz="20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000"/>
              <a:t>2.1 Force para que ocorra vazamentos de dados e compare com o resultado acima.</a:t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 txBox="1"/>
          <p:nvPr>
            <p:ph idx="1" type="body"/>
          </p:nvPr>
        </p:nvSpPr>
        <p:spPr>
          <a:xfrm>
            <a:off x="81525" y="124225"/>
            <a:ext cx="8928300" cy="49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3</a:t>
            </a:r>
            <a:r>
              <a:rPr lang="pt-BR" sz="2500"/>
              <a:t> - </a:t>
            </a:r>
            <a:r>
              <a:rPr lang="pt-BR" sz="2500"/>
              <a:t>Avalie os modelos utilizando acurácia média, matriz de confusão média e métricas como precisão, recall e F1-score.</a:t>
            </a:r>
            <a:endParaRPr sz="25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500"/>
              <a:t>4</a:t>
            </a:r>
            <a:r>
              <a:rPr lang="pt-BR" sz="2500"/>
              <a:t> - Compare os resultados obtidos nas diferentes estratégias de pré-processamento.</a:t>
            </a:r>
            <a:endParaRPr sz="2500"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000"/>
              <a:t>	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 txBox="1"/>
          <p:nvPr>
            <p:ph type="title"/>
          </p:nvPr>
        </p:nvSpPr>
        <p:spPr>
          <a:xfrm>
            <a:off x="311700" y="153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Análise</a:t>
            </a:r>
            <a:endParaRPr/>
          </a:p>
        </p:txBody>
      </p:sp>
      <p:sp>
        <p:nvSpPr>
          <p:cNvPr id="148" name="Google Shape;148;p30"/>
          <p:cNvSpPr txBox="1"/>
          <p:nvPr>
            <p:ph idx="1" type="body"/>
          </p:nvPr>
        </p:nvSpPr>
        <p:spPr>
          <a:xfrm>
            <a:off x="81525" y="726600"/>
            <a:ext cx="8928300" cy="43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Como o pré-processamento influenciou o desempenho dos dois algoritmos.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500"/>
              <a:t>Qual classificador teve melhor desempenho em cada cenário.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500"/>
              <a:t>Padrões ou conclusões observadas com base nas métricas.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500"/>
              <a:t>Cuidado com vazamento de dados.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</a:t>
            </a:r>
            <a:endParaRPr/>
          </a:p>
        </p:txBody>
      </p:sp>
      <p:sp>
        <p:nvSpPr>
          <p:cNvPr id="154" name="Google Shape;154;p31"/>
          <p:cNvSpPr txBox="1"/>
          <p:nvPr/>
        </p:nvSpPr>
        <p:spPr>
          <a:xfrm>
            <a:off x="116450" y="3119875"/>
            <a:ext cx="9144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/>
              <a:t>Classificador KNN no Conjunto de Dados </a:t>
            </a:r>
            <a:r>
              <a:rPr lang="pt-BR" sz="2300"/>
              <a:t>Íris</a:t>
            </a:r>
            <a:r>
              <a:rPr lang="pt-BR" sz="2300"/>
              <a:t> usando Curvas ROC</a:t>
            </a:r>
            <a:endParaRPr sz="2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4575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3"/>
          <p:cNvSpPr txBox="1"/>
          <p:nvPr/>
        </p:nvSpPr>
        <p:spPr>
          <a:xfrm>
            <a:off x="0" y="0"/>
            <a:ext cx="8971200" cy="45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dk1"/>
                </a:solidFill>
              </a:rPr>
              <a:t>Usando</a:t>
            </a:r>
            <a:r>
              <a:rPr lang="pt-BR" sz="3000">
                <a:solidFill>
                  <a:schemeClr val="dk1"/>
                </a:solidFill>
              </a:rPr>
              <a:t> o conjunto de dados </a:t>
            </a:r>
            <a:r>
              <a:rPr b="1" lang="pt-BR" sz="3000">
                <a:solidFill>
                  <a:schemeClr val="dk1"/>
                </a:solidFill>
              </a:rPr>
              <a:t>Iris</a:t>
            </a:r>
            <a:r>
              <a:rPr lang="pt-BR" sz="3000">
                <a:solidFill>
                  <a:schemeClr val="dk1"/>
                </a:solidFill>
              </a:rPr>
              <a:t>, que contém 150 amostras de 3 espécies de flores do gênero </a:t>
            </a:r>
            <a:r>
              <a:rPr i="1" lang="pt-BR" sz="3000">
                <a:solidFill>
                  <a:schemeClr val="dk1"/>
                </a:solidFill>
              </a:rPr>
              <a:t>Iris</a:t>
            </a:r>
            <a:r>
              <a:rPr lang="pt-BR" sz="3000">
                <a:solidFill>
                  <a:schemeClr val="dk1"/>
                </a:solidFill>
              </a:rPr>
              <a:t>: </a:t>
            </a:r>
            <a:r>
              <a:rPr i="1" lang="pt-BR" sz="3000">
                <a:solidFill>
                  <a:schemeClr val="dk1"/>
                </a:solidFill>
              </a:rPr>
              <a:t>setosa</a:t>
            </a:r>
            <a:r>
              <a:rPr lang="pt-BR" sz="3000">
                <a:solidFill>
                  <a:schemeClr val="dk1"/>
                </a:solidFill>
              </a:rPr>
              <a:t>, </a:t>
            </a:r>
            <a:r>
              <a:rPr i="1" lang="pt-BR" sz="3000">
                <a:solidFill>
                  <a:schemeClr val="dk1"/>
                </a:solidFill>
              </a:rPr>
              <a:t>versicolor</a:t>
            </a:r>
            <a:r>
              <a:rPr lang="pt-BR" sz="3000">
                <a:solidFill>
                  <a:schemeClr val="dk1"/>
                </a:solidFill>
              </a:rPr>
              <a:t> e </a:t>
            </a:r>
            <a:r>
              <a:rPr i="1" lang="pt-BR" sz="3000">
                <a:solidFill>
                  <a:schemeClr val="dk1"/>
                </a:solidFill>
              </a:rPr>
              <a:t>virginica</a:t>
            </a:r>
            <a:r>
              <a:rPr lang="pt-BR" sz="3000">
                <a:solidFill>
                  <a:schemeClr val="dk1"/>
                </a:solidFill>
              </a:rPr>
              <a:t>. Cada amostra possui 4 </a:t>
            </a:r>
            <a:r>
              <a:rPr i="1" lang="pt-BR" sz="3000">
                <a:solidFill>
                  <a:schemeClr val="dk1"/>
                </a:solidFill>
              </a:rPr>
              <a:t>features</a:t>
            </a:r>
            <a:r>
              <a:rPr lang="pt-BR" sz="3000">
                <a:solidFill>
                  <a:schemeClr val="dk1"/>
                </a:solidFill>
              </a:rPr>
              <a:t>. </a:t>
            </a:r>
            <a:r>
              <a:rPr b="1" lang="pt-BR" sz="3000">
                <a:solidFill>
                  <a:schemeClr val="dk1"/>
                </a:solidFill>
              </a:rPr>
              <a:t>Use apenas duas features.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3000">
                <a:solidFill>
                  <a:schemeClr val="dk1"/>
                </a:solidFill>
              </a:rPr>
              <a:t>Você irá utilizar o classificador </a:t>
            </a:r>
            <a:r>
              <a:rPr b="1" lang="pt-BR" sz="3000">
                <a:solidFill>
                  <a:schemeClr val="dk1"/>
                </a:solidFill>
              </a:rPr>
              <a:t>K-Nearest Neighbors (KNN)</a:t>
            </a:r>
            <a:r>
              <a:rPr lang="pt-BR" sz="3000">
                <a:solidFill>
                  <a:schemeClr val="dk1"/>
                </a:solidFill>
              </a:rPr>
              <a:t> para realizar uma tarefa de </a:t>
            </a:r>
            <a:r>
              <a:rPr b="1" lang="pt-BR" sz="3000">
                <a:solidFill>
                  <a:schemeClr val="dk1"/>
                </a:solidFill>
              </a:rPr>
              <a:t>classificação binária</a:t>
            </a:r>
            <a:r>
              <a:rPr lang="pt-BR" sz="3000">
                <a:solidFill>
                  <a:schemeClr val="dk1"/>
                </a:solidFill>
              </a:rPr>
              <a:t>, onde a variável alvo será se a amostra pertence ou não à classe </a:t>
            </a:r>
            <a:r>
              <a:rPr i="1" lang="pt-BR" sz="3000">
                <a:solidFill>
                  <a:schemeClr val="dk1"/>
                </a:solidFill>
              </a:rPr>
              <a:t>versicolor</a:t>
            </a:r>
            <a:r>
              <a:rPr lang="pt-BR" sz="3000">
                <a:solidFill>
                  <a:schemeClr val="dk1"/>
                </a:solidFill>
              </a:rPr>
              <a:t>.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4"/>
          <p:cNvSpPr txBox="1"/>
          <p:nvPr/>
        </p:nvSpPr>
        <p:spPr>
          <a:xfrm>
            <a:off x="0" y="0"/>
            <a:ext cx="89127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</a:rPr>
              <a:t>1 - </a:t>
            </a:r>
            <a:r>
              <a:rPr b="1" lang="pt-BR" sz="3000">
                <a:solidFill>
                  <a:schemeClr val="dk1"/>
                </a:solidFill>
              </a:rPr>
              <a:t>Converta o problema em uma classificação binária</a:t>
            </a:r>
            <a:r>
              <a:rPr lang="pt-BR" sz="3000">
                <a:solidFill>
                  <a:schemeClr val="dk1"/>
                </a:solidFill>
              </a:rPr>
              <a:t>, onde a </a:t>
            </a:r>
            <a:r>
              <a:rPr b="1" lang="pt-BR" sz="3000">
                <a:solidFill>
                  <a:schemeClr val="dk1"/>
                </a:solidFill>
              </a:rPr>
              <a:t>classe positiva</a:t>
            </a:r>
            <a:r>
              <a:rPr lang="pt-BR" sz="3000">
                <a:solidFill>
                  <a:schemeClr val="dk1"/>
                </a:solidFill>
              </a:rPr>
              <a:t> é </a:t>
            </a:r>
            <a:r>
              <a:rPr i="1" lang="pt-BR" sz="3000">
                <a:solidFill>
                  <a:schemeClr val="dk1"/>
                </a:solidFill>
              </a:rPr>
              <a:t>versicolor</a:t>
            </a:r>
            <a:r>
              <a:rPr lang="pt-BR" sz="3000">
                <a:solidFill>
                  <a:schemeClr val="dk1"/>
                </a:solidFill>
              </a:rPr>
              <a:t> e a </a:t>
            </a:r>
            <a:r>
              <a:rPr b="1" lang="pt-BR" sz="3000">
                <a:solidFill>
                  <a:schemeClr val="dk1"/>
                </a:solidFill>
              </a:rPr>
              <a:t>classe negativa</a:t>
            </a:r>
            <a:r>
              <a:rPr lang="pt-BR" sz="3000">
                <a:solidFill>
                  <a:schemeClr val="dk1"/>
                </a:solidFill>
              </a:rPr>
              <a:t> é "não versicolor".</a:t>
            </a:r>
            <a:br>
              <a:rPr lang="pt-BR" sz="3000">
                <a:solidFill>
                  <a:schemeClr val="dk1"/>
                </a:solidFill>
              </a:rPr>
            </a:b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</a:rPr>
              <a:t>2 - </a:t>
            </a:r>
            <a:r>
              <a:rPr b="1" lang="pt-BR" sz="3000">
                <a:solidFill>
                  <a:schemeClr val="dk1"/>
                </a:solidFill>
              </a:rPr>
              <a:t>Divida o conjunto de dados</a:t>
            </a:r>
            <a:r>
              <a:rPr lang="pt-BR" sz="3000">
                <a:solidFill>
                  <a:schemeClr val="dk1"/>
                </a:solidFill>
              </a:rPr>
              <a:t> em conjunto de treino (70%) e conjunto de teste (30%) utilizando uma semente aleatória para reprodutibilidade.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5"/>
          <p:cNvSpPr txBox="1"/>
          <p:nvPr>
            <p:ph type="title"/>
          </p:nvPr>
        </p:nvSpPr>
        <p:spPr>
          <a:xfrm>
            <a:off x="195225" y="39950"/>
            <a:ext cx="85206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3000"/>
              <a:t>3</a:t>
            </a:r>
            <a:r>
              <a:rPr b="1" lang="pt-BR" sz="3000"/>
              <a:t> - </a:t>
            </a:r>
            <a:r>
              <a:rPr lang="pt-BR" sz="2500"/>
              <a:t>Para k ∈ {1,3,5,7,9}, faça o seguinte:</a:t>
            </a:r>
            <a:endParaRPr sz="2500"/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Treine um classificador KNN com o valor de k correspondente.</a:t>
            </a:r>
            <a:br>
              <a:rPr lang="pt-BR" sz="2500"/>
            </a:br>
            <a:endParaRPr sz="2500"/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pt-BR" sz="2500"/>
              <a:t>Faça a predição das probabilidades</a:t>
            </a:r>
            <a:r>
              <a:rPr lang="pt-BR" sz="2500"/>
              <a:t> para o conjunto de teste (ou seja, a probabilidade de que uma amostra pertença à classe positiva).</a:t>
            </a:r>
            <a:br>
              <a:rPr lang="pt-BR" sz="2500"/>
            </a:br>
            <a:endParaRPr sz="2500"/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pt-BR" sz="2500"/>
              <a:t>Calcule a curva ROC</a:t>
            </a:r>
            <a:r>
              <a:rPr lang="pt-BR" sz="2500"/>
              <a:t> e a </a:t>
            </a:r>
            <a:r>
              <a:rPr b="1" lang="pt-BR" sz="2500"/>
              <a:t>AUC</a:t>
            </a:r>
            <a:r>
              <a:rPr lang="pt-BR" sz="2500"/>
              <a:t> para cada valor de k.</a:t>
            </a:r>
            <a:endParaRPr sz="25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6"/>
          <p:cNvSpPr txBox="1"/>
          <p:nvPr>
            <p:ph type="title"/>
          </p:nvPr>
        </p:nvSpPr>
        <p:spPr>
          <a:xfrm>
            <a:off x="195225" y="39950"/>
            <a:ext cx="85206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000"/>
              <a:buChar char="●"/>
            </a:pPr>
            <a:r>
              <a:rPr b="1" lang="pt-BR" sz="3000"/>
              <a:t>Plote todas as curvas ROC</a:t>
            </a:r>
            <a:r>
              <a:rPr lang="pt-BR" sz="3000"/>
              <a:t> em um único gráfico, uma para cada valor de k, com rótulos e legenda apropriados.</a:t>
            </a:r>
            <a:endParaRPr sz="3000"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1" lang="pt-BR" sz="3000"/>
              <a:t>Comente</a:t>
            </a:r>
            <a:r>
              <a:rPr lang="pt-BR" sz="3000"/>
              <a:t> como o valor de k influencia o desempenho do classificador, com base nas curvas ROC e nos valores de AUC.</a:t>
            </a:r>
            <a:endParaRPr sz="3000"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1" lang="pt-BR" sz="3000"/>
              <a:t>Compare </a:t>
            </a:r>
            <a:r>
              <a:rPr lang="pt-BR" sz="3000"/>
              <a:t>com o resultado do trabalho anterior que também usou o dataset Iris e avalie quanto ao </a:t>
            </a:r>
            <a:r>
              <a:rPr b="1" i="1" lang="pt-BR" sz="3000"/>
              <a:t>bias </a:t>
            </a:r>
            <a:r>
              <a:rPr lang="pt-BR" sz="3000"/>
              <a:t>e </a:t>
            </a:r>
            <a:r>
              <a:rPr b="1" i="1" lang="pt-BR" sz="3000"/>
              <a:t>variance</a:t>
            </a:r>
            <a:endParaRPr b="1" i="1" sz="30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7"/>
          <p:cNvSpPr txBox="1"/>
          <p:nvPr>
            <p:ph type="title"/>
          </p:nvPr>
        </p:nvSpPr>
        <p:spPr>
          <a:xfrm>
            <a:off x="311700" y="260075"/>
            <a:ext cx="8520600" cy="378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Resultado esperado: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000"/>
              <a:t>Um gráfico com todas as curvas ROC (uma para cada k).</a:t>
            </a:r>
            <a:br>
              <a:rPr lang="pt-BR" sz="3000"/>
            </a:b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000"/>
              <a:t>O valor da </a:t>
            </a:r>
            <a:r>
              <a:rPr b="1" lang="pt-BR" sz="3000"/>
              <a:t>AUC</a:t>
            </a:r>
            <a:r>
              <a:rPr lang="pt-BR" sz="3000"/>
              <a:t> para cada valor de k.</a:t>
            </a:r>
            <a:br>
              <a:rPr lang="pt-BR" sz="3000"/>
            </a:b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000"/>
              <a:t>Uma </a:t>
            </a:r>
            <a:r>
              <a:rPr b="1" lang="pt-BR" sz="3000"/>
              <a:t>breve interpretação</a:t>
            </a:r>
            <a:r>
              <a:rPr lang="pt-BR" sz="3000"/>
              <a:t> dos resultados.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8"/>
          <p:cNvSpPr txBox="1"/>
          <p:nvPr>
            <p:ph type="title"/>
          </p:nvPr>
        </p:nvSpPr>
        <p:spPr>
          <a:xfrm>
            <a:off x="100925" y="454175"/>
            <a:ext cx="8731500" cy="40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Dicas: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Use KNeighborsClassifier(..., probability=True) do módulo sklearn.neighbors.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Use as funções roc_curve e auc do módulo sklearn.metrics.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model.predict_proba(X_test)</a:t>
            </a:r>
            <a:endParaRPr sz="25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0"/>
          <p:cNvSpPr txBox="1"/>
          <p:nvPr>
            <p:ph type="title"/>
          </p:nvPr>
        </p:nvSpPr>
        <p:spPr>
          <a:xfrm>
            <a:off x="311700" y="395950"/>
            <a:ext cx="8520600" cy="45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Usando os seguintes dados:</a:t>
            </a:r>
            <a:br>
              <a:rPr lang="pt-BR"/>
            </a:br>
            <a:r>
              <a:rPr lang="pt-BR" sz="2500"/>
              <a:t>Weight for obese rats (grams): 450, 455, 570, 660 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Weight for obese rats (grams): 575, 665, 700, 710 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595959"/>
                </a:solidFill>
              </a:rPr>
              <a:t>1 - Obtenha a obese rat classification using </a:t>
            </a:r>
            <a:r>
              <a:rPr lang="pt-BR" sz="3000">
                <a:solidFill>
                  <a:srgbClr val="595959"/>
                </a:solidFill>
              </a:rPr>
              <a:t>logistic</a:t>
            </a:r>
            <a:r>
              <a:rPr lang="pt-BR" sz="3000">
                <a:solidFill>
                  <a:srgbClr val="595959"/>
                </a:solidFill>
              </a:rPr>
              <a:t> regression.</a:t>
            </a:r>
            <a:endParaRPr sz="3000">
              <a:solidFill>
                <a:srgbClr val="595959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595959"/>
                </a:solidFill>
              </a:rPr>
              <a:t>2 - Plote o resultado com a curva da </a:t>
            </a:r>
            <a:r>
              <a:rPr b="1" lang="pt-BR" sz="3000">
                <a:solidFill>
                  <a:srgbClr val="595959"/>
                </a:solidFill>
              </a:rPr>
              <a:t>logistic regression</a:t>
            </a:r>
            <a:r>
              <a:rPr lang="pt-BR" sz="3000">
                <a:solidFill>
                  <a:srgbClr val="595959"/>
                </a:solidFill>
              </a:rPr>
              <a:t> e as amostras com cores diferentes para cada classe</a:t>
            </a:r>
            <a:endParaRPr sz="30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/>
          <p:nvPr>
            <p:ph type="title"/>
          </p:nvPr>
        </p:nvSpPr>
        <p:spPr>
          <a:xfrm>
            <a:off x="311700" y="395950"/>
            <a:ext cx="8520600" cy="45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Usando os seguintes dados:</a:t>
            </a:r>
            <a:br>
              <a:rPr lang="pt-BR"/>
            </a:br>
            <a:r>
              <a:rPr lang="pt-BR" sz="2500"/>
              <a:t>Weight for obese rats (grams): 450, 455, 570, 660 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Weight for obese rats (grams): 575, 665, 700, 710 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595959"/>
                </a:solidFill>
              </a:rPr>
              <a:t>3 - Obtenha iterativamente a curva ROC, mostrando cada tabela verdade e cada novo ponto da curva ROC. </a:t>
            </a:r>
            <a:r>
              <a:rPr lang="pt-BR" sz="3000">
                <a:solidFill>
                  <a:srgbClr val="595959"/>
                </a:solidFill>
              </a:rPr>
              <a:t>Conforme</a:t>
            </a:r>
            <a:r>
              <a:rPr lang="pt-BR" sz="3000">
                <a:solidFill>
                  <a:srgbClr val="595959"/>
                </a:solidFill>
              </a:rPr>
              <a:t> procedimento deste slide</a:t>
            </a:r>
            <a:endParaRPr sz="30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u="sng">
                <a:solidFill>
                  <a:schemeClr val="hlink"/>
                </a:solidFill>
                <a:hlinkClick r:id="rId3"/>
              </a:rPr>
              <a:t>Machine Learning Fundamentals: Sensitivity and Specificity.pptx</a:t>
            </a:r>
            <a:r>
              <a:rPr lang="pt-BR" sz="3000">
                <a:solidFill>
                  <a:srgbClr val="595959"/>
                </a:solidFill>
              </a:rPr>
              <a:t> </a:t>
            </a:r>
            <a:endParaRPr sz="30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